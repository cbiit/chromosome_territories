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5" r:id="rId58"/>
    <p:sldId id="316" r:id="rId59"/>
    <p:sldId id="317" r:id="rId60"/>
    <p:sldId id="318" r:id="rId61"/>
    <p:sldId id="319" r:id="rId62"/>
    <p:sldId id="320" r:id="rId63"/>
    <p:sldId id="321" r:id="rId64"/>
    <p:sldId id="322" r:id="rId65"/>
    <p:sldId id="313" r:id="rId66"/>
    <p:sldId id="314"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9"/>
  </p:normalViewPr>
  <p:slideViewPr>
    <p:cSldViewPr snapToGrid="0" snapToObjects="1">
      <p:cViewPr varScale="1">
        <p:scale>
          <a:sx n="132" d="100"/>
          <a:sy n="132" d="100"/>
        </p:scale>
        <p:origin x="1600"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033CC-67C7-8B4D-945D-FD6B060D21F2}" type="datetimeFigureOut">
              <a:rPr lang="en-US" smtClean="0"/>
              <a:t>6/2/26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26E3D-2F68-2B4B-A83A-0EB5B0F180A3}" type="slidenum">
              <a:rPr lang="en-US" smtClean="0"/>
              <a:t>‹#›</a:t>
            </a:fld>
            <a:endParaRPr lang="en-US"/>
          </a:p>
        </p:txBody>
      </p:sp>
    </p:spTree>
    <p:extLst>
      <p:ext uri="{BB962C8B-B14F-4D97-AF65-F5344CB8AC3E}">
        <p14:creationId xmlns:p14="http://schemas.microsoft.com/office/powerpoint/2010/main" val="482521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2202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image" Target="../media/image2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4.sv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5.svg"/><Relationship Id="rId4" Type="http://schemas.openxmlformats.org/officeDocument/2006/relationships/image" Target="../media/image36.sv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7.svg"/><Relationship Id="rId4" Type="http://schemas.openxmlformats.org/officeDocument/2006/relationships/image" Target="../media/image38.svg"/><Relationship Id="rId5" Type="http://schemas.openxmlformats.org/officeDocument/2006/relationships/image" Target="../media/image39.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0.svg"/><Relationship Id="rId4" Type="http://schemas.openxmlformats.org/officeDocument/2006/relationships/image" Target="../media/image41.svg"/><Relationship Id="rId5" Type="http://schemas.openxmlformats.org/officeDocument/2006/relationships/image" Target="../media/image42.sv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3.svg"/><Relationship Id="rId4" Type="http://schemas.openxmlformats.org/officeDocument/2006/relationships/image" Target="../media/image44.svg"/><Relationship Id="rId5" Type="http://schemas.openxmlformats.org/officeDocument/2006/relationships/image" Target="../media/image45.svg"/><Relationship Id="rId6" Type="http://schemas.openxmlformats.org/officeDocument/2006/relationships/image" Target="../media/image46.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7.svg"/><Relationship Id="rId4" Type="http://schemas.openxmlformats.org/officeDocument/2006/relationships/image" Target="../media/image48.svg"/><Relationship Id="rId5" Type="http://schemas.openxmlformats.org/officeDocument/2006/relationships/image" Target="../media/image49.sv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50.svg"/><Relationship Id="rId4" Type="http://schemas.openxmlformats.org/officeDocument/2006/relationships/image" Target="../media/image51.svg"/><Relationship Id="rId5" Type="http://schemas.openxmlformats.org/officeDocument/2006/relationships/image" Target="../media/image52.sv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3.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pic>
        <p:nvPicPr>
          <p:cNvPr id="2" name="Picture 1" descr="cover_bg.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502920" y="594360"/>
            <a:ext cx="6583680" cy="2880360"/>
          </a:xfrm>
          <a:prstGeom prst="rect">
            <a:avLst/>
          </a:prstGeom>
          <a:solidFill>
            <a:srgbClr val="07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868680"/>
            <a:ext cx="5852160" cy="566928"/>
          </a:xfrm>
          <a:prstGeom prst="rect">
            <a:avLst/>
          </a:prstGeom>
          <a:noFill/>
        </p:spPr>
        <p:txBody>
          <a:bodyPr wrap="none" lIns="18288" tIns="18288" rIns="18288" bIns="18288">
            <a:spAutoFit/>
          </a:bodyPr>
          <a:lstStyle/>
          <a:p>
            <a:r>
              <a:rPr sz="3400" b="1" i="0">
                <a:solidFill>
                  <a:srgbClr val="FFFFFF"/>
                </a:solidFill>
                <a:latin typeface="Aptos"/>
              </a:rPr>
              <a:t>P/Q Arm Analyzer</a:t>
            </a:r>
          </a:p>
        </p:txBody>
      </p:sp>
      <p:sp>
        <p:nvSpPr>
          <p:cNvPr id="5" name="TextBox 4"/>
          <p:cNvSpPr txBox="1"/>
          <p:nvPr/>
        </p:nvSpPr>
        <p:spPr>
          <a:xfrm>
            <a:off x="795528" y="1444752"/>
            <a:ext cx="5669280" cy="822960"/>
          </a:xfrm>
          <a:prstGeom prst="rect">
            <a:avLst/>
          </a:prstGeom>
          <a:noFill/>
        </p:spPr>
        <p:txBody>
          <a:bodyPr wrap="none" lIns="18288" tIns="18288" rIns="18288" bIns="18288">
            <a:spAutoFit/>
          </a:bodyPr>
          <a:lstStyle/>
          <a:p>
            <a:r>
              <a:rPr sz="1600" b="0" i="0">
                <a:solidFill>
                  <a:srgbClr val="DAEBF7"/>
                </a:solidFill>
                <a:latin typeface="Aptos"/>
              </a:rPr>
              <a:t>Comprehensive plugin tutorial, backend formulas, parameter tuning, and result interpretation</a:t>
            </a:r>
          </a:p>
        </p:txBody>
      </p:sp>
      <p:sp>
        <p:nvSpPr>
          <p:cNvPr id="6" name="TextBox 5"/>
          <p:cNvSpPr txBox="1"/>
          <p:nvPr/>
        </p:nvSpPr>
        <p:spPr>
          <a:xfrm>
            <a:off x="804672" y="2267712"/>
            <a:ext cx="5577840" cy="384048"/>
          </a:xfrm>
          <a:prstGeom prst="rect">
            <a:avLst/>
          </a:prstGeom>
          <a:noFill/>
        </p:spPr>
        <p:txBody>
          <a:bodyPr wrap="none" lIns="18288" tIns="18288" rIns="18288" bIns="18288">
            <a:spAutoFit/>
          </a:bodyPr>
          <a:lstStyle/>
          <a:p>
            <a:r>
              <a:rPr sz="1250" b="0" i="0">
                <a:solidFill>
                  <a:srgbClr val="C9E6E8"/>
                </a:solidFill>
                <a:latin typeface="Aptos"/>
              </a:rPr>
              <a:t>napari plugin for 3D nuclei, P-arm, Q-arm, overlap, contact, shape, and radial measurements</a:t>
            </a:r>
          </a:p>
        </p:txBody>
      </p:sp>
      <p:sp>
        <p:nvSpPr>
          <p:cNvPr id="7" name="TextBox 6"/>
          <p:cNvSpPr txBox="1"/>
          <p:nvPr/>
        </p:nvSpPr>
        <p:spPr>
          <a:xfrm>
            <a:off x="804672" y="2788920"/>
            <a:ext cx="2701124" cy="360099"/>
          </a:xfrm>
          <a:prstGeom prst="rect">
            <a:avLst/>
          </a:prstGeom>
          <a:noFill/>
        </p:spPr>
        <p:txBody>
          <a:bodyPr wrap="none" lIns="18288" tIns="18288" rIns="18288" bIns="18288">
            <a:spAutoFit/>
          </a:bodyPr>
          <a:lstStyle/>
          <a:p>
            <a:r>
              <a:rPr sz="1050" b="0" i="0" dirty="0">
                <a:solidFill>
                  <a:srgbClr val="E6E6E6"/>
                </a:solidFill>
                <a:latin typeface="Aptos"/>
              </a:rPr>
              <a:t>Author and repository owner: Adib Keikhosravi</a:t>
            </a:r>
            <a:endParaRPr lang="en-US" sz="1050" dirty="0">
              <a:solidFill>
                <a:srgbClr val="E6E6E6"/>
              </a:solidFill>
              <a:latin typeface="Aptos"/>
            </a:endParaRPr>
          </a:p>
          <a:p>
            <a:endParaRPr sz="1050" b="0" i="0" dirty="0">
              <a:solidFill>
                <a:srgbClr val="E6E6E6"/>
              </a:solidFill>
              <a:latin typeface="Aptos"/>
            </a:endParaRP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OVERVIEW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this presentation covers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Use this deck for a live demo, user training, and explaining the math behind the plugin.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9436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1417320"/>
            <a:ext cx="73152" cy="19202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 y="1527048"/>
            <a:ext cx="3337560" cy="320040"/>
          </a:xfrm>
          <a:prstGeom prst="rect">
            <a:avLst/>
          </a:prstGeom>
          <a:noFill/>
        </p:spPr>
        <p:txBody>
          <a:bodyPr wrap="none" lIns="18288" tIns="18288" rIns="18288" bIns="18288">
            <a:spAutoFit/>
          </a:bodyPr>
          <a:lstStyle/>
          <a:p>
            <a:r>
              <a:rPr sz="1500" b="1" i="0">
                <a:solidFill>
                  <a:srgbClr val="081F3A"/>
                </a:solidFill>
                <a:latin typeface="Aptos"/>
              </a:rPr>
              <a:t>1. How to use the plugin</a:t>
            </a:r>
          </a:p>
        </p:txBody>
      </p:sp>
      <p:sp>
        <p:nvSpPr>
          <p:cNvPr id="9" name="TextBox 8"/>
          <p:cNvSpPr txBox="1"/>
          <p:nvPr/>
        </p:nvSpPr>
        <p:spPr>
          <a:xfrm>
            <a:off x="740664" y="1892808"/>
            <a:ext cx="3337560" cy="806375"/>
          </a:xfrm>
          <a:prstGeom prst="rect">
            <a:avLst/>
          </a:prstGeom>
          <a:noFill/>
        </p:spPr>
        <p:txBody>
          <a:bodyPr wrap="square" lIns="18288" tIns="18288" rIns="18288" bIns="18288">
            <a:spAutoFit/>
          </a:bodyPr>
          <a:lstStyle/>
          <a:p>
            <a:r>
              <a:rPr sz="1250" b="0" i="0" dirty="0">
                <a:solidFill>
                  <a:srgbClr val="1C2736"/>
                </a:solidFill>
                <a:latin typeface="Aptos"/>
              </a:rPr>
              <a:t>Loading images, choosing scenes, selecting channels, previewing nuclei, previewing P/Q masks, saving configurations, and running single-scene or batch analysis.</a:t>
            </a:r>
          </a:p>
        </p:txBody>
      </p:sp>
      <p:sp>
        <p:nvSpPr>
          <p:cNvPr id="10" name="Rounded Rectangle 9"/>
          <p:cNvSpPr/>
          <p:nvPr/>
        </p:nvSpPr>
        <p:spPr>
          <a:xfrm>
            <a:off x="434340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43400" y="1417320"/>
            <a:ext cx="73152" cy="19202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89704" y="1527048"/>
            <a:ext cx="3337560" cy="320040"/>
          </a:xfrm>
          <a:prstGeom prst="rect">
            <a:avLst/>
          </a:prstGeom>
          <a:noFill/>
        </p:spPr>
        <p:txBody>
          <a:bodyPr wrap="none" lIns="18288" tIns="18288" rIns="18288" bIns="18288">
            <a:spAutoFit/>
          </a:bodyPr>
          <a:lstStyle/>
          <a:p>
            <a:r>
              <a:rPr sz="1500" b="1" i="0">
                <a:solidFill>
                  <a:srgbClr val="081F3A"/>
                </a:solidFill>
                <a:latin typeface="Aptos"/>
              </a:rPr>
              <a:t>2. How the backend works</a:t>
            </a:r>
          </a:p>
        </p:txBody>
      </p:sp>
      <p:sp>
        <p:nvSpPr>
          <p:cNvPr id="13" name="TextBox 12"/>
          <p:cNvSpPr txBox="1"/>
          <p:nvPr/>
        </p:nvSpPr>
        <p:spPr>
          <a:xfrm>
            <a:off x="4489704" y="1892808"/>
            <a:ext cx="3337560" cy="806375"/>
          </a:xfrm>
          <a:prstGeom prst="rect">
            <a:avLst/>
          </a:prstGeom>
          <a:noFill/>
        </p:spPr>
        <p:txBody>
          <a:bodyPr wrap="square" lIns="18288" tIns="18288" rIns="18288" bIns="18288">
            <a:spAutoFit/>
          </a:bodyPr>
          <a:lstStyle/>
          <a:p>
            <a:r>
              <a:rPr sz="1250" b="0" i="0" dirty="0" err="1">
                <a:solidFill>
                  <a:srgbClr val="1C2736"/>
                </a:solidFill>
                <a:latin typeface="Aptos"/>
              </a:rPr>
              <a:t>Cellpose</a:t>
            </a:r>
            <a:r>
              <a:rPr sz="1250" b="0" i="0" dirty="0">
                <a:solidFill>
                  <a:srgbClr val="1C2736"/>
                </a:solidFill>
                <a:latin typeface="Aptos"/>
              </a:rPr>
              <a:t> nuclei detection, per-nucleus GMM intensity modeling, field normalization, presence gating, MRF/CRF refinement, and component selection.</a:t>
            </a:r>
          </a:p>
        </p:txBody>
      </p:sp>
      <p:sp>
        <p:nvSpPr>
          <p:cNvPr id="14" name="Rounded Rectangle 13"/>
          <p:cNvSpPr/>
          <p:nvPr/>
        </p:nvSpPr>
        <p:spPr>
          <a:xfrm>
            <a:off x="8092440" y="1417320"/>
            <a:ext cx="3566160" cy="19202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92440" y="1417320"/>
            <a:ext cx="73152" cy="19202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38744" y="1527048"/>
            <a:ext cx="3337560" cy="320040"/>
          </a:xfrm>
          <a:prstGeom prst="rect">
            <a:avLst/>
          </a:prstGeom>
          <a:noFill/>
        </p:spPr>
        <p:txBody>
          <a:bodyPr wrap="none" lIns="18288" tIns="18288" rIns="18288" bIns="18288">
            <a:spAutoFit/>
          </a:bodyPr>
          <a:lstStyle/>
          <a:p>
            <a:r>
              <a:rPr sz="1500" b="1" i="0">
                <a:solidFill>
                  <a:srgbClr val="081F3A"/>
                </a:solidFill>
                <a:latin typeface="Aptos"/>
              </a:rPr>
              <a:t>3. What the outputs mean</a:t>
            </a:r>
          </a:p>
        </p:txBody>
      </p:sp>
      <p:sp>
        <p:nvSpPr>
          <p:cNvPr id="17" name="TextBox 16"/>
          <p:cNvSpPr txBox="1"/>
          <p:nvPr/>
        </p:nvSpPr>
        <p:spPr>
          <a:xfrm>
            <a:off x="8238744" y="1892808"/>
            <a:ext cx="3337560" cy="614014"/>
          </a:xfrm>
          <a:prstGeom prst="rect">
            <a:avLst/>
          </a:prstGeom>
          <a:noFill/>
        </p:spPr>
        <p:txBody>
          <a:bodyPr wrap="square" lIns="18288" tIns="18288" rIns="18288" bIns="18288">
            <a:spAutoFit/>
          </a:bodyPr>
          <a:lstStyle/>
          <a:p>
            <a:r>
              <a:rPr sz="1250" b="0" i="0" dirty="0">
                <a:solidFill>
                  <a:srgbClr val="1C2736"/>
                </a:solidFill>
                <a:latin typeface="Aptos"/>
              </a:rPr>
              <a:t>Masks, label images, CSV measurements, population summaries, plots, QC projections, and configuration files.</a:t>
            </a:r>
          </a:p>
        </p:txBody>
      </p:sp>
      <p:sp>
        <p:nvSpPr>
          <p:cNvPr id="18" name="Rounded Rectangle 17"/>
          <p:cNvSpPr/>
          <p:nvPr/>
        </p:nvSpPr>
        <p:spPr>
          <a:xfrm>
            <a:off x="594360" y="3657600"/>
            <a:ext cx="110642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94360" y="365760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0664" y="3767328"/>
            <a:ext cx="10835640" cy="320040"/>
          </a:xfrm>
          <a:prstGeom prst="rect">
            <a:avLst/>
          </a:prstGeom>
          <a:noFill/>
        </p:spPr>
        <p:txBody>
          <a:bodyPr wrap="none" lIns="18288" tIns="18288" rIns="18288" bIns="18288">
            <a:spAutoFit/>
          </a:bodyPr>
          <a:lstStyle/>
          <a:p>
            <a:r>
              <a:rPr sz="1500" b="1" i="0">
                <a:solidFill>
                  <a:srgbClr val="081F3A"/>
                </a:solidFill>
                <a:latin typeface="Aptos"/>
              </a:rPr>
              <a:t>4. How to tune parameters</a:t>
            </a:r>
          </a:p>
        </p:txBody>
      </p:sp>
      <p:sp>
        <p:nvSpPr>
          <p:cNvPr id="21" name="TextBox 20"/>
          <p:cNvSpPr txBox="1"/>
          <p:nvPr/>
        </p:nvSpPr>
        <p:spPr>
          <a:xfrm>
            <a:off x="740664" y="4133087"/>
            <a:ext cx="10835640" cy="758952"/>
          </a:xfrm>
          <a:prstGeom prst="rect">
            <a:avLst/>
          </a:prstGeom>
          <a:noFill/>
        </p:spPr>
        <p:txBody>
          <a:bodyPr wrap="none" lIns="18288" tIns="18288" rIns="18288" bIns="18288">
            <a:spAutoFit/>
          </a:bodyPr>
          <a:lstStyle/>
          <a:p>
            <a:r>
              <a:rPr sz="1250" b="0" i="0">
                <a:solidFill>
                  <a:srgbClr val="1C2736"/>
                </a:solidFill>
                <a:latin typeface="Aptos"/>
              </a:rPr>
              <a:t>Practical rules for false positives, missed signal, merged nuclei, fragmented arm masks, over-smoothing, noisy boundaries, and slow analysis.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3477"/>
            <a:ext cx="4114800" cy="228600"/>
          </a:xfrm>
          <a:prstGeom prst="rect">
            <a:avLst/>
          </a:prstGeom>
          <a:noFill/>
        </p:spPr>
        <p:txBody>
          <a:bodyPr wrap="none" lIns="18288" tIns="18288" rIns="18288" bIns="18288">
            <a:spAutoFit/>
          </a:bodyPr>
          <a:lstStyle/>
          <a:p>
            <a:r>
              <a:rPr sz="850" b="1" i="0" dirty="0">
                <a:solidFill>
                  <a:srgbClr val="00B2B8"/>
                </a:solidFill>
                <a:latin typeface="Aptos"/>
              </a:rPr>
              <a:t>ANALYSIS TARGET</a:t>
            </a:r>
          </a:p>
        </p:txBody>
      </p:sp>
      <p:sp>
        <p:nvSpPr>
          <p:cNvPr id="3" name="TextBox 2"/>
          <p:cNvSpPr txBox="1"/>
          <p:nvPr/>
        </p:nvSpPr>
        <p:spPr>
          <a:xfrm>
            <a:off x="441960" y="190850"/>
            <a:ext cx="12192000" cy="867930"/>
          </a:xfrm>
          <a:prstGeom prst="rect">
            <a:avLst/>
          </a:prstGeom>
          <a:noFill/>
        </p:spPr>
        <p:txBody>
          <a:bodyPr wrap="square" lIns="18288" tIns="18288" rIns="18288" bIns="18288">
            <a:spAutoFit/>
          </a:bodyPr>
          <a:lstStyle/>
          <a:p>
            <a:r>
              <a:rPr sz="2700" b="1" i="0" dirty="0">
                <a:solidFill>
                  <a:srgbClr val="081F3A"/>
                </a:solidFill>
                <a:latin typeface="Aptos"/>
              </a:rPr>
              <a:t>Conceptual task: segment nuclei, P arms, Q arms, and their spatial relationships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594360" y="1392237"/>
            <a:ext cx="5943600" cy="3342004"/>
          </a:xfrm>
          <a:prstGeom prst="rect">
            <a:avLst/>
          </a:prstGeom>
        </p:spPr>
      </p:pic>
      <p:sp>
        <p:nvSpPr>
          <p:cNvPr id="6" name="Rectangle 5"/>
          <p:cNvSpPr/>
          <p:nvPr/>
        </p:nvSpPr>
        <p:spPr>
          <a:xfrm>
            <a:off x="594360" y="1392237"/>
            <a:ext cx="5943600" cy="334200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12280" y="1234440"/>
            <a:ext cx="466344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Nucleus segmentation defines the 3D compartment where all downstream measurements are made.</a:t>
            </a:r>
          </a:p>
          <a:p>
            <a:pPr>
              <a:lnSpc>
                <a:spcPct val="105000"/>
              </a:lnSpc>
              <a:spcAft>
                <a:spcPts val="156"/>
              </a:spcAft>
              <a:defRPr sz="1450">
                <a:solidFill>
                  <a:srgbClr val="1C2736"/>
                </a:solidFill>
                <a:latin typeface="Aptos"/>
              </a:defRPr>
            </a:pPr>
            <a:r>
              <a:t>• P and Q arm detection is performed independently inside each nucleus, using the selected P and Q channels.</a:t>
            </a:r>
          </a:p>
          <a:p>
            <a:pPr>
              <a:lnSpc>
                <a:spcPct val="105000"/>
              </a:lnSpc>
              <a:spcAft>
                <a:spcPts val="156"/>
              </a:spcAft>
              <a:defRPr sz="1450">
                <a:solidFill>
                  <a:srgbClr val="1C2736"/>
                </a:solidFill>
                <a:latin typeface="Aptos"/>
              </a:defRPr>
            </a:pPr>
            <a:r>
              <a:t>• The plugin then measures volumes, fractions, FISH signal counts, centroids, overlap, contact, edge distances, shape descriptors, radial positions, and summary plots.</a:t>
            </a:r>
          </a:p>
          <a:p>
            <a:pPr>
              <a:lnSpc>
                <a:spcPct val="105000"/>
              </a:lnSpc>
              <a:spcAft>
                <a:spcPts val="156"/>
              </a:spcAft>
              <a:defRPr sz="1450">
                <a:solidFill>
                  <a:srgbClr val="1C2736"/>
                </a:solidFill>
                <a:latin typeface="Aptos"/>
              </a:defRPr>
            </a:pPr>
            <a:r>
              <a:t>• The live napari preview is used to tune parameters before saving a full result set.</a:t>
            </a:r>
          </a:p>
        </p:txBody>
      </p:sp>
      <p:sp>
        <p:nvSpPr>
          <p:cNvPr id="8" name="Rounded Rectangle 7"/>
          <p:cNvSpPr/>
          <p:nvPr/>
        </p:nvSpPr>
        <p:spPr>
          <a:xfrm>
            <a:off x="6766560" y="4251960"/>
            <a:ext cx="826617"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4376561"/>
            <a:ext cx="71688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Raw channels</a:t>
            </a:r>
          </a:p>
        </p:txBody>
      </p:sp>
      <p:sp>
        <p:nvSpPr>
          <p:cNvPr id="10" name="Right Arrow 9"/>
          <p:cNvSpPr/>
          <p:nvPr/>
        </p:nvSpPr>
        <p:spPr>
          <a:xfrm>
            <a:off x="7574889"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702905" y="4251960"/>
            <a:ext cx="826617"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48625" y="4376561"/>
            <a:ext cx="652881"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Nuclei labels</a:t>
            </a:r>
          </a:p>
        </p:txBody>
      </p:sp>
      <p:sp>
        <p:nvSpPr>
          <p:cNvPr id="13" name="Right Arrow 12"/>
          <p:cNvSpPr/>
          <p:nvPr/>
        </p:nvSpPr>
        <p:spPr>
          <a:xfrm>
            <a:off x="8511235"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639251" y="4251960"/>
            <a:ext cx="826617"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4972" y="4376561"/>
            <a:ext cx="735176"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P/Q masks</a:t>
            </a:r>
          </a:p>
        </p:txBody>
      </p:sp>
      <p:sp>
        <p:nvSpPr>
          <p:cNvPr id="16" name="Right Arrow 15"/>
          <p:cNvSpPr/>
          <p:nvPr/>
        </p:nvSpPr>
        <p:spPr>
          <a:xfrm>
            <a:off x="9447580"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75596" y="4251960"/>
            <a:ext cx="826617"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21316" y="4376561"/>
            <a:ext cx="735178"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Measurements</a:t>
            </a:r>
          </a:p>
        </p:txBody>
      </p:sp>
      <p:sp>
        <p:nvSpPr>
          <p:cNvPr id="19" name="Right Arrow 18"/>
          <p:cNvSpPr/>
          <p:nvPr/>
        </p:nvSpPr>
        <p:spPr>
          <a:xfrm>
            <a:off x="10383926" y="44622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511942" y="4251960"/>
            <a:ext cx="826617"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557662" y="4376561"/>
            <a:ext cx="780897"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Plots + CSVs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WORKFLOW</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live-demo workflow</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 order matters: tune nuclei first, then tune P/Q arms, then run final analysis.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10881360" cy="416052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7132320">
                  <a:extLst>
                    <a:ext uri="{9D8B030D-6E8A-4147-A177-3AD203B41FA5}">
                      <a16:colId xmlns:a16="http://schemas.microsoft.com/office/drawing/2014/main" val="20002"/>
                    </a:ext>
                  </a:extLst>
                </a:gridCol>
              </a:tblGrid>
              <a:tr h="520065">
                <a:tc>
                  <a:txBody>
                    <a:bodyPr/>
                    <a:lstStyle/>
                    <a:p>
                      <a:pPr algn="l">
                        <a:defRPr sz="1170">
                          <a:solidFill>
                            <a:srgbClr val="FFFFFF"/>
                          </a:solidFill>
                          <a:latin typeface="Aptos"/>
                        </a:defRPr>
                      </a:pPr>
                      <a:r>
                        <a:t>Step</a:t>
                      </a:r>
                    </a:p>
                  </a:txBody>
                  <a:tcPr marL="45720" marR="36576" marT="27432" marB="27432">
                    <a:solidFill>
                      <a:srgbClr val="081F3A"/>
                    </a:solidFill>
                  </a:tcPr>
                </a:tc>
                <a:tc>
                  <a:txBody>
                    <a:bodyPr/>
                    <a:lstStyle/>
                    <a:p>
                      <a:pPr algn="l">
                        <a:defRPr sz="1170">
                          <a:solidFill>
                            <a:srgbClr val="FFFFFF"/>
                          </a:solidFill>
                          <a:latin typeface="Aptos"/>
                        </a:defRPr>
                      </a:pPr>
                      <a:r>
                        <a:t>Action</a:t>
                      </a:r>
                    </a:p>
                  </a:txBody>
                  <a:tcPr marL="45720" marR="36576" marT="27432" marB="27432">
                    <a:solidFill>
                      <a:srgbClr val="081F3A"/>
                    </a:solidFill>
                  </a:tcPr>
                </a:tc>
                <a:tc>
                  <a:txBody>
                    <a:bodyPr/>
                    <a:lstStyle/>
                    <a:p>
                      <a:pPr algn="l">
                        <a:defRPr sz="1170">
                          <a:solidFill>
                            <a:srgbClr val="FFFFFF"/>
                          </a:solidFill>
                          <a:latin typeface="Aptos"/>
                        </a:defRPr>
                      </a:pPr>
                      <a:r>
                        <a:t>What to inspect</a:t>
                      </a:r>
                    </a:p>
                  </a:txBody>
                  <a:tcPr marL="45720" marR="36576" marT="27432" marB="27432">
                    <a:solidFill>
                      <a:srgbClr val="081F3A"/>
                    </a:solidFill>
                  </a:tcPr>
                </a:tc>
                <a:extLst>
                  <a:ext uri="{0D108BD9-81ED-4DB2-BD59-A6C34878D82A}">
                    <a16:rowId xmlns:a16="http://schemas.microsoft.com/office/drawing/2014/main" val="10000"/>
                  </a:ext>
                </a:extLst>
              </a:tr>
              <a:tr h="520065">
                <a:tc>
                  <a:txBody>
                    <a:bodyPr/>
                    <a:lstStyle/>
                    <a:p>
                      <a:pPr algn="l">
                        <a:defRPr sz="1120">
                          <a:solidFill>
                            <a:srgbClr val="1C2736"/>
                          </a:solidFill>
                          <a:latin typeface="Aptos"/>
                        </a:defRPr>
                      </a:pPr>
                      <a:r>
                        <a:t>1</a:t>
                      </a:r>
                    </a:p>
                  </a:txBody>
                  <a:tcPr marL="45720" marR="36576" marT="27432" marB="27432">
                    <a:solidFill>
                      <a:srgbClr val="FFFFFF"/>
                    </a:solidFill>
                  </a:tcPr>
                </a:tc>
                <a:tc>
                  <a:txBody>
                    <a:bodyPr/>
                    <a:lstStyle/>
                    <a:p>
                      <a:pPr algn="l">
                        <a:defRPr sz="1120">
                          <a:solidFill>
                            <a:srgbClr val="1C2736"/>
                          </a:solidFill>
                          <a:latin typeface="Aptos"/>
                        </a:defRPr>
                      </a:pPr>
                      <a:r>
                        <a:t>Load image</a:t>
                      </a:r>
                    </a:p>
                  </a:txBody>
                  <a:tcPr marL="45720" marR="36576" marT="27432" marB="27432">
                    <a:solidFill>
                      <a:srgbClr val="FFFFFF"/>
                    </a:solidFill>
                  </a:tcPr>
                </a:tc>
                <a:tc>
                  <a:txBody>
                    <a:bodyPr/>
                    <a:lstStyle/>
                    <a:p>
                      <a:pPr algn="l">
                        <a:defRPr sz="1120">
                          <a:solidFill>
                            <a:srgbClr val="1C2736"/>
                          </a:solidFill>
                          <a:latin typeface="Aptos"/>
                        </a:defRPr>
                      </a:pPr>
                      <a:r>
                        <a:t>Confirm scenes, channels, CZYX shape, voxel spacing</a:t>
                      </a:r>
                    </a:p>
                  </a:txBody>
                  <a:tcPr marL="45720" marR="36576" marT="27432" marB="27432">
                    <a:solidFill>
                      <a:srgbClr val="FFFFFF"/>
                    </a:solidFill>
                  </a:tcPr>
                </a:tc>
                <a:extLst>
                  <a:ext uri="{0D108BD9-81ED-4DB2-BD59-A6C34878D82A}">
                    <a16:rowId xmlns:a16="http://schemas.microsoft.com/office/drawing/2014/main" val="10001"/>
                  </a:ext>
                </a:extLst>
              </a:tr>
              <a:tr h="520065">
                <a:tc>
                  <a:txBody>
                    <a:bodyPr/>
                    <a:lstStyle/>
                    <a:p>
                      <a:pPr algn="l">
                        <a:defRPr sz="1120">
                          <a:solidFill>
                            <a:srgbClr val="1C2736"/>
                          </a:solidFill>
                          <a:latin typeface="Aptos"/>
                        </a:defRPr>
                      </a:pPr>
                      <a:r>
                        <a:t>2</a:t>
                      </a:r>
                    </a:p>
                  </a:txBody>
                  <a:tcPr marL="45720" marR="36576" marT="27432" marB="27432">
                    <a:solidFill>
                      <a:srgbClr val="EEF3F9"/>
                    </a:solidFill>
                  </a:tcPr>
                </a:tc>
                <a:tc>
                  <a:txBody>
                    <a:bodyPr/>
                    <a:lstStyle/>
                    <a:p>
                      <a:pPr algn="l">
                        <a:defRPr sz="1120">
                          <a:solidFill>
                            <a:srgbClr val="1C2736"/>
                          </a:solidFill>
                          <a:latin typeface="Aptos"/>
                        </a:defRPr>
                      </a:pPr>
                      <a:r>
                        <a:t>Load one preview scene</a:t>
                      </a:r>
                    </a:p>
                  </a:txBody>
                  <a:tcPr marL="45720" marR="36576" marT="27432" marB="27432">
                    <a:solidFill>
                      <a:srgbClr val="EEF3F9"/>
                    </a:solidFill>
                  </a:tcPr>
                </a:tc>
                <a:tc>
                  <a:txBody>
                    <a:bodyPr/>
                    <a:lstStyle/>
                    <a:p>
                      <a:pPr algn="l">
                        <a:defRPr sz="1120">
                          <a:solidFill>
                            <a:srgbClr val="1C2736"/>
                          </a:solidFill>
                          <a:latin typeface="Aptos"/>
                        </a:defRPr>
                      </a:pPr>
                      <a:r>
                        <a:t>Choose a representative field for parameter tuning</a:t>
                      </a:r>
                    </a:p>
                  </a:txBody>
                  <a:tcPr marL="45720" marR="36576" marT="27432" marB="27432">
                    <a:solidFill>
                      <a:srgbClr val="EEF3F9"/>
                    </a:solidFill>
                  </a:tcPr>
                </a:tc>
                <a:extLst>
                  <a:ext uri="{0D108BD9-81ED-4DB2-BD59-A6C34878D82A}">
                    <a16:rowId xmlns:a16="http://schemas.microsoft.com/office/drawing/2014/main" val="10002"/>
                  </a:ext>
                </a:extLst>
              </a:tr>
              <a:tr h="520065">
                <a:tc>
                  <a:txBody>
                    <a:bodyPr/>
                    <a:lstStyle/>
                    <a:p>
                      <a:pPr algn="l">
                        <a:defRPr sz="1120">
                          <a:solidFill>
                            <a:srgbClr val="1C2736"/>
                          </a:solidFill>
                          <a:latin typeface="Aptos"/>
                        </a:defRPr>
                      </a:pPr>
                      <a:r>
                        <a:t>3</a:t>
                      </a:r>
                    </a:p>
                  </a:txBody>
                  <a:tcPr marL="45720" marR="36576" marT="27432" marB="27432">
                    <a:solidFill>
                      <a:srgbClr val="FFFFFF"/>
                    </a:solidFill>
                  </a:tcPr>
                </a:tc>
                <a:tc>
                  <a:txBody>
                    <a:bodyPr/>
                    <a:lstStyle/>
                    <a:p>
                      <a:pPr algn="l">
                        <a:defRPr sz="1120">
                          <a:solidFill>
                            <a:srgbClr val="1C2736"/>
                          </a:solidFill>
                          <a:latin typeface="Aptos"/>
                        </a:defRPr>
                      </a:pPr>
                      <a:r>
                        <a:t>Set channels</a:t>
                      </a:r>
                    </a:p>
                  </a:txBody>
                  <a:tcPr marL="45720" marR="36576" marT="27432" marB="27432">
                    <a:solidFill>
                      <a:srgbClr val="FFFFFF"/>
                    </a:solidFill>
                  </a:tcPr>
                </a:tc>
                <a:tc>
                  <a:txBody>
                    <a:bodyPr/>
                    <a:lstStyle/>
                    <a:p>
                      <a:pPr algn="l">
                        <a:defRPr sz="1120">
                          <a:solidFill>
                            <a:srgbClr val="1C2736"/>
                          </a:solidFill>
                          <a:latin typeface="Aptos"/>
                        </a:defRPr>
                      </a:pPr>
                      <a:r>
                        <a:t>Nucleus, P-arm, and Q-arm raw layers should be correct</a:t>
                      </a:r>
                    </a:p>
                  </a:txBody>
                  <a:tcPr marL="45720" marR="36576" marT="27432" marB="27432">
                    <a:solidFill>
                      <a:srgbClr val="FFFFFF"/>
                    </a:solidFill>
                  </a:tcPr>
                </a:tc>
                <a:extLst>
                  <a:ext uri="{0D108BD9-81ED-4DB2-BD59-A6C34878D82A}">
                    <a16:rowId xmlns:a16="http://schemas.microsoft.com/office/drawing/2014/main" val="10003"/>
                  </a:ext>
                </a:extLst>
              </a:tr>
              <a:tr h="520065">
                <a:tc>
                  <a:txBody>
                    <a:bodyPr/>
                    <a:lstStyle/>
                    <a:p>
                      <a:pPr algn="l">
                        <a:defRPr sz="1120">
                          <a:solidFill>
                            <a:srgbClr val="1C2736"/>
                          </a:solidFill>
                          <a:latin typeface="Aptos"/>
                        </a:defRPr>
                      </a:pPr>
                      <a:r>
                        <a:t>4</a:t>
                      </a:r>
                    </a:p>
                  </a:txBody>
                  <a:tcPr marL="45720" marR="36576" marT="27432" marB="27432">
                    <a:solidFill>
                      <a:srgbClr val="EEF3F9"/>
                    </a:solidFill>
                  </a:tcPr>
                </a:tc>
                <a:tc>
                  <a:txBody>
                    <a:bodyPr/>
                    <a:lstStyle/>
                    <a:p>
                      <a:pPr algn="l">
                        <a:defRPr sz="1120">
                          <a:solidFill>
                            <a:srgbClr val="1C2736"/>
                          </a:solidFill>
                          <a:latin typeface="Aptos"/>
                        </a:defRPr>
                      </a:pPr>
                      <a:r>
                        <a:t>Preview nuclei</a:t>
                      </a:r>
                    </a:p>
                  </a:txBody>
                  <a:tcPr marL="45720" marR="36576" marT="27432" marB="27432">
                    <a:solidFill>
                      <a:srgbClr val="EEF3F9"/>
                    </a:solidFill>
                  </a:tcPr>
                </a:tc>
                <a:tc>
                  <a:txBody>
                    <a:bodyPr/>
                    <a:lstStyle/>
                    <a:p>
                      <a:pPr algn="l">
                        <a:defRPr sz="1120">
                          <a:solidFill>
                            <a:srgbClr val="1C2736"/>
                          </a:solidFill>
                          <a:latin typeface="Aptos"/>
                        </a:defRPr>
                      </a:pPr>
                      <a:r>
                        <a:t>Nuclei should not be merged, split, or missing</a:t>
                      </a:r>
                    </a:p>
                  </a:txBody>
                  <a:tcPr marL="45720" marR="36576" marT="27432" marB="27432">
                    <a:solidFill>
                      <a:srgbClr val="EEF3F9"/>
                    </a:solidFill>
                  </a:tcPr>
                </a:tc>
                <a:extLst>
                  <a:ext uri="{0D108BD9-81ED-4DB2-BD59-A6C34878D82A}">
                    <a16:rowId xmlns:a16="http://schemas.microsoft.com/office/drawing/2014/main" val="10004"/>
                  </a:ext>
                </a:extLst>
              </a:tr>
              <a:tr h="520065">
                <a:tc>
                  <a:txBody>
                    <a:bodyPr/>
                    <a:lstStyle/>
                    <a:p>
                      <a:pPr algn="l">
                        <a:defRPr sz="1120">
                          <a:solidFill>
                            <a:srgbClr val="1C2736"/>
                          </a:solidFill>
                          <a:latin typeface="Aptos"/>
                        </a:defRPr>
                      </a:pPr>
                      <a:r>
                        <a:t>5</a:t>
                      </a:r>
                    </a:p>
                  </a:txBody>
                  <a:tcPr marL="45720" marR="36576" marT="27432" marB="27432">
                    <a:solidFill>
                      <a:srgbClr val="FFFFFF"/>
                    </a:solidFill>
                  </a:tcPr>
                </a:tc>
                <a:tc>
                  <a:txBody>
                    <a:bodyPr/>
                    <a:lstStyle/>
                    <a:p>
                      <a:pPr algn="l">
                        <a:defRPr sz="1120">
                          <a:solidFill>
                            <a:srgbClr val="1C2736"/>
                          </a:solidFill>
                          <a:latin typeface="Aptos"/>
                        </a:defRPr>
                      </a:pPr>
                      <a:r>
                        <a:t>Preview P/Q masks</a:t>
                      </a:r>
                    </a:p>
                  </a:txBody>
                  <a:tcPr marL="45720" marR="36576" marT="27432" marB="27432">
                    <a:solidFill>
                      <a:srgbClr val="FFFFFF"/>
                    </a:solidFill>
                  </a:tcPr>
                </a:tc>
                <a:tc>
                  <a:txBody>
                    <a:bodyPr/>
                    <a:lstStyle/>
                    <a:p>
                      <a:pPr algn="l">
                        <a:defRPr sz="1120">
                          <a:solidFill>
                            <a:srgbClr val="1C2736"/>
                          </a:solidFill>
                          <a:latin typeface="Aptos"/>
                        </a:defRPr>
                      </a:pPr>
                      <a:r>
                        <a:t>Masks should match signal and reject noise</a:t>
                      </a:r>
                    </a:p>
                  </a:txBody>
                  <a:tcPr marL="45720" marR="36576" marT="27432" marB="27432">
                    <a:solidFill>
                      <a:srgbClr val="FFFFFF"/>
                    </a:solidFill>
                  </a:tcPr>
                </a:tc>
                <a:extLst>
                  <a:ext uri="{0D108BD9-81ED-4DB2-BD59-A6C34878D82A}">
                    <a16:rowId xmlns:a16="http://schemas.microsoft.com/office/drawing/2014/main" val="10005"/>
                  </a:ext>
                </a:extLst>
              </a:tr>
              <a:tr h="520065">
                <a:tc>
                  <a:txBody>
                    <a:bodyPr/>
                    <a:lstStyle/>
                    <a:p>
                      <a:pPr algn="l">
                        <a:defRPr sz="1120">
                          <a:solidFill>
                            <a:srgbClr val="1C2736"/>
                          </a:solidFill>
                          <a:latin typeface="Aptos"/>
                        </a:defRPr>
                      </a:pPr>
                      <a:r>
                        <a:t>6</a:t>
                      </a:r>
                    </a:p>
                  </a:txBody>
                  <a:tcPr marL="45720" marR="36576" marT="27432" marB="27432">
                    <a:solidFill>
                      <a:srgbClr val="EEF3F9"/>
                    </a:solidFill>
                  </a:tcPr>
                </a:tc>
                <a:tc>
                  <a:txBody>
                    <a:bodyPr/>
                    <a:lstStyle/>
                    <a:p>
                      <a:pPr algn="l">
                        <a:defRPr sz="1120">
                          <a:solidFill>
                            <a:srgbClr val="1C2736"/>
                          </a:solidFill>
                          <a:latin typeface="Aptos"/>
                        </a:defRPr>
                      </a:pPr>
                      <a:r>
                        <a:t>Save configuration</a:t>
                      </a:r>
                    </a:p>
                  </a:txBody>
                  <a:tcPr marL="45720" marR="36576" marT="27432" marB="27432">
                    <a:solidFill>
                      <a:srgbClr val="EEF3F9"/>
                    </a:solidFill>
                  </a:tcPr>
                </a:tc>
                <a:tc>
                  <a:txBody>
                    <a:bodyPr/>
                    <a:lstStyle/>
                    <a:p>
                      <a:pPr algn="l">
                        <a:defRPr sz="1120">
                          <a:solidFill>
                            <a:srgbClr val="1C2736"/>
                          </a:solidFill>
                          <a:latin typeface="Aptos"/>
                        </a:defRPr>
                      </a:pPr>
                      <a:r>
                        <a:t>Store reusable parameter set as JSON</a:t>
                      </a:r>
                    </a:p>
                  </a:txBody>
                  <a:tcPr marL="45720" marR="36576" marT="27432" marB="27432">
                    <a:solidFill>
                      <a:srgbClr val="EEF3F9"/>
                    </a:solidFill>
                  </a:tcPr>
                </a:tc>
                <a:extLst>
                  <a:ext uri="{0D108BD9-81ED-4DB2-BD59-A6C34878D82A}">
                    <a16:rowId xmlns:a16="http://schemas.microsoft.com/office/drawing/2014/main" val="10006"/>
                  </a:ext>
                </a:extLst>
              </a:tr>
              <a:tr h="520065">
                <a:tc>
                  <a:txBody>
                    <a:bodyPr/>
                    <a:lstStyle/>
                    <a:p>
                      <a:pPr algn="l">
                        <a:defRPr sz="1120">
                          <a:solidFill>
                            <a:srgbClr val="1C2736"/>
                          </a:solidFill>
                          <a:latin typeface="Aptos"/>
                        </a:defRPr>
                      </a:pPr>
                      <a:r>
                        <a:t>7</a:t>
                      </a:r>
                    </a:p>
                  </a:txBody>
                  <a:tcPr marL="45720" marR="36576" marT="27432" marB="27432">
                    <a:solidFill>
                      <a:srgbClr val="FFFFFF"/>
                    </a:solidFill>
                  </a:tcPr>
                </a:tc>
                <a:tc>
                  <a:txBody>
                    <a:bodyPr/>
                    <a:lstStyle/>
                    <a:p>
                      <a:pPr algn="l">
                        <a:defRPr sz="1120">
                          <a:solidFill>
                            <a:srgbClr val="1C2736"/>
                          </a:solidFill>
                          <a:latin typeface="Aptos"/>
                        </a:defRPr>
                      </a:pPr>
                      <a:r>
                        <a:t>Check scenes and analyze</a:t>
                      </a:r>
                    </a:p>
                  </a:txBody>
                  <a:tcPr marL="45720" marR="36576" marT="27432" marB="27432">
                    <a:solidFill>
                      <a:srgbClr val="FFFFFF"/>
                    </a:solidFill>
                  </a:tcPr>
                </a:tc>
                <a:tc>
                  <a:txBody>
                    <a:bodyPr/>
                    <a:lstStyle/>
                    <a:p>
                      <a:pPr algn="l">
                        <a:defRPr sz="1120">
                          <a:solidFill>
                            <a:srgbClr val="1C2736"/>
                          </a:solidFill>
                          <a:latin typeface="Aptos"/>
                        </a:defRPr>
                      </a:pPr>
                      <a:r>
                        <a:t>Run one scene or batch of selected scenes</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1005840" y="5623560"/>
            <a:ext cx="10241280" cy="56692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15568" y="5715000"/>
            <a:ext cx="10021824" cy="402336"/>
          </a:xfrm>
          <a:prstGeom prst="rect">
            <a:avLst/>
          </a:prstGeom>
          <a:noFill/>
        </p:spPr>
        <p:txBody>
          <a:bodyPr wrap="none" lIns="18288" tIns="18288" rIns="18288" bIns="18288" anchor="ctr">
            <a:spAutoFit/>
          </a:bodyPr>
          <a:lstStyle/>
          <a:p>
            <a:r>
              <a:rPr sz="1300" b="1" i="0">
                <a:solidFill>
                  <a:srgbClr val="FFFFFF"/>
                </a:solidFill>
                <a:latin typeface="Aptos"/>
              </a:rPr>
              <a:t>Demo tip: keep “Live-update P/Q preview” off while changing several parameters, then click “Preview P/Q arm masks” manually.</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IMAGE LOADING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Inputs: multi-channel 3D microscopy images and scene metadata</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234440"/>
            <a:ext cx="5577840" cy="246888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The plugin loads common microscopy formats: LIF, CZI, ND2, IMS, OME-TIFF, TIFF, LSM, and Zarr when reader packages are available.</a:t>
            </a:r>
          </a:p>
          <a:p>
            <a:pPr>
              <a:lnSpc>
                <a:spcPct val="105000"/>
              </a:lnSpc>
              <a:spcAft>
                <a:spcPts val="156"/>
              </a:spcAft>
              <a:defRPr sz="1430">
                <a:solidFill>
                  <a:srgbClr val="1C2736"/>
                </a:solidFill>
                <a:latin typeface="Aptos"/>
              </a:defRPr>
            </a:pPr>
            <a:r>
              <a:t>• Many files contain multiple scenes, positions, series, fields, or tiles; the plugin exposes them in a preview dropdown and a batch checkbox list.</a:t>
            </a:r>
          </a:p>
          <a:p>
            <a:pPr>
              <a:lnSpc>
                <a:spcPct val="105000"/>
              </a:lnSpc>
              <a:spcAft>
                <a:spcPts val="156"/>
              </a:spcAft>
              <a:defRPr sz="1430">
                <a:solidFill>
                  <a:srgbClr val="1C2736"/>
                </a:solidFill>
                <a:latin typeface="Aptos"/>
              </a:defRPr>
            </a:pPr>
            <a:r>
              <a:t>• Data are internally handled as CZYX: channel, z-slice, y, x.</a:t>
            </a:r>
          </a:p>
          <a:p>
            <a:pPr>
              <a:lnSpc>
                <a:spcPct val="105000"/>
              </a:lnSpc>
              <a:spcAft>
                <a:spcPts val="156"/>
              </a:spcAft>
              <a:defRPr sz="1430">
                <a:solidFill>
                  <a:srgbClr val="1C2736"/>
                </a:solidFill>
                <a:latin typeface="Aptos"/>
              </a:defRPr>
            </a:pPr>
            <a:r>
              <a:t>• Physical voxel spacing Δz, Δy, and Δx is used for volumes, surface areas, distances, equivalent diameters, and radial measurements.</a:t>
            </a:r>
          </a:p>
        </p:txBody>
      </p:sp>
      <p:sp>
        <p:nvSpPr>
          <p:cNvPr id="6" name="Rounded Rectangle 5"/>
          <p:cNvSpPr/>
          <p:nvPr/>
        </p:nvSpPr>
        <p:spPr>
          <a:xfrm>
            <a:off x="6537960" y="1234440"/>
            <a:ext cx="4937760" cy="141732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37960" y="1234440"/>
            <a:ext cx="73152" cy="141732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84264" y="1344168"/>
            <a:ext cx="4709160" cy="320040"/>
          </a:xfrm>
          <a:prstGeom prst="rect">
            <a:avLst/>
          </a:prstGeom>
          <a:noFill/>
        </p:spPr>
        <p:txBody>
          <a:bodyPr wrap="none" lIns="18288" tIns="18288" rIns="18288" bIns="18288">
            <a:spAutoFit/>
          </a:bodyPr>
          <a:lstStyle/>
          <a:p>
            <a:r>
              <a:rPr sz="1500" b="1" i="0">
                <a:solidFill>
                  <a:srgbClr val="081F3A"/>
                </a:solidFill>
                <a:latin typeface="Aptos"/>
              </a:rPr>
              <a:t>Scene loaded in the example result set</a:t>
            </a:r>
          </a:p>
        </p:txBody>
      </p:sp>
      <p:sp>
        <p:nvSpPr>
          <p:cNvPr id="9" name="TextBox 8"/>
          <p:cNvSpPr txBox="1"/>
          <p:nvPr/>
        </p:nvSpPr>
        <p:spPr>
          <a:xfrm>
            <a:off x="6684264" y="1709928"/>
            <a:ext cx="4709160" cy="850392"/>
          </a:xfrm>
          <a:prstGeom prst="rect">
            <a:avLst/>
          </a:prstGeom>
          <a:noFill/>
        </p:spPr>
        <p:txBody>
          <a:bodyPr wrap="none" lIns="18288" tIns="18288" rIns="18288" bIns="18288">
            <a:spAutoFit/>
          </a:bodyPr>
          <a:lstStyle/>
          <a:p>
            <a:r>
              <a:rPr sz="1250" b="0" i="0">
                <a:solidFill>
                  <a:srgbClr val="1C2736"/>
                </a:solidFill>
                <a:latin typeface="Aptos"/>
              </a:rPr>
              <a:t>Scene: 7: Series006
Shape CZYX: [4, 57, 2048, 2048]
Spacing ZYX: (0.1788, 0.1032, 0.1032) µm</a:t>
            </a:r>
          </a:p>
        </p:txBody>
      </p:sp>
      <p:sp>
        <p:nvSpPr>
          <p:cNvPr id="10" name="Rounded Rectangle 9"/>
          <p:cNvSpPr/>
          <p:nvPr/>
        </p:nvSpPr>
        <p:spPr>
          <a:xfrm>
            <a:off x="6537960" y="2971800"/>
            <a:ext cx="4937760" cy="15544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37960" y="2971800"/>
            <a:ext cx="73152" cy="15544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84264" y="3081528"/>
            <a:ext cx="4709160" cy="320040"/>
          </a:xfrm>
          <a:prstGeom prst="rect">
            <a:avLst/>
          </a:prstGeom>
          <a:noFill/>
        </p:spPr>
        <p:txBody>
          <a:bodyPr wrap="none" lIns="18288" tIns="18288" rIns="18288" bIns="18288">
            <a:spAutoFit/>
          </a:bodyPr>
          <a:lstStyle/>
          <a:p>
            <a:r>
              <a:rPr sz="1500" b="1" i="0">
                <a:solidFill>
                  <a:srgbClr val="081F3A"/>
                </a:solidFill>
                <a:latin typeface="Aptos"/>
              </a:rPr>
              <a:t>Why spacing matters</a:t>
            </a:r>
          </a:p>
        </p:txBody>
      </p:sp>
      <p:sp>
        <p:nvSpPr>
          <p:cNvPr id="13" name="TextBox 12"/>
          <p:cNvSpPr txBox="1"/>
          <p:nvPr/>
        </p:nvSpPr>
        <p:spPr>
          <a:xfrm>
            <a:off x="6684264" y="3447288"/>
            <a:ext cx="4654296" cy="614014"/>
          </a:xfrm>
          <a:prstGeom prst="rect">
            <a:avLst/>
          </a:prstGeom>
          <a:noFill/>
        </p:spPr>
        <p:txBody>
          <a:bodyPr wrap="square" lIns="18288" tIns="18288" rIns="18288" bIns="18288">
            <a:spAutoFit/>
          </a:bodyPr>
          <a:lstStyle/>
          <a:p>
            <a:r>
              <a:rPr sz="1250" b="0" i="0" dirty="0">
                <a:solidFill>
                  <a:srgbClr val="1C2736"/>
                </a:solidFill>
                <a:latin typeface="Aptos"/>
              </a:rPr>
              <a:t>A voxel count is not a physical measurement until it is multiplied by voxel size. The same binary mask can represent different physical volumes if the pixel size is different.</a:t>
            </a:r>
          </a:p>
        </p:txBody>
      </p:sp>
      <p:pic>
        <p:nvPicPr>
          <p:cNvPr id="14" name="Picture 13" descr="volume.png"/>
          <p:cNvPicPr>
            <a:picLocks noChangeAspect="1"/>
          </p:cNvPicPr>
          <p:nvPr/>
        </p:nvPicPr>
        <p:blipFill>
          <a:blip r:embed="rId2"/>
          <a:stretch>
            <a:fillRect/>
          </a:stretch>
        </p:blipFill>
        <p:spPr>
          <a:xfrm>
            <a:off x="6675120" y="4950320"/>
            <a:ext cx="4663440" cy="614959"/>
          </a:xfrm>
          <a:prstGeom prst="rect">
            <a:avLst/>
          </a:prstGeom>
        </p:spPr>
      </p:pic>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GUI TOUR</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The napari interface: visualization on the left, controls on the right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348465" y="1078992"/>
            <a:ext cx="9464588" cy="5321808"/>
          </a:xfrm>
          <a:prstGeom prst="rect">
            <a:avLst/>
          </a:prstGeom>
        </p:spPr>
      </p:pic>
      <p:sp>
        <p:nvSpPr>
          <p:cNvPr id="6" name="Rectangle 5"/>
          <p:cNvSpPr/>
          <p:nvPr/>
        </p:nvSpPr>
        <p:spPr>
          <a:xfrm>
            <a:off x="1348465" y="1078992"/>
            <a:ext cx="9464588" cy="5321808"/>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02920" y="1143000"/>
            <a:ext cx="1920240" cy="34747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1234440"/>
            <a:ext cx="1700784" cy="182880"/>
          </a:xfrm>
          <a:prstGeom prst="rect">
            <a:avLst/>
          </a:prstGeom>
          <a:noFill/>
        </p:spPr>
        <p:txBody>
          <a:bodyPr wrap="none" lIns="18288" tIns="18288" rIns="18288" bIns="18288" anchor="ctr">
            <a:spAutoFit/>
          </a:bodyPr>
          <a:lstStyle/>
          <a:p>
            <a:r>
              <a:rPr sz="980" b="1" i="0">
                <a:solidFill>
                  <a:srgbClr val="FFFFFF"/>
                </a:solidFill>
                <a:latin typeface="Aptos"/>
              </a:rPr>
              <a:t>Layer list and color controls</a:t>
            </a:r>
          </a:p>
        </p:txBody>
      </p:sp>
      <p:sp>
        <p:nvSpPr>
          <p:cNvPr id="9" name="Rounded Rectangle 8"/>
          <p:cNvSpPr/>
          <p:nvPr/>
        </p:nvSpPr>
        <p:spPr>
          <a:xfrm>
            <a:off x="4206240" y="1143000"/>
            <a:ext cx="2194560" cy="34747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15968" y="1234440"/>
            <a:ext cx="1975104" cy="182880"/>
          </a:xfrm>
          <a:prstGeom prst="rect">
            <a:avLst/>
          </a:prstGeom>
          <a:noFill/>
        </p:spPr>
        <p:txBody>
          <a:bodyPr wrap="none" lIns="18288" tIns="18288" rIns="18288" bIns="18288" anchor="ctr">
            <a:spAutoFit/>
          </a:bodyPr>
          <a:lstStyle/>
          <a:p>
            <a:r>
              <a:rPr sz="980" b="1" i="0">
                <a:solidFill>
                  <a:srgbClr val="FFFFFF"/>
                </a:solidFill>
                <a:latin typeface="Aptos"/>
              </a:rPr>
              <a:t>Raw channels + masks overlay</a:t>
            </a:r>
          </a:p>
        </p:txBody>
      </p:sp>
      <p:sp>
        <p:nvSpPr>
          <p:cNvPr id="11" name="Rounded Rectangle 10"/>
          <p:cNvSpPr/>
          <p:nvPr/>
        </p:nvSpPr>
        <p:spPr>
          <a:xfrm>
            <a:off x="8732520" y="1143000"/>
            <a:ext cx="2331720" cy="34747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42248" y="1234440"/>
            <a:ext cx="2112263" cy="182880"/>
          </a:xfrm>
          <a:prstGeom prst="rect">
            <a:avLst/>
          </a:prstGeom>
          <a:noFill/>
        </p:spPr>
        <p:txBody>
          <a:bodyPr wrap="none" lIns="18288" tIns="18288" rIns="18288" bIns="18288" anchor="ctr">
            <a:spAutoFit/>
          </a:bodyPr>
          <a:lstStyle/>
          <a:p>
            <a:r>
              <a:rPr sz="980" b="1" i="0">
                <a:solidFill>
                  <a:srgbClr val="FFFFFF"/>
                </a:solidFill>
                <a:latin typeface="Aptos"/>
              </a:rPr>
              <a:t>Parameter groups + actions</a:t>
            </a:r>
          </a:p>
        </p:txBody>
      </p:sp>
      <p:sp>
        <p:nvSpPr>
          <p:cNvPr id="13" name="TextBox 12"/>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4" name="TextBox 13"/>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appears in the layer panel</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This streamlined version only shows layers needed for interpretation and presentation.</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640080" y="1234440"/>
          <a:ext cx="7315200" cy="420624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25780">
                <a:tc>
                  <a:txBody>
                    <a:bodyPr/>
                    <a:lstStyle/>
                    <a:p>
                      <a:pPr algn="l">
                        <a:defRPr sz="1100">
                          <a:solidFill>
                            <a:srgbClr val="FFFFFF"/>
                          </a:solidFill>
                          <a:latin typeface="Aptos"/>
                        </a:defRPr>
                      </a:pPr>
                      <a:r>
                        <a:t>Layer</a:t>
                      </a:r>
                    </a:p>
                  </a:txBody>
                  <a:tcPr marL="45720" marR="36576" marT="27432" marB="27432">
                    <a:solidFill>
                      <a:srgbClr val="081F3A"/>
                    </a:solidFill>
                  </a:tcPr>
                </a:tc>
                <a:tc>
                  <a:txBody>
                    <a:bodyPr/>
                    <a:lstStyle/>
                    <a:p>
                      <a:pPr algn="l">
                        <a:defRPr sz="1100">
                          <a:solidFill>
                            <a:srgbClr val="FFFFFF"/>
                          </a:solidFill>
                          <a:latin typeface="Aptos"/>
                        </a:defRPr>
                      </a:pPr>
                      <a:r>
                        <a:t>Type</a:t>
                      </a:r>
                    </a:p>
                  </a:txBody>
                  <a:tcPr marL="45720" marR="36576" marT="27432" marB="27432">
                    <a:solidFill>
                      <a:srgbClr val="081F3A"/>
                    </a:solidFill>
                  </a:tcPr>
                </a:tc>
                <a:tc>
                  <a:txBody>
                    <a:bodyPr/>
                    <a:lstStyle/>
                    <a:p>
                      <a:pPr algn="l">
                        <a:defRPr sz="1100">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525780">
                <a:tc>
                  <a:txBody>
                    <a:bodyPr/>
                    <a:lstStyle/>
                    <a:p>
                      <a:pPr algn="l">
                        <a:defRPr sz="1050">
                          <a:solidFill>
                            <a:srgbClr val="1C2736"/>
                          </a:solidFill>
                          <a:latin typeface="Aptos"/>
                        </a:defRPr>
                      </a:pPr>
                      <a:r>
                        <a:t>Nucleus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nuclear signal used by Cellpose</a:t>
                      </a:r>
                    </a:p>
                  </a:txBody>
                  <a:tcPr marL="45720" marR="36576" marT="27432" marB="27432">
                    <a:solidFill>
                      <a:srgbClr val="FFFFFF"/>
                    </a:solidFill>
                  </a:tcPr>
                </a:tc>
                <a:extLst>
                  <a:ext uri="{0D108BD9-81ED-4DB2-BD59-A6C34878D82A}">
                    <a16:rowId xmlns:a16="http://schemas.microsoft.com/office/drawing/2014/main" val="10001"/>
                  </a:ext>
                </a:extLst>
              </a:tr>
              <a:tr h="525780">
                <a:tc>
                  <a:txBody>
                    <a:bodyPr/>
                    <a:lstStyle/>
                    <a:p>
                      <a:pPr algn="l">
                        <a:defRPr sz="1050">
                          <a:solidFill>
                            <a:srgbClr val="1C2736"/>
                          </a:solidFill>
                          <a:latin typeface="Aptos"/>
                        </a:defRPr>
                      </a:pPr>
                      <a:r>
                        <a:t>P arm channel</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Raw P-arm signal used for P mask detection</a:t>
                      </a:r>
                    </a:p>
                  </a:txBody>
                  <a:tcPr marL="45720" marR="36576" marT="27432" marB="27432">
                    <a:solidFill>
                      <a:srgbClr val="EEF3F9"/>
                    </a:solidFill>
                  </a:tcPr>
                </a:tc>
                <a:extLst>
                  <a:ext uri="{0D108BD9-81ED-4DB2-BD59-A6C34878D82A}">
                    <a16:rowId xmlns:a16="http://schemas.microsoft.com/office/drawing/2014/main" val="10002"/>
                  </a:ext>
                </a:extLst>
              </a:tr>
              <a:tr h="525780">
                <a:tc>
                  <a:txBody>
                    <a:bodyPr/>
                    <a:lstStyle/>
                    <a:p>
                      <a:pPr algn="l">
                        <a:defRPr sz="1050">
                          <a:solidFill>
                            <a:srgbClr val="1C2736"/>
                          </a:solidFill>
                          <a:latin typeface="Aptos"/>
                        </a:defRPr>
                      </a:pPr>
                      <a:r>
                        <a:t>Q arm channel</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Raw Q-arm signal used for Q mask detection</a:t>
                      </a:r>
                    </a:p>
                  </a:txBody>
                  <a:tcPr marL="45720" marR="36576" marT="27432" marB="27432">
                    <a:solidFill>
                      <a:srgbClr val="FFFFFF"/>
                    </a:solidFill>
                  </a:tcPr>
                </a:tc>
                <a:extLst>
                  <a:ext uri="{0D108BD9-81ED-4DB2-BD59-A6C34878D82A}">
                    <a16:rowId xmlns:a16="http://schemas.microsoft.com/office/drawing/2014/main" val="10003"/>
                  </a:ext>
                </a:extLst>
              </a:tr>
              <a:tr h="525780">
                <a:tc>
                  <a:txBody>
                    <a:bodyPr/>
                    <a:lstStyle/>
                    <a:p>
                      <a:pPr algn="l">
                        <a:defRPr sz="1050">
                          <a:solidFill>
                            <a:srgbClr val="1C2736"/>
                          </a:solidFill>
                          <a:latin typeface="Aptos"/>
                        </a:defRPr>
                      </a:pPr>
                      <a:r>
                        <a:t>Nuclei labels preview</a:t>
                      </a:r>
                    </a:p>
                  </a:txBody>
                  <a:tcPr marL="45720" marR="36576" marT="27432" marB="27432">
                    <a:solidFill>
                      <a:srgbClr val="EEF3F9"/>
                    </a:solidFill>
                  </a:tcPr>
                </a:tc>
                <a:tc>
                  <a:txBody>
                    <a:bodyPr/>
                    <a:lstStyle/>
                    <a:p>
                      <a:pPr algn="l">
                        <a:defRPr sz="1050">
                          <a:solidFill>
                            <a:srgbClr val="1C2736"/>
                          </a:solidFill>
                          <a:latin typeface="Aptos"/>
                        </a:defRPr>
                      </a:pPr>
                      <a:r>
                        <a:t>Labels</a:t>
                      </a:r>
                    </a:p>
                  </a:txBody>
                  <a:tcPr marL="45720" marR="36576" marT="27432" marB="27432">
                    <a:solidFill>
                      <a:srgbClr val="EEF3F9"/>
                    </a:solidFill>
                  </a:tcPr>
                </a:tc>
                <a:tc>
                  <a:txBody>
                    <a:bodyPr/>
                    <a:lstStyle/>
                    <a:p>
                      <a:pPr algn="l">
                        <a:defRPr sz="1050">
                          <a:solidFill>
                            <a:srgbClr val="1C2736"/>
                          </a:solidFill>
                          <a:latin typeface="Aptos"/>
                        </a:defRPr>
                      </a:pPr>
                      <a:r>
                        <a:t>Each nucleus has a distinct integer ID</a:t>
                      </a:r>
                    </a:p>
                  </a:txBody>
                  <a:tcPr marL="45720" marR="36576" marT="27432" marB="27432">
                    <a:solidFill>
                      <a:srgbClr val="EEF3F9"/>
                    </a:solidFill>
                  </a:tcPr>
                </a:tc>
                <a:extLst>
                  <a:ext uri="{0D108BD9-81ED-4DB2-BD59-A6C34878D82A}">
                    <a16:rowId xmlns:a16="http://schemas.microsoft.com/office/drawing/2014/main" val="10004"/>
                  </a:ext>
                </a:extLst>
              </a:tr>
              <a:tr h="525780">
                <a:tc>
                  <a:txBody>
                    <a:bodyPr/>
                    <a:lstStyle/>
                    <a:p>
                      <a:pPr algn="l">
                        <a:defRPr sz="1050">
                          <a:solidFill>
                            <a:srgbClr val="1C2736"/>
                          </a:solidFill>
                          <a:latin typeface="Aptos"/>
                        </a:defRPr>
                      </a:pPr>
                      <a:r>
                        <a:t>P arm mask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Binary P-arm segmentation shown with adjustable colormap</a:t>
                      </a:r>
                    </a:p>
                  </a:txBody>
                  <a:tcPr marL="45720" marR="36576" marT="27432" marB="27432">
                    <a:solidFill>
                      <a:srgbClr val="FFFFFF"/>
                    </a:solidFill>
                  </a:tcPr>
                </a:tc>
                <a:extLst>
                  <a:ext uri="{0D108BD9-81ED-4DB2-BD59-A6C34878D82A}">
                    <a16:rowId xmlns:a16="http://schemas.microsoft.com/office/drawing/2014/main" val="10005"/>
                  </a:ext>
                </a:extLst>
              </a:tr>
              <a:tr h="525780">
                <a:tc>
                  <a:txBody>
                    <a:bodyPr/>
                    <a:lstStyle/>
                    <a:p>
                      <a:pPr algn="l">
                        <a:defRPr sz="1050">
                          <a:solidFill>
                            <a:srgbClr val="1C2736"/>
                          </a:solidFill>
                          <a:latin typeface="Aptos"/>
                        </a:defRPr>
                      </a:pPr>
                      <a:r>
                        <a:t>Q arm mask preview</a:t>
                      </a:r>
                    </a:p>
                  </a:txBody>
                  <a:tcPr marL="45720" marR="36576" marT="27432" marB="27432">
                    <a:solidFill>
                      <a:srgbClr val="EEF3F9"/>
                    </a:solidFill>
                  </a:tcPr>
                </a:tc>
                <a:tc>
                  <a:txBody>
                    <a:bodyPr/>
                    <a:lstStyle/>
                    <a:p>
                      <a:pPr algn="l">
                        <a:defRPr sz="1050">
                          <a:solidFill>
                            <a:srgbClr val="1C2736"/>
                          </a:solidFill>
                          <a:latin typeface="Aptos"/>
                        </a:defRPr>
                      </a:pPr>
                      <a:r>
                        <a:t>Image</a:t>
                      </a:r>
                    </a:p>
                  </a:txBody>
                  <a:tcPr marL="45720" marR="36576" marT="27432" marB="27432">
                    <a:solidFill>
                      <a:srgbClr val="EEF3F9"/>
                    </a:solidFill>
                  </a:tcPr>
                </a:tc>
                <a:tc>
                  <a:txBody>
                    <a:bodyPr/>
                    <a:lstStyle/>
                    <a:p>
                      <a:pPr algn="l">
                        <a:defRPr sz="1050">
                          <a:solidFill>
                            <a:srgbClr val="1C2736"/>
                          </a:solidFill>
                          <a:latin typeface="Aptos"/>
                        </a:defRPr>
                      </a:pPr>
                      <a:r>
                        <a:t>Binary Q-arm segmentation shown with adjustable colormap</a:t>
                      </a:r>
                    </a:p>
                  </a:txBody>
                  <a:tcPr marL="45720" marR="36576" marT="27432" marB="27432">
                    <a:solidFill>
                      <a:srgbClr val="EEF3F9"/>
                    </a:solidFill>
                  </a:tcPr>
                </a:tc>
                <a:extLst>
                  <a:ext uri="{0D108BD9-81ED-4DB2-BD59-A6C34878D82A}">
                    <a16:rowId xmlns:a16="http://schemas.microsoft.com/office/drawing/2014/main" val="10006"/>
                  </a:ext>
                </a:extLst>
              </a:tr>
              <a:tr h="525780">
                <a:tc>
                  <a:txBody>
                    <a:bodyPr/>
                    <a:lstStyle/>
                    <a:p>
                      <a:pPr algn="l">
                        <a:defRPr sz="1050">
                          <a:solidFill>
                            <a:srgbClr val="1C2736"/>
                          </a:solidFill>
                          <a:latin typeface="Aptos"/>
                        </a:defRPr>
                      </a:pPr>
                      <a:r>
                        <a:t>P/Q overlap preview</a:t>
                      </a:r>
                    </a:p>
                  </a:txBody>
                  <a:tcPr marL="45720" marR="36576" marT="27432" marB="27432">
                    <a:solidFill>
                      <a:srgbClr val="FFFFFF"/>
                    </a:solidFill>
                  </a:tcPr>
                </a:tc>
                <a:tc>
                  <a:txBody>
                    <a:bodyPr/>
                    <a:lstStyle/>
                    <a:p>
                      <a:pPr algn="l">
                        <a:defRPr sz="1050">
                          <a:solidFill>
                            <a:srgbClr val="1C2736"/>
                          </a:solidFill>
                          <a:latin typeface="Aptos"/>
                        </a:defRPr>
                      </a:pPr>
                      <a:r>
                        <a:t>Image</a:t>
                      </a:r>
                    </a:p>
                  </a:txBody>
                  <a:tcPr marL="45720" marR="36576" marT="27432" marB="27432">
                    <a:solidFill>
                      <a:srgbClr val="FFFFFF"/>
                    </a:solidFill>
                  </a:tcPr>
                </a:tc>
                <a:tc>
                  <a:txBody>
                    <a:bodyPr/>
                    <a:lstStyle/>
                    <a:p>
                      <a:pPr algn="l">
                        <a:defRPr sz="1050">
                          <a:solidFill>
                            <a:srgbClr val="1C2736"/>
                          </a:solidFill>
                          <a:latin typeface="Aptos"/>
                        </a:defRPr>
                      </a:pPr>
                      <a:r>
                        <a:t>Voxels where final P and Q masks overlap</a:t>
                      </a:r>
                    </a:p>
                  </a:txBody>
                  <a:tcPr marL="45720" marR="36576" marT="27432" marB="27432">
                    <a:solidFill>
                      <a:srgbClr val="FFFFFF"/>
                    </a:solidFill>
                  </a:tcPr>
                </a:tc>
                <a:extLst>
                  <a:ext uri="{0D108BD9-81ED-4DB2-BD59-A6C34878D82A}">
                    <a16:rowId xmlns:a16="http://schemas.microsoft.com/office/drawing/2014/main" val="10007"/>
                  </a:ext>
                </a:extLst>
              </a:tr>
            </a:tbl>
          </a:graphicData>
        </a:graphic>
      </p:graphicFrame>
      <p:pic>
        <p:nvPicPr>
          <p:cNvPr id="7" name="Picture 6" descr="mask_montage.png"/>
          <p:cNvPicPr>
            <a:picLocks noChangeAspect="1"/>
          </p:cNvPicPr>
          <p:nvPr/>
        </p:nvPicPr>
        <p:blipFill>
          <a:blip r:embed="rId2"/>
          <a:stretch>
            <a:fillRect/>
          </a:stretch>
        </p:blipFill>
        <p:spPr>
          <a:xfrm>
            <a:off x="8229600" y="2318947"/>
            <a:ext cx="3428999" cy="1259984"/>
          </a:xfrm>
          <a:prstGeom prst="rect">
            <a:avLst/>
          </a:prstGeom>
        </p:spPr>
      </p:pic>
      <p:sp>
        <p:nvSpPr>
          <p:cNvPr id="8" name="Rounded Rectangle 7"/>
          <p:cNvSpPr/>
          <p:nvPr/>
        </p:nvSpPr>
        <p:spPr>
          <a:xfrm>
            <a:off x="8275320" y="4892040"/>
            <a:ext cx="3337560" cy="71323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85048" y="4973875"/>
            <a:ext cx="3090672" cy="567848"/>
          </a:xfrm>
          <a:prstGeom prst="rect">
            <a:avLst/>
          </a:prstGeom>
          <a:noFill/>
        </p:spPr>
        <p:txBody>
          <a:bodyPr wrap="square" lIns="18288" tIns="18288" rIns="18288" bIns="18288" anchor="ctr">
            <a:spAutoFit/>
          </a:bodyPr>
          <a:lstStyle/>
          <a:p>
            <a:r>
              <a:rPr sz="1150" b="1" i="0" dirty="0">
                <a:solidFill>
                  <a:srgbClr val="FFFFFF"/>
                </a:solidFill>
                <a:latin typeface="Aptos"/>
              </a:rPr>
              <a:t>Mask previews are Image layers so </a:t>
            </a:r>
            <a:r>
              <a:rPr sz="1150" b="1" i="0" dirty="0" err="1">
                <a:solidFill>
                  <a:srgbClr val="FFFFFF"/>
                </a:solidFill>
                <a:latin typeface="Aptos"/>
              </a:rPr>
              <a:t>napari</a:t>
            </a:r>
            <a:r>
              <a:rPr sz="1150" b="1" i="0" dirty="0">
                <a:solidFill>
                  <a:srgbClr val="FFFFFF"/>
                </a:solidFill>
                <a:latin typeface="Aptos"/>
              </a:rPr>
              <a:t> colormap/color changes work like raw channels.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REPRODUCIBILITY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Configuration files and batch scene analysis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2588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5074920" cy="320040"/>
          </a:xfrm>
          <a:prstGeom prst="rect">
            <a:avLst/>
          </a:prstGeom>
          <a:noFill/>
        </p:spPr>
        <p:txBody>
          <a:bodyPr wrap="none" lIns="18288" tIns="18288" rIns="18288" bIns="18288">
            <a:spAutoFit/>
          </a:bodyPr>
          <a:lstStyle/>
          <a:p>
            <a:r>
              <a:rPr sz="1500" b="1" i="0">
                <a:solidFill>
                  <a:srgbClr val="081F3A"/>
                </a:solidFill>
                <a:latin typeface="Aptos"/>
              </a:rPr>
              <a:t>Save configuration…</a:t>
            </a:r>
          </a:p>
        </p:txBody>
      </p:sp>
      <p:sp>
        <p:nvSpPr>
          <p:cNvPr id="8" name="TextBox 7"/>
          <p:cNvSpPr txBox="1"/>
          <p:nvPr/>
        </p:nvSpPr>
        <p:spPr>
          <a:xfrm>
            <a:off x="786384" y="1709928"/>
            <a:ext cx="5074920" cy="614014"/>
          </a:xfrm>
          <a:prstGeom prst="rect">
            <a:avLst/>
          </a:prstGeom>
          <a:noFill/>
        </p:spPr>
        <p:txBody>
          <a:bodyPr wrap="square" lIns="18288" tIns="18288" rIns="18288" bIns="18288">
            <a:spAutoFit/>
          </a:bodyPr>
          <a:lstStyle/>
          <a:p>
            <a:r>
              <a:rPr sz="1250" b="0" i="0">
                <a:solidFill>
                  <a:srgbClr val="1C2736"/>
                </a:solidFill>
                <a:latin typeface="Aptos"/>
              </a:rPr>
              <a:t>Stores the current GUI parameter values, selected image, selected preview scene, checked scenes, and output settings into a reusable JSON file.</a:t>
            </a:r>
          </a:p>
        </p:txBody>
      </p:sp>
      <p:sp>
        <p:nvSpPr>
          <p:cNvPr id="9" name="Rounded Rectangle 8"/>
          <p:cNvSpPr/>
          <p:nvPr/>
        </p:nvSpPr>
        <p:spPr>
          <a:xfrm>
            <a:off x="6263640" y="123444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23444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9944" y="1344168"/>
            <a:ext cx="5074920" cy="320040"/>
          </a:xfrm>
          <a:prstGeom prst="rect">
            <a:avLst/>
          </a:prstGeom>
          <a:noFill/>
        </p:spPr>
        <p:txBody>
          <a:bodyPr wrap="none" lIns="18288" tIns="18288" rIns="18288" bIns="18288">
            <a:spAutoFit/>
          </a:bodyPr>
          <a:lstStyle/>
          <a:p>
            <a:r>
              <a:rPr sz="1500" b="1" i="0">
                <a:solidFill>
                  <a:srgbClr val="081F3A"/>
                </a:solidFill>
                <a:latin typeface="Aptos"/>
              </a:rPr>
              <a:t>Load configuration…</a:t>
            </a:r>
          </a:p>
        </p:txBody>
      </p:sp>
      <p:sp>
        <p:nvSpPr>
          <p:cNvPr id="12" name="TextBox 11"/>
          <p:cNvSpPr txBox="1"/>
          <p:nvPr/>
        </p:nvSpPr>
        <p:spPr>
          <a:xfrm>
            <a:off x="6409944" y="1709928"/>
            <a:ext cx="5065776" cy="421654"/>
          </a:xfrm>
          <a:prstGeom prst="rect">
            <a:avLst/>
          </a:prstGeom>
          <a:noFill/>
        </p:spPr>
        <p:txBody>
          <a:bodyPr wrap="square" lIns="18288" tIns="18288" rIns="18288" bIns="18288">
            <a:spAutoFit/>
          </a:bodyPr>
          <a:lstStyle/>
          <a:p>
            <a:r>
              <a:rPr sz="1250" b="0" i="0" dirty="0">
                <a:solidFill>
                  <a:srgbClr val="1C2736"/>
                </a:solidFill>
                <a:latin typeface="Aptos"/>
              </a:rPr>
              <a:t>Restores a previously tuned parameter set. This lets users repeat an analysis later without manually re-entering settings.</a:t>
            </a:r>
          </a:p>
        </p:txBody>
      </p:sp>
      <p:sp>
        <p:nvSpPr>
          <p:cNvPr id="13" name="Rounded Rectangle 12"/>
          <p:cNvSpPr/>
          <p:nvPr/>
        </p:nvSpPr>
        <p:spPr>
          <a:xfrm>
            <a:off x="64008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9260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6384" y="3035808"/>
            <a:ext cx="5074920" cy="320040"/>
          </a:xfrm>
          <a:prstGeom prst="rect">
            <a:avLst/>
          </a:prstGeom>
          <a:noFill/>
        </p:spPr>
        <p:txBody>
          <a:bodyPr wrap="none" lIns="18288" tIns="18288" rIns="18288" bIns="18288">
            <a:spAutoFit/>
          </a:bodyPr>
          <a:lstStyle/>
          <a:p>
            <a:r>
              <a:rPr sz="1500" b="1" i="0">
                <a:solidFill>
                  <a:srgbClr val="081F3A"/>
                </a:solidFill>
                <a:latin typeface="Aptos"/>
              </a:rPr>
              <a:t>Checked scenes</a:t>
            </a:r>
          </a:p>
        </p:txBody>
      </p:sp>
      <p:sp>
        <p:nvSpPr>
          <p:cNvPr id="16" name="TextBox 15"/>
          <p:cNvSpPr txBox="1"/>
          <p:nvPr/>
        </p:nvSpPr>
        <p:spPr>
          <a:xfrm>
            <a:off x="786384" y="3401568"/>
            <a:ext cx="5001768" cy="614014"/>
          </a:xfrm>
          <a:prstGeom prst="rect">
            <a:avLst/>
          </a:prstGeom>
          <a:noFill/>
        </p:spPr>
        <p:txBody>
          <a:bodyPr wrap="square" lIns="18288" tIns="18288" rIns="18288" bIns="18288">
            <a:spAutoFit/>
          </a:bodyPr>
          <a:lstStyle/>
          <a:p>
            <a:r>
              <a:rPr sz="1250" b="0" i="0" dirty="0">
                <a:solidFill>
                  <a:srgbClr val="1C2736"/>
                </a:solidFill>
                <a:latin typeface="Aptos"/>
              </a:rPr>
              <a:t>After tuning on one scene, check any scenes that should be analyzed with the same parameters. Each checked scene gets its own result subfolder.</a:t>
            </a:r>
          </a:p>
        </p:txBody>
      </p:sp>
      <p:sp>
        <p:nvSpPr>
          <p:cNvPr id="17" name="Rounded Rectangle 16"/>
          <p:cNvSpPr/>
          <p:nvPr/>
        </p:nvSpPr>
        <p:spPr>
          <a:xfrm>
            <a:off x="6263640" y="2926080"/>
            <a:ext cx="530352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63640" y="2926080"/>
            <a:ext cx="73152" cy="132588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9944" y="3035808"/>
            <a:ext cx="5074920" cy="320040"/>
          </a:xfrm>
          <a:prstGeom prst="rect">
            <a:avLst/>
          </a:prstGeom>
          <a:noFill/>
        </p:spPr>
        <p:txBody>
          <a:bodyPr wrap="none" lIns="18288" tIns="18288" rIns="18288" bIns="18288">
            <a:spAutoFit/>
          </a:bodyPr>
          <a:lstStyle/>
          <a:p>
            <a:r>
              <a:rPr sz="1500" b="1" i="0">
                <a:solidFill>
                  <a:srgbClr val="081F3A"/>
                </a:solidFill>
                <a:latin typeface="Aptos"/>
              </a:rPr>
              <a:t>Automatic provenance</a:t>
            </a:r>
          </a:p>
        </p:txBody>
      </p:sp>
      <p:sp>
        <p:nvSpPr>
          <p:cNvPr id="20" name="TextBox 19"/>
          <p:cNvSpPr txBox="1"/>
          <p:nvPr/>
        </p:nvSpPr>
        <p:spPr>
          <a:xfrm>
            <a:off x="6409944" y="3401568"/>
            <a:ext cx="4995672" cy="614014"/>
          </a:xfrm>
          <a:prstGeom prst="rect">
            <a:avLst/>
          </a:prstGeom>
          <a:noFill/>
        </p:spPr>
        <p:txBody>
          <a:bodyPr wrap="square" lIns="18288" tIns="18288" rIns="18288" bIns="18288">
            <a:spAutoFit/>
          </a:bodyPr>
          <a:lstStyle/>
          <a:p>
            <a:r>
              <a:rPr sz="1250" b="0" i="0">
                <a:solidFill>
                  <a:srgbClr val="1C2736"/>
                </a:solidFill>
                <a:latin typeface="Aptos"/>
              </a:rPr>
              <a:t>Every analysis writes pq_arm_analyzer_configuration.json and analysis_parameters.json. Batch analysis also writes batch_pq_arm_analyzer_configuration.json.</a:t>
            </a:r>
          </a:p>
        </p:txBody>
      </p:sp>
      <p:sp>
        <p:nvSpPr>
          <p:cNvPr id="21" name="TextBox 20"/>
          <p:cNvSpPr txBox="1"/>
          <p:nvPr/>
        </p:nvSpPr>
        <p:spPr>
          <a:xfrm>
            <a:off x="914400" y="5029200"/>
            <a:ext cx="10241280" cy="5943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Recommended demo line: “Once we have a good preview, we save the configuration and use exactly the same settings for all selected scenes.”</a:t>
            </a:r>
          </a:p>
        </p:txBody>
      </p:sp>
      <p:sp>
        <p:nvSpPr>
          <p:cNvPr id="22" name="TextBox 2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3" name="TextBox 2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600" b="1" i="0">
                <a:solidFill>
                  <a:srgbClr val="FFFFFF"/>
                </a:solidFill>
                <a:latin typeface="Aptos"/>
              </a:rPr>
              <a:t>Backend segmentation logic</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From raw channels to nuclei labels, probability maps, final masks, and measurements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Backend</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BACKEND</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End-to-end computational pipeline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Load CZYX image</a:t>
            </a:r>
          </a:p>
        </p:txBody>
      </p:sp>
      <p:sp>
        <p:nvSpPr>
          <p:cNvPr id="7" name="Right Arrow 6"/>
          <p:cNvSpPr/>
          <p:nvPr/>
        </p:nvSpPr>
        <p:spPr>
          <a:xfrm>
            <a:off x="198424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112263"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57983"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Select channels</a:t>
            </a:r>
          </a:p>
        </p:txBody>
      </p:sp>
      <p:sp>
        <p:nvSpPr>
          <p:cNvPr id="10" name="Right Arrow 9"/>
          <p:cNvSpPr/>
          <p:nvPr/>
        </p:nvSpPr>
        <p:spPr>
          <a:xfrm>
            <a:off x="3593591"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721607" y="1417320"/>
            <a:ext cx="1499616"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767327"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Cellpose nuclei</a:t>
            </a:r>
          </a:p>
        </p:txBody>
      </p:sp>
      <p:sp>
        <p:nvSpPr>
          <p:cNvPr id="13" name="Right Arrow 12"/>
          <p:cNvSpPr/>
          <p:nvPr/>
        </p:nvSpPr>
        <p:spPr>
          <a:xfrm>
            <a:off x="5202936"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330951" y="1417320"/>
            <a:ext cx="1499616"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376671"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P/Q model</a:t>
            </a:r>
          </a:p>
        </p:txBody>
      </p:sp>
      <p:sp>
        <p:nvSpPr>
          <p:cNvPr id="16" name="Right Arrow 15"/>
          <p:cNvSpPr/>
          <p:nvPr/>
        </p:nvSpPr>
        <p:spPr>
          <a:xfrm>
            <a:off x="6812279"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940295" y="1417320"/>
            <a:ext cx="1499616"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86015"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Mask refinement</a:t>
            </a:r>
          </a:p>
        </p:txBody>
      </p:sp>
      <p:sp>
        <p:nvSpPr>
          <p:cNvPr id="19" name="Right Arrow 18"/>
          <p:cNvSpPr/>
          <p:nvPr/>
        </p:nvSpPr>
        <p:spPr>
          <a:xfrm>
            <a:off x="8421624"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8549640" y="1417320"/>
            <a:ext cx="1499616"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95360"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Measurements</a:t>
            </a:r>
          </a:p>
        </p:txBody>
      </p:sp>
      <p:sp>
        <p:nvSpPr>
          <p:cNvPr id="22" name="Right Arrow 21"/>
          <p:cNvSpPr/>
          <p:nvPr/>
        </p:nvSpPr>
        <p:spPr>
          <a:xfrm>
            <a:off x="10030968" y="165049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158984" y="1417320"/>
            <a:ext cx="1499616"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204704" y="1508760"/>
            <a:ext cx="1408175" cy="502920"/>
          </a:xfrm>
          <a:prstGeom prst="rect">
            <a:avLst/>
          </a:prstGeom>
          <a:noFill/>
        </p:spPr>
        <p:txBody>
          <a:bodyPr wrap="none" lIns="18288" tIns="18288" rIns="18288" bIns="18288" anchor="ctr">
            <a:spAutoFit/>
          </a:bodyPr>
          <a:lstStyle/>
          <a:p>
            <a:pPr algn="ctr"/>
            <a:r>
              <a:rPr sz="1150" b="1" i="0">
                <a:solidFill>
                  <a:srgbClr val="FFFFFF"/>
                </a:solidFill>
                <a:latin typeface="Aptos"/>
              </a:rPr>
              <a:t>Exports</a:t>
            </a:r>
          </a:p>
        </p:txBody>
      </p:sp>
      <p:sp>
        <p:nvSpPr>
          <p:cNvPr id="25" name="TextBox 24"/>
          <p:cNvSpPr txBox="1"/>
          <p:nvPr/>
        </p:nvSpPr>
        <p:spPr>
          <a:xfrm>
            <a:off x="777240" y="2514600"/>
            <a:ext cx="5486400" cy="192024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Nuclei are segmented first because every P/Q decision is restricted to a parent nucleus.</a:t>
            </a:r>
          </a:p>
          <a:p>
            <a:pPr>
              <a:lnSpc>
                <a:spcPct val="105000"/>
              </a:lnSpc>
              <a:spcAft>
                <a:spcPts val="156"/>
              </a:spcAft>
              <a:defRPr sz="1450">
                <a:solidFill>
                  <a:srgbClr val="1C2736"/>
                </a:solidFill>
                <a:latin typeface="Aptos"/>
              </a:defRPr>
            </a:pPr>
            <a:r>
              <a:t>• P-arm and Q-arm channels are modeled independently but measured jointly for overlap/contact.</a:t>
            </a:r>
          </a:p>
          <a:p>
            <a:pPr>
              <a:lnSpc>
                <a:spcPct val="105000"/>
              </a:lnSpc>
              <a:spcAft>
                <a:spcPts val="156"/>
              </a:spcAft>
              <a:defRPr sz="1450">
                <a:solidFill>
                  <a:srgbClr val="1C2736"/>
                </a:solidFill>
                <a:latin typeface="Aptos"/>
              </a:defRPr>
            </a:pPr>
            <a:r>
              <a:t>• The final masks are not just thresholded raw images; they pass through probability modeling, optional presence gating, and component selection.</a:t>
            </a:r>
          </a:p>
          <a:p>
            <a:pPr>
              <a:lnSpc>
                <a:spcPct val="105000"/>
              </a:lnSpc>
              <a:spcAft>
                <a:spcPts val="156"/>
              </a:spcAft>
              <a:defRPr sz="1450">
                <a:solidFill>
                  <a:srgbClr val="1C2736"/>
                </a:solidFill>
                <a:latin typeface="Aptos"/>
              </a:defRPr>
            </a:pPr>
            <a:r>
              <a:t>• All physical measurements use the voxel spacing read from the input file metadata.</a:t>
            </a:r>
          </a:p>
        </p:txBody>
      </p:sp>
      <p:pic>
        <p:nvPicPr>
          <p:cNvPr id="26" name="Picture 25" descr="raw_qc_montage.png"/>
          <p:cNvPicPr>
            <a:picLocks noChangeAspect="1"/>
          </p:cNvPicPr>
          <p:nvPr/>
        </p:nvPicPr>
        <p:blipFill>
          <a:blip r:embed="rId2"/>
          <a:stretch>
            <a:fillRect/>
          </a:stretch>
        </p:blipFill>
        <p:spPr>
          <a:xfrm>
            <a:off x="7173810" y="2148840"/>
            <a:ext cx="3574619" cy="3108960"/>
          </a:xfrm>
          <a:prstGeom prst="rect">
            <a:avLst/>
          </a:prstGeom>
        </p:spPr>
      </p:pic>
      <p:sp>
        <p:nvSpPr>
          <p:cNvPr id="27" name="TextBox 2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8" name="TextBox 2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segmentation: Cellpose produces a 3D label image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25880"/>
            <a:ext cx="5120640" cy="20574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Input: selected nucleus channel volume.</a:t>
            </a:r>
          </a:p>
          <a:p>
            <a:pPr>
              <a:lnSpc>
                <a:spcPct val="105000"/>
              </a:lnSpc>
              <a:spcAft>
                <a:spcPts val="156"/>
              </a:spcAft>
              <a:defRPr sz="1450">
                <a:solidFill>
                  <a:srgbClr val="1C2736"/>
                </a:solidFill>
                <a:latin typeface="Aptos"/>
              </a:defRPr>
            </a:pPr>
            <a:r>
              <a:t>• Output: label image L(v), where L(v)=0 is background and L(v)=i means voxel v belongs to nucleus i.</a:t>
            </a:r>
          </a:p>
          <a:p>
            <a:pPr>
              <a:lnSpc>
                <a:spcPct val="105000"/>
              </a:lnSpc>
              <a:spcAft>
                <a:spcPts val="156"/>
              </a:spcAft>
              <a:defRPr sz="1450">
                <a:solidFill>
                  <a:srgbClr val="1C2736"/>
                </a:solidFill>
                <a:latin typeface="Aptos"/>
              </a:defRPr>
            </a:pPr>
            <a:r>
              <a:t>• Small labels below the minimum nucleus volume are removed.</a:t>
            </a:r>
          </a:p>
          <a:p>
            <a:pPr>
              <a:lnSpc>
                <a:spcPct val="105000"/>
              </a:lnSpc>
              <a:spcAft>
                <a:spcPts val="156"/>
              </a:spcAft>
              <a:defRPr sz="1450">
                <a:solidFill>
                  <a:srgbClr val="1C2736"/>
                </a:solidFill>
                <a:latin typeface="Aptos"/>
              </a:defRPr>
            </a:pPr>
            <a:r>
              <a:t>• Final P/Q arm detection is performed inside each label independently.</a:t>
            </a:r>
          </a:p>
        </p:txBody>
      </p:sp>
      <p:sp>
        <p:nvSpPr>
          <p:cNvPr id="6" name="Rounded Rectangle 5"/>
          <p:cNvSpPr/>
          <p:nvPr/>
        </p:nvSpPr>
        <p:spPr>
          <a:xfrm>
            <a:off x="685800" y="3657600"/>
            <a:ext cx="5120640" cy="16916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3657600"/>
            <a:ext cx="73152" cy="16916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32104" y="3767328"/>
            <a:ext cx="4892040" cy="320040"/>
          </a:xfrm>
          <a:prstGeom prst="rect">
            <a:avLst/>
          </a:prstGeom>
          <a:noFill/>
        </p:spPr>
        <p:txBody>
          <a:bodyPr wrap="none" lIns="18288" tIns="18288" rIns="18288" bIns="18288">
            <a:spAutoFit/>
          </a:bodyPr>
          <a:lstStyle/>
          <a:p>
            <a:r>
              <a:rPr sz="1500" b="1" i="0">
                <a:solidFill>
                  <a:srgbClr val="081F3A"/>
                </a:solidFill>
                <a:latin typeface="Aptos"/>
              </a:rPr>
              <a:t>Cellpose modes</a:t>
            </a:r>
          </a:p>
        </p:txBody>
      </p:sp>
      <p:sp>
        <p:nvSpPr>
          <p:cNvPr id="9" name="TextBox 8"/>
          <p:cNvSpPr txBox="1"/>
          <p:nvPr/>
        </p:nvSpPr>
        <p:spPr>
          <a:xfrm>
            <a:off x="832104" y="4133087"/>
            <a:ext cx="4892040" cy="1124712"/>
          </a:xfrm>
          <a:prstGeom prst="rect">
            <a:avLst/>
          </a:prstGeom>
          <a:noFill/>
        </p:spPr>
        <p:txBody>
          <a:bodyPr wrap="none" lIns="18288" tIns="18288" rIns="18288" bIns="18288">
            <a:spAutoFit/>
          </a:bodyPr>
          <a:lstStyle/>
          <a:p>
            <a:r>
              <a:rPr sz="1250" b="0" i="0">
                <a:solidFill>
                  <a:srgbClr val="1C2736"/>
                </a:solidFill>
                <a:latin typeface="Aptos"/>
              </a:rPr>
              <a:t>3D whole volume: more 3D-aware but heavier.
2D stack batch + overlap stitch: practical speed/quality starting point.
2D parallel slices + overlap stitch: CPU-parallel 2D path.</a:t>
            </a:r>
          </a:p>
        </p:txBody>
      </p:sp>
      <p:pic>
        <p:nvPicPr>
          <p:cNvPr id="10" name="Picture 9" descr="qc_nuclei_labels_maxproj.png"/>
          <p:cNvPicPr>
            <a:picLocks noChangeAspect="1"/>
          </p:cNvPicPr>
          <p:nvPr/>
        </p:nvPicPr>
        <p:blipFill>
          <a:blip r:embed="rId2"/>
          <a:stretch>
            <a:fillRect/>
          </a:stretch>
        </p:blipFill>
        <p:spPr>
          <a:xfrm>
            <a:off x="6652260" y="1325880"/>
            <a:ext cx="4114800" cy="4114800"/>
          </a:xfrm>
          <a:prstGeom prst="rect">
            <a:avLst/>
          </a:prstGeom>
        </p:spPr>
      </p:pic>
      <p:sp>
        <p:nvSpPr>
          <p:cNvPr id="11" name="Rectangle 10"/>
          <p:cNvSpPr/>
          <p:nvPr/>
        </p:nvSpPr>
        <p:spPr>
          <a:xfrm>
            <a:off x="6652260" y="1325880"/>
            <a:ext cx="4114800" cy="4114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565392" y="5532120"/>
            <a:ext cx="4297680" cy="43891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5623559"/>
            <a:ext cx="4078224" cy="274320"/>
          </a:xfrm>
          <a:prstGeom prst="rect">
            <a:avLst/>
          </a:prstGeom>
          <a:noFill/>
        </p:spPr>
        <p:txBody>
          <a:bodyPr wrap="none" lIns="18288" tIns="18288" rIns="18288" bIns="18288" anchor="ctr">
            <a:spAutoFit/>
          </a:bodyPr>
          <a:lstStyle/>
          <a:p>
            <a:r>
              <a:rPr sz="1200" b="1" i="0">
                <a:solidFill>
                  <a:srgbClr val="FFFFFF"/>
                </a:solidFill>
                <a:latin typeface="Aptos"/>
              </a:rPr>
              <a:t>Nuclei labels preview: each color is a different nucleus ID</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NUCLEI</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Nuclei parameter tuning</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Tune these before judging any P/Q arm masks.</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3860464041"/>
              </p:ext>
            </p:extLst>
          </p:nvPr>
        </p:nvGraphicFramePr>
        <p:xfrm>
          <a:off x="640080" y="1234440"/>
          <a:ext cx="10881360" cy="34290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571500">
                <a:tc>
                  <a:txBody>
                    <a:bodyPr/>
                    <a:lstStyle/>
                    <a:p>
                      <a:pPr algn="l">
                        <a:defRPr sz="1070">
                          <a:solidFill>
                            <a:srgbClr val="FFFFFF"/>
                          </a:solidFill>
                          <a:latin typeface="Aptos"/>
                        </a:defRPr>
                      </a:pPr>
                      <a:r>
                        <a:t>Parameter</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1019">
                          <a:solidFill>
                            <a:srgbClr val="1C2736"/>
                          </a:solidFill>
                          <a:latin typeface="Aptos"/>
                        </a:defRPr>
                      </a:pPr>
                      <a:r>
                        <a:t>Cell/nucleus diameter</a:t>
                      </a:r>
                    </a:p>
                  </a:txBody>
                  <a:tcPr marL="45720" marR="36576" marT="27432" marB="27432">
                    <a:solidFill>
                      <a:srgbClr val="FFFFFF"/>
                    </a:solidFill>
                  </a:tcPr>
                </a:tc>
                <a:tc>
                  <a:txBody>
                    <a:bodyPr/>
                    <a:lstStyle/>
                    <a:p>
                      <a:pPr algn="l">
                        <a:defRPr sz="1019">
                          <a:solidFill>
                            <a:srgbClr val="1C2736"/>
                          </a:solidFill>
                          <a:latin typeface="Aptos"/>
                        </a:defRPr>
                      </a:pPr>
                      <a:r>
                        <a:t>A nucleus is split into fragments</a:t>
                      </a:r>
                    </a:p>
                  </a:txBody>
                  <a:tcPr marL="45720" marR="36576" marT="27432" marB="27432">
                    <a:solidFill>
                      <a:srgbClr val="FFFFFF"/>
                    </a:solidFill>
                  </a:tcPr>
                </a:tc>
                <a:tc>
                  <a:txBody>
                    <a:bodyPr/>
                    <a:lstStyle/>
                    <a:p>
                      <a:pPr algn="l">
                        <a:defRPr sz="1019">
                          <a:solidFill>
                            <a:srgbClr val="1C2736"/>
                          </a:solidFill>
                          <a:latin typeface="Aptos"/>
                        </a:defRPr>
                      </a:pPr>
                      <a:r>
                        <a:t>Neighboring nuclei are merged</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1019">
                          <a:solidFill>
                            <a:srgbClr val="1C2736"/>
                          </a:solidFill>
                          <a:latin typeface="Aptos"/>
                        </a:defRPr>
                      </a:pPr>
                      <a:r>
                        <a:t>XY downsample</a:t>
                      </a:r>
                    </a:p>
                  </a:txBody>
                  <a:tcPr marL="45720" marR="36576" marT="27432" marB="27432">
                    <a:solidFill>
                      <a:srgbClr val="EEF3F9"/>
                    </a:solidFill>
                  </a:tcPr>
                </a:tc>
                <a:tc>
                  <a:txBody>
                    <a:bodyPr/>
                    <a:lstStyle/>
                    <a:p>
                      <a:pPr algn="l">
                        <a:defRPr sz="1019">
                          <a:solidFill>
                            <a:srgbClr val="1C2736"/>
                          </a:solidFill>
                          <a:latin typeface="Aptos"/>
                        </a:defRPr>
                      </a:pPr>
                      <a:r>
                        <a:t>Cellpose is slow or memory-limited</a:t>
                      </a:r>
                    </a:p>
                  </a:txBody>
                  <a:tcPr marL="45720" marR="36576" marT="27432" marB="27432">
                    <a:solidFill>
                      <a:srgbClr val="EEF3F9"/>
                    </a:solidFill>
                  </a:tcPr>
                </a:tc>
                <a:tc>
                  <a:txBody>
                    <a:bodyPr/>
                    <a:lstStyle/>
                    <a:p>
                      <a:pPr algn="l">
                        <a:defRPr sz="1019">
                          <a:solidFill>
                            <a:srgbClr val="1C2736"/>
                          </a:solidFill>
                          <a:latin typeface="Aptos"/>
                        </a:defRPr>
                      </a:pPr>
                      <a:r>
                        <a:t>Boundaries look blocky or small nuclei are lost</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1019">
                          <a:solidFill>
                            <a:srgbClr val="1C2736"/>
                          </a:solidFill>
                          <a:latin typeface="Aptos"/>
                        </a:defRPr>
                      </a:pPr>
                      <a:r>
                        <a:t>Minimum nucleus volume</a:t>
                      </a:r>
                    </a:p>
                  </a:txBody>
                  <a:tcPr marL="45720" marR="36576" marT="27432" marB="27432">
                    <a:solidFill>
                      <a:srgbClr val="FFFFFF"/>
                    </a:solidFill>
                  </a:tcPr>
                </a:tc>
                <a:tc>
                  <a:txBody>
                    <a:bodyPr/>
                    <a:lstStyle/>
                    <a:p>
                      <a:pPr algn="l">
                        <a:defRPr sz="1019">
                          <a:solidFill>
                            <a:srgbClr val="1C2736"/>
                          </a:solidFill>
                          <a:latin typeface="Aptos"/>
                        </a:defRPr>
                      </a:pPr>
                      <a:r>
                        <a:t>Debris or tiny false nuclei remain</a:t>
                      </a:r>
                    </a:p>
                  </a:txBody>
                  <a:tcPr marL="45720" marR="36576" marT="27432" marB="27432">
                    <a:solidFill>
                      <a:srgbClr val="FFFFFF"/>
                    </a:solidFill>
                  </a:tcPr>
                </a:tc>
                <a:tc>
                  <a:txBody>
                    <a:bodyPr/>
                    <a:lstStyle/>
                    <a:p>
                      <a:pPr algn="l">
                        <a:defRPr sz="1019">
                          <a:solidFill>
                            <a:srgbClr val="1C2736"/>
                          </a:solidFill>
                          <a:latin typeface="Aptos"/>
                        </a:defRPr>
                      </a:pPr>
                      <a:r>
                        <a:t>Small real nuclei are removed</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1019">
                          <a:solidFill>
                            <a:srgbClr val="1C2736"/>
                          </a:solidFill>
                          <a:latin typeface="Aptos"/>
                        </a:defRPr>
                      </a:pPr>
                      <a:r>
                        <a:t>2D batch size</a:t>
                      </a:r>
                    </a:p>
                  </a:txBody>
                  <a:tcPr marL="45720" marR="36576" marT="27432" marB="27432">
                    <a:solidFill>
                      <a:srgbClr val="EEF3F9"/>
                    </a:solidFill>
                  </a:tcPr>
                </a:tc>
                <a:tc>
                  <a:txBody>
                    <a:bodyPr/>
                    <a:lstStyle/>
                    <a:p>
                      <a:pPr algn="l">
                        <a:defRPr sz="1019">
                          <a:solidFill>
                            <a:srgbClr val="1C2736"/>
                          </a:solidFill>
                          <a:latin typeface="Aptos"/>
                        </a:defRPr>
                      </a:pPr>
                      <a:r>
                        <a:rPr dirty="0"/>
                        <a:t>GPU/CPU has available </a:t>
                      </a:r>
                      <a:r>
                        <a:rPr lang="en-US" dirty="0"/>
                        <a:t>memory,</a:t>
                      </a:r>
                      <a:r>
                        <a:rPr dirty="0"/>
                        <a:t> and batch mode is inefficient</a:t>
                      </a:r>
                    </a:p>
                  </a:txBody>
                  <a:tcPr marL="45720" marR="36576" marT="27432" marB="27432">
                    <a:solidFill>
                      <a:srgbClr val="EEF3F9"/>
                    </a:solidFill>
                  </a:tcPr>
                </a:tc>
                <a:tc>
                  <a:txBody>
                    <a:bodyPr/>
                    <a:lstStyle/>
                    <a:p>
                      <a:pPr algn="l">
                        <a:defRPr sz="1019">
                          <a:solidFill>
                            <a:srgbClr val="1C2736"/>
                          </a:solidFill>
                          <a:latin typeface="Aptos"/>
                        </a:defRPr>
                      </a:pPr>
                      <a:r>
                        <a:t>Memory errors occur</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1019">
                          <a:solidFill>
                            <a:srgbClr val="1C2736"/>
                          </a:solidFill>
                          <a:latin typeface="Aptos"/>
                        </a:defRPr>
                      </a:pPr>
                      <a:r>
                        <a:t>2D z-stitch overlap</a:t>
                      </a:r>
                    </a:p>
                  </a:txBody>
                  <a:tcPr marL="45720" marR="36576" marT="27432" marB="27432">
                    <a:solidFill>
                      <a:srgbClr val="FFFFFF"/>
                    </a:solidFill>
                  </a:tcPr>
                </a:tc>
                <a:tc>
                  <a:txBody>
                    <a:bodyPr/>
                    <a:lstStyle/>
                    <a:p>
                      <a:pPr algn="l">
                        <a:defRPr sz="1019">
                          <a:solidFill>
                            <a:srgbClr val="1C2736"/>
                          </a:solidFill>
                          <a:latin typeface="Aptos"/>
                        </a:defRPr>
                      </a:pPr>
                      <a:r>
                        <a:t>Objects join incorrectly across Z</a:t>
                      </a:r>
                    </a:p>
                  </a:txBody>
                  <a:tcPr marL="45720" marR="36576" marT="27432" marB="27432">
                    <a:solidFill>
                      <a:srgbClr val="FFFFFF"/>
                    </a:solidFill>
                  </a:tcPr>
                </a:tc>
                <a:tc>
                  <a:txBody>
                    <a:bodyPr/>
                    <a:lstStyle/>
                    <a:p>
                      <a:pPr algn="l">
                        <a:defRPr sz="1019">
                          <a:solidFill>
                            <a:srgbClr val="1C2736"/>
                          </a:solidFill>
                          <a:latin typeface="Aptos"/>
                        </a:defRPr>
                      </a:pPr>
                      <a:r>
                        <a:rPr dirty="0"/>
                        <a:t>Same nucleus breaks into Z fragments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234440" y="5257800"/>
            <a:ext cx="9692640" cy="54864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44168" y="5349240"/>
            <a:ext cx="9473184" cy="384048"/>
          </a:xfrm>
          <a:prstGeom prst="rect">
            <a:avLst/>
          </a:prstGeom>
          <a:noFill/>
        </p:spPr>
        <p:txBody>
          <a:bodyPr wrap="none" lIns="18288" tIns="18288" rIns="18288" bIns="18288" anchor="ctr">
            <a:spAutoFit/>
          </a:bodyPr>
          <a:lstStyle/>
          <a:p>
            <a:r>
              <a:rPr sz="1400" b="1" i="0">
                <a:solidFill>
                  <a:srgbClr val="FFFFFF"/>
                </a:solidFill>
                <a:latin typeface="Aptos"/>
              </a:rPr>
              <a:t>Key rule: if nuclei are wrong, P/Q arm measurements will also be wrong.</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PERFORMANCE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Speed strategy for large z-stacks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3716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Preview fast</a:t>
            </a:r>
          </a:p>
        </p:txBody>
      </p:sp>
      <p:sp>
        <p:nvSpPr>
          <p:cNvPr id="8" name="TextBox 7"/>
          <p:cNvSpPr txBox="1"/>
          <p:nvPr/>
        </p:nvSpPr>
        <p:spPr>
          <a:xfrm>
            <a:off x="786384" y="1709928"/>
            <a:ext cx="3246120" cy="614014"/>
          </a:xfrm>
          <a:prstGeom prst="rect">
            <a:avLst/>
          </a:prstGeom>
          <a:noFill/>
        </p:spPr>
        <p:txBody>
          <a:bodyPr wrap="square" lIns="18288" tIns="18288" rIns="18288" bIns="18288">
            <a:spAutoFit/>
          </a:bodyPr>
          <a:lstStyle/>
          <a:p>
            <a:r>
              <a:rPr sz="1250" b="0" i="0" dirty="0">
                <a:solidFill>
                  <a:srgbClr val="1C2736"/>
                </a:solidFill>
                <a:latin typeface="Aptos"/>
              </a:rPr>
              <a:t>Use a moderate XY </a:t>
            </a:r>
            <a:r>
              <a:rPr sz="1250" b="0" i="0" dirty="0" err="1">
                <a:solidFill>
                  <a:srgbClr val="1C2736"/>
                </a:solidFill>
                <a:latin typeface="Aptos"/>
              </a:rPr>
              <a:t>downsample</a:t>
            </a:r>
            <a:r>
              <a:rPr sz="1250" b="0" i="0" dirty="0">
                <a:solidFill>
                  <a:srgbClr val="1C2736"/>
                </a:solidFill>
                <a:latin typeface="Aptos"/>
              </a:rPr>
              <a:t> and a preview nucleus limit while tuning. Disable live P/Q preview when changing many settings.</a:t>
            </a:r>
          </a:p>
        </p:txBody>
      </p:sp>
      <p:sp>
        <p:nvSpPr>
          <p:cNvPr id="9" name="Rounded Rectangle 8"/>
          <p:cNvSpPr/>
          <p:nvPr/>
        </p:nvSpPr>
        <p:spPr>
          <a:xfrm>
            <a:off x="438912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234440"/>
            <a:ext cx="73152" cy="13716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5424" y="1344168"/>
            <a:ext cx="3246120" cy="320040"/>
          </a:xfrm>
          <a:prstGeom prst="rect">
            <a:avLst/>
          </a:prstGeom>
          <a:noFill/>
        </p:spPr>
        <p:txBody>
          <a:bodyPr wrap="none" lIns="18288" tIns="18288" rIns="18288" bIns="18288">
            <a:spAutoFit/>
          </a:bodyPr>
          <a:lstStyle/>
          <a:p>
            <a:r>
              <a:rPr sz="1500" b="1" i="0">
                <a:solidFill>
                  <a:srgbClr val="081F3A"/>
                </a:solidFill>
                <a:latin typeface="Aptos"/>
              </a:rPr>
              <a:t>Use parallel per-nucleus analysis</a:t>
            </a:r>
          </a:p>
        </p:txBody>
      </p:sp>
      <p:sp>
        <p:nvSpPr>
          <p:cNvPr id="12" name="TextBox 11"/>
          <p:cNvSpPr txBox="1"/>
          <p:nvPr/>
        </p:nvSpPr>
        <p:spPr>
          <a:xfrm>
            <a:off x="4535424" y="1709928"/>
            <a:ext cx="3194306" cy="614014"/>
          </a:xfrm>
          <a:prstGeom prst="rect">
            <a:avLst/>
          </a:prstGeom>
          <a:noFill/>
        </p:spPr>
        <p:txBody>
          <a:bodyPr wrap="square" lIns="18288" tIns="18288" rIns="18288" bIns="18288">
            <a:spAutoFit/>
          </a:bodyPr>
          <a:lstStyle/>
          <a:p>
            <a:r>
              <a:rPr sz="1250" b="0" i="0" dirty="0">
                <a:solidFill>
                  <a:srgbClr val="1C2736"/>
                </a:solidFill>
                <a:latin typeface="Aptos"/>
              </a:rPr>
              <a:t>Worker count controls CPU parallelism for P/Q segmentation after nuclei are available. “0” means automatic worker selection.</a:t>
            </a:r>
          </a:p>
        </p:txBody>
      </p:sp>
      <p:sp>
        <p:nvSpPr>
          <p:cNvPr id="13" name="Rounded Rectangle 12"/>
          <p:cNvSpPr/>
          <p:nvPr/>
        </p:nvSpPr>
        <p:spPr>
          <a:xfrm>
            <a:off x="8138160" y="1234440"/>
            <a:ext cx="3474720" cy="13716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234440"/>
            <a:ext cx="73152" cy="13716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344168"/>
            <a:ext cx="3246120" cy="320040"/>
          </a:xfrm>
          <a:prstGeom prst="rect">
            <a:avLst/>
          </a:prstGeom>
          <a:noFill/>
        </p:spPr>
        <p:txBody>
          <a:bodyPr wrap="none" lIns="18288" tIns="18288" rIns="18288" bIns="18288">
            <a:spAutoFit/>
          </a:bodyPr>
          <a:lstStyle/>
          <a:p>
            <a:r>
              <a:rPr sz="1500" b="1" i="0">
                <a:solidFill>
                  <a:srgbClr val="081F3A"/>
                </a:solidFill>
                <a:latin typeface="Aptos"/>
              </a:rPr>
              <a:t>Prefer threading first</a:t>
            </a:r>
          </a:p>
        </p:txBody>
      </p:sp>
      <p:sp>
        <p:nvSpPr>
          <p:cNvPr id="16" name="TextBox 15"/>
          <p:cNvSpPr txBox="1"/>
          <p:nvPr/>
        </p:nvSpPr>
        <p:spPr>
          <a:xfrm>
            <a:off x="8284464" y="1709928"/>
            <a:ext cx="3191256" cy="804672"/>
          </a:xfrm>
          <a:prstGeom prst="rect">
            <a:avLst/>
          </a:prstGeom>
          <a:noFill/>
        </p:spPr>
        <p:txBody>
          <a:bodyPr wrap="square" lIns="18288" tIns="18288" rIns="18288" bIns="18288">
            <a:spAutoFit/>
          </a:bodyPr>
          <a:lstStyle/>
          <a:p>
            <a:r>
              <a:rPr sz="1250" b="0" i="0" dirty="0">
                <a:solidFill>
                  <a:srgbClr val="1C2736"/>
                </a:solidFill>
                <a:latin typeface="Aptos"/>
              </a:rPr>
              <a:t>Threading avoids copying large 3D arrays between processes. Process-based backends can be faster for some cases but may use more memory.</a:t>
            </a:r>
          </a:p>
        </p:txBody>
      </p:sp>
      <p:sp>
        <p:nvSpPr>
          <p:cNvPr id="17" name="TextBox 16"/>
          <p:cNvSpPr txBox="1"/>
          <p:nvPr/>
        </p:nvSpPr>
        <p:spPr>
          <a:xfrm>
            <a:off x="914400" y="3246120"/>
            <a:ext cx="10332720" cy="1874519"/>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Most expensive steps: Cellpose nuclei segmentation and per-nucleus P/Q modeling on many objects.</a:t>
            </a:r>
          </a:p>
          <a:p>
            <a:pPr>
              <a:lnSpc>
                <a:spcPct val="105000"/>
              </a:lnSpc>
              <a:spcAft>
                <a:spcPts val="156"/>
              </a:spcAft>
              <a:defRPr sz="1450">
                <a:solidFill>
                  <a:srgbClr val="1C2736"/>
                </a:solidFill>
                <a:latin typeface="Aptos"/>
              </a:defRPr>
            </a:pPr>
            <a:r>
              <a:t>• For GPU Cellpose, avoid launching multiple GPU workers; batch 2D or 3D modes are safer.</a:t>
            </a:r>
          </a:p>
          <a:p>
            <a:pPr>
              <a:lnSpc>
                <a:spcPct val="105000"/>
              </a:lnSpc>
              <a:spcAft>
                <a:spcPts val="156"/>
              </a:spcAft>
              <a:defRPr sz="1450">
                <a:solidFill>
                  <a:srgbClr val="1C2736"/>
                </a:solidFill>
                <a:latin typeface="Aptos"/>
              </a:defRPr>
            </a:pPr>
            <a:r>
              <a:t>• After tuning is complete, set Analysis nucleus limit to 0 to run all nuclei.</a:t>
            </a:r>
          </a:p>
          <a:p>
            <a:pPr>
              <a:lnSpc>
                <a:spcPct val="105000"/>
              </a:lnSpc>
              <a:spcAft>
                <a:spcPts val="156"/>
              </a:spcAft>
              <a:defRPr sz="1450">
                <a:solidFill>
                  <a:srgbClr val="1C2736"/>
                </a:solidFill>
                <a:latin typeface="Aptos"/>
              </a:defRPr>
            </a:pPr>
            <a:r>
              <a:t>• If disk space is a problem, probability maps can be disabled after parameter development.</a:t>
            </a:r>
          </a:p>
        </p:txBody>
      </p:sp>
      <p:sp>
        <p:nvSpPr>
          <p:cNvPr id="18" name="TextBox 1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9" name="TextBox 1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P/Q DETECTION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arm detection is a per-nucleus voxel classification problem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For each nucleus Nᵢ, the algorithm extracts P-channel intensities and Q-channel intensities inside the nucleus.</a:t>
            </a:r>
          </a:p>
          <a:p>
            <a:pPr>
              <a:lnSpc>
                <a:spcPct val="105000"/>
              </a:lnSpc>
              <a:spcAft>
                <a:spcPts val="156"/>
              </a:spcAft>
              <a:defRPr sz="1450">
                <a:solidFill>
                  <a:srgbClr val="1C2736"/>
                </a:solidFill>
                <a:latin typeface="Aptos"/>
              </a:defRPr>
            </a:pPr>
            <a:r>
              <a:t>• For one arm channel, each voxel receives a signal probability pᵢ = P(signal | intensity and model).</a:t>
            </a:r>
          </a:p>
          <a:p>
            <a:pPr>
              <a:lnSpc>
                <a:spcPct val="105000"/>
              </a:lnSpc>
              <a:spcAft>
                <a:spcPts val="156"/>
              </a:spcAft>
              <a:defRPr sz="1450">
                <a:solidFill>
                  <a:srgbClr val="1C2736"/>
                </a:solidFill>
                <a:latin typeface="Aptos"/>
              </a:defRPr>
            </a:pPr>
            <a:r>
              <a:t>• The probability map is thresholded, optionally refined, then filtered by connected-component logic.</a:t>
            </a:r>
          </a:p>
          <a:p>
            <a:pPr>
              <a:lnSpc>
                <a:spcPct val="105000"/>
              </a:lnSpc>
              <a:spcAft>
                <a:spcPts val="156"/>
              </a:spcAft>
              <a:defRPr sz="1450">
                <a:solidFill>
                  <a:srgbClr val="1C2736"/>
                </a:solidFill>
                <a:latin typeface="Aptos"/>
              </a:defRPr>
            </a:pPr>
            <a:r>
              <a:t>• P and Q are detected independently, then compared for overlap, contact, and distance.</a:t>
            </a:r>
          </a:p>
        </p:txBody>
      </p:sp>
      <p:pic>
        <p:nvPicPr>
          <p:cNvPr id="6" name="Picture 5" descr="threshold.png"/>
          <p:cNvPicPr>
            <a:picLocks noChangeAspect="1"/>
          </p:cNvPicPr>
          <p:nvPr/>
        </p:nvPicPr>
        <p:blipFill>
          <a:blip r:embed="rId2"/>
          <a:stretch>
            <a:fillRect/>
          </a:stretch>
        </p:blipFill>
        <p:spPr>
          <a:xfrm>
            <a:off x="6400800" y="1474344"/>
            <a:ext cx="5029200" cy="663191"/>
          </a:xfrm>
          <a:prstGeom prst="rect">
            <a:avLst/>
          </a:prstGeom>
        </p:spPr>
      </p:pic>
      <p:sp>
        <p:nvSpPr>
          <p:cNvPr id="7" name="Rounded Rectangle 6"/>
          <p:cNvSpPr/>
          <p:nvPr/>
        </p:nvSpPr>
        <p:spPr>
          <a:xfrm>
            <a:off x="6446520" y="2514600"/>
            <a:ext cx="4892040" cy="14630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46520" y="2514600"/>
            <a:ext cx="73152" cy="14630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92824" y="2624328"/>
            <a:ext cx="4663440" cy="320040"/>
          </a:xfrm>
          <a:prstGeom prst="rect">
            <a:avLst/>
          </a:prstGeom>
          <a:noFill/>
        </p:spPr>
        <p:txBody>
          <a:bodyPr wrap="none" lIns="18288" tIns="18288" rIns="18288" bIns="18288">
            <a:spAutoFit/>
          </a:bodyPr>
          <a:lstStyle/>
          <a:p>
            <a:r>
              <a:rPr sz="1500" b="1" i="0">
                <a:solidFill>
                  <a:srgbClr val="081F3A"/>
                </a:solidFill>
                <a:latin typeface="Aptos"/>
              </a:rPr>
              <a:t>Why a probability map?</a:t>
            </a:r>
          </a:p>
        </p:txBody>
      </p:sp>
      <p:sp>
        <p:nvSpPr>
          <p:cNvPr id="10" name="TextBox 9"/>
          <p:cNvSpPr txBox="1"/>
          <p:nvPr/>
        </p:nvSpPr>
        <p:spPr>
          <a:xfrm>
            <a:off x="6592824" y="2990088"/>
            <a:ext cx="4663440" cy="614014"/>
          </a:xfrm>
          <a:prstGeom prst="rect">
            <a:avLst/>
          </a:prstGeom>
          <a:noFill/>
        </p:spPr>
        <p:txBody>
          <a:bodyPr wrap="square" lIns="18288" tIns="18288" rIns="18288" bIns="18288">
            <a:spAutoFit/>
          </a:bodyPr>
          <a:lstStyle/>
          <a:p>
            <a:r>
              <a:rPr sz="1250" b="0" i="0" dirty="0">
                <a:solidFill>
                  <a:srgbClr val="1C2736"/>
                </a:solidFill>
                <a:latin typeface="Aptos"/>
              </a:rPr>
              <a:t>A probability map separates the question “how signal-like is this voxel?” from later decisions about minimum size, component plausibility, and boundary refinement.</a:t>
            </a:r>
          </a:p>
        </p:txBody>
      </p:sp>
      <p:sp>
        <p:nvSpPr>
          <p:cNvPr id="11" name="Rounded Rectangle 10"/>
          <p:cNvSpPr/>
          <p:nvPr/>
        </p:nvSpPr>
        <p:spPr>
          <a:xfrm>
            <a:off x="6446520" y="4297680"/>
            <a:ext cx="48920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46520" y="4297680"/>
            <a:ext cx="73152" cy="132588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92824" y="4407408"/>
            <a:ext cx="4663440" cy="320040"/>
          </a:xfrm>
          <a:prstGeom prst="rect">
            <a:avLst/>
          </a:prstGeom>
          <a:noFill/>
        </p:spPr>
        <p:txBody>
          <a:bodyPr wrap="none" lIns="18288" tIns="18288" rIns="18288" bIns="18288">
            <a:spAutoFit/>
          </a:bodyPr>
          <a:lstStyle/>
          <a:p>
            <a:r>
              <a:rPr sz="1500" b="1" i="0">
                <a:solidFill>
                  <a:srgbClr val="081F3A"/>
                </a:solidFill>
                <a:latin typeface="Aptos"/>
              </a:rPr>
              <a:t>Why inside nuclei?</a:t>
            </a:r>
          </a:p>
        </p:txBody>
      </p:sp>
      <p:sp>
        <p:nvSpPr>
          <p:cNvPr id="14" name="TextBox 13"/>
          <p:cNvSpPr txBox="1"/>
          <p:nvPr/>
        </p:nvSpPr>
        <p:spPr>
          <a:xfrm>
            <a:off x="6592824" y="4773168"/>
            <a:ext cx="4518580" cy="614014"/>
          </a:xfrm>
          <a:prstGeom prst="rect">
            <a:avLst/>
          </a:prstGeom>
          <a:noFill/>
        </p:spPr>
        <p:txBody>
          <a:bodyPr wrap="square" lIns="18288" tIns="18288" rIns="18288" bIns="18288">
            <a:spAutoFit/>
          </a:bodyPr>
          <a:lstStyle/>
          <a:p>
            <a:r>
              <a:rPr sz="1250" b="0" i="0" dirty="0">
                <a:solidFill>
                  <a:srgbClr val="1C2736"/>
                </a:solidFill>
                <a:latin typeface="Aptos"/>
              </a:rPr>
              <a:t>It prevents the algorithm from treating signal outside nuclei as chromosome-arm territory and enables per-nucleus normalization, shape, radial, and overlap metrics.</a:t>
            </a:r>
          </a:p>
        </p:txBody>
      </p:sp>
      <p:sp>
        <p:nvSpPr>
          <p:cNvPr id="15" name="TextBox 1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6" name="TextBox 1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Three P/Q arm detection methods kept in the streamlined plugin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325880"/>
            <a:ext cx="73152" cy="274320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435607"/>
            <a:ext cx="3246120" cy="320040"/>
          </a:xfrm>
          <a:prstGeom prst="rect">
            <a:avLst/>
          </a:prstGeom>
          <a:noFill/>
        </p:spPr>
        <p:txBody>
          <a:bodyPr wrap="none" lIns="18288" tIns="18288" rIns="18288" bIns="18288">
            <a:spAutoFit/>
          </a:bodyPr>
          <a:lstStyle/>
          <a:p>
            <a:r>
              <a:rPr sz="1600" b="1" i="0">
                <a:solidFill>
                  <a:srgbClr val="081F3A"/>
                </a:solidFill>
                <a:latin typeface="Aptos"/>
              </a:rPr>
              <a:t>Legacy 1D GMM</a:t>
            </a:r>
          </a:p>
        </p:txBody>
      </p:sp>
      <p:sp>
        <p:nvSpPr>
          <p:cNvPr id="8" name="TextBox 7"/>
          <p:cNvSpPr txBox="1"/>
          <p:nvPr/>
        </p:nvSpPr>
        <p:spPr>
          <a:xfrm>
            <a:off x="786384" y="1801368"/>
            <a:ext cx="3169599" cy="837152"/>
          </a:xfrm>
          <a:prstGeom prst="rect">
            <a:avLst/>
          </a:prstGeom>
          <a:noFill/>
        </p:spPr>
        <p:txBody>
          <a:bodyPr wrap="square" lIns="18288" tIns="18288" rIns="18288" bIns="18288">
            <a:spAutoFit/>
          </a:bodyPr>
          <a:lstStyle/>
          <a:p>
            <a:r>
              <a:rPr sz="1300" b="0" i="0" dirty="0">
                <a:solidFill>
                  <a:srgbClr val="1C2736"/>
                </a:solidFill>
                <a:latin typeface="Aptos"/>
              </a:rPr>
              <a:t>Baseline intensity-only method. Fast and useful for comparison, but it can segment noise because it always splits intensities into classes.</a:t>
            </a:r>
          </a:p>
        </p:txBody>
      </p:sp>
      <p:sp>
        <p:nvSpPr>
          <p:cNvPr id="9" name="Rounded Rectangle 8"/>
          <p:cNvSpPr/>
          <p:nvPr/>
        </p:nvSpPr>
        <p:spPr>
          <a:xfrm>
            <a:off x="434340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325880"/>
            <a:ext cx="73152" cy="2743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435607"/>
            <a:ext cx="3246120" cy="320040"/>
          </a:xfrm>
          <a:prstGeom prst="rect">
            <a:avLst/>
          </a:prstGeom>
          <a:noFill/>
        </p:spPr>
        <p:txBody>
          <a:bodyPr wrap="none" lIns="18288" tIns="18288" rIns="18288" bIns="18288">
            <a:spAutoFit/>
          </a:bodyPr>
          <a:lstStyle/>
          <a:p>
            <a:r>
              <a:rPr sz="1600" b="1" i="0">
                <a:solidFill>
                  <a:srgbClr val="081F3A"/>
                </a:solidFill>
                <a:latin typeface="Aptos"/>
              </a:rPr>
              <a:t>Upgraded 1D GMM + gate + scoring</a:t>
            </a:r>
          </a:p>
        </p:txBody>
      </p:sp>
      <p:sp>
        <p:nvSpPr>
          <p:cNvPr id="12" name="TextBox 11"/>
          <p:cNvSpPr txBox="1"/>
          <p:nvPr/>
        </p:nvSpPr>
        <p:spPr>
          <a:xfrm>
            <a:off x="4489704" y="1801368"/>
            <a:ext cx="3099816" cy="837152"/>
          </a:xfrm>
          <a:prstGeom prst="rect">
            <a:avLst/>
          </a:prstGeom>
          <a:noFill/>
        </p:spPr>
        <p:txBody>
          <a:bodyPr wrap="square" lIns="18288" tIns="18288" rIns="18288" bIns="18288">
            <a:spAutoFit/>
          </a:bodyPr>
          <a:lstStyle/>
          <a:p>
            <a:r>
              <a:rPr sz="1300" b="0" i="0" dirty="0">
                <a:solidFill>
                  <a:srgbClr val="1C2736"/>
                </a:solidFill>
                <a:latin typeface="Aptos"/>
              </a:rPr>
              <a:t>Recommended default. Adds field normalization, presence/absence gating, probability thresholding, and connected-component scoring.</a:t>
            </a:r>
          </a:p>
        </p:txBody>
      </p:sp>
      <p:sp>
        <p:nvSpPr>
          <p:cNvPr id="13" name="Rounded Rectangle 12"/>
          <p:cNvSpPr/>
          <p:nvPr/>
        </p:nvSpPr>
        <p:spPr>
          <a:xfrm>
            <a:off x="8046720" y="1325880"/>
            <a:ext cx="3474720" cy="2743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325880"/>
            <a:ext cx="73152" cy="2743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435607"/>
            <a:ext cx="3246120" cy="320040"/>
          </a:xfrm>
          <a:prstGeom prst="rect">
            <a:avLst/>
          </a:prstGeom>
          <a:noFill/>
        </p:spPr>
        <p:txBody>
          <a:bodyPr wrap="none" lIns="18288" tIns="18288" rIns="18288" bIns="18288">
            <a:spAutoFit/>
          </a:bodyPr>
          <a:lstStyle/>
          <a:p>
            <a:r>
              <a:rPr sz="1600" b="1" i="0">
                <a:solidFill>
                  <a:srgbClr val="081F3A"/>
                </a:solidFill>
                <a:latin typeface="Aptos"/>
              </a:rPr>
              <a:t>MRF/CRF refinement</a:t>
            </a:r>
          </a:p>
        </p:txBody>
      </p:sp>
      <p:sp>
        <p:nvSpPr>
          <p:cNvPr id="16" name="TextBox 15"/>
          <p:cNvSpPr txBox="1"/>
          <p:nvPr/>
        </p:nvSpPr>
        <p:spPr>
          <a:xfrm>
            <a:off x="8193024" y="1801368"/>
            <a:ext cx="3072384" cy="837152"/>
          </a:xfrm>
          <a:prstGeom prst="rect">
            <a:avLst/>
          </a:prstGeom>
          <a:noFill/>
        </p:spPr>
        <p:txBody>
          <a:bodyPr wrap="square" lIns="18288" tIns="18288" rIns="18288" bIns="18288">
            <a:spAutoFit/>
          </a:bodyPr>
          <a:lstStyle/>
          <a:p>
            <a:r>
              <a:rPr sz="1300" b="0" i="0" dirty="0">
                <a:solidFill>
                  <a:srgbClr val="1C2736"/>
                </a:solidFill>
                <a:latin typeface="Aptos"/>
              </a:rPr>
              <a:t>Starts from upgraded GMM and adds spatial boundary refinement. Neighboring voxels are encouraged to agree while intensity edges protect boundaries.</a:t>
            </a:r>
          </a:p>
        </p:txBody>
      </p:sp>
      <p:sp>
        <p:nvSpPr>
          <p:cNvPr id="17" name="Rounded Rectangle 16"/>
          <p:cNvSpPr/>
          <p:nvPr/>
        </p:nvSpPr>
        <p:spPr>
          <a:xfrm>
            <a:off x="914400" y="4892040"/>
            <a:ext cx="10332720" cy="7315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24128" y="5045344"/>
            <a:ext cx="10025674" cy="443198"/>
          </a:xfrm>
          <a:prstGeom prst="rect">
            <a:avLst/>
          </a:prstGeom>
          <a:noFill/>
        </p:spPr>
        <p:txBody>
          <a:bodyPr wrap="square" lIns="18288" tIns="18288" rIns="18288" bIns="18288" anchor="ctr">
            <a:spAutoFit/>
          </a:bodyPr>
          <a:lstStyle/>
          <a:p>
            <a:r>
              <a:rPr sz="1320" b="1" i="0">
                <a:solidFill>
                  <a:srgbClr val="FFFFFF"/>
                </a:solidFill>
                <a:latin typeface="Aptos"/>
              </a:rPr>
              <a:t>Practical default: begin with Upgraded 1D GMM + gate + scoring. Move to MRF/CRF when the mask is approximately right but the boundaries need cleanup.</a:t>
            </a:r>
          </a:p>
        </p:txBody>
      </p:sp>
      <p:sp>
        <p:nvSpPr>
          <p:cNvPr id="19" name="TextBox 1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0" name="TextBox 1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1</a:t>
            </a:r>
          </a:p>
        </p:txBody>
      </p:sp>
      <p:sp>
        <p:nvSpPr>
          <p:cNvPr id="3" name="TextBox 2"/>
          <p:cNvSpPr txBox="1"/>
          <p:nvPr/>
        </p:nvSpPr>
        <p:spPr>
          <a:xfrm>
            <a:off x="502920" y="393192"/>
            <a:ext cx="8560292" cy="452432"/>
          </a:xfrm>
          <a:prstGeom prst="rect">
            <a:avLst/>
          </a:prstGeom>
          <a:noFill/>
        </p:spPr>
        <p:txBody>
          <a:bodyPr wrap="none" lIns="18288" tIns="18288" rIns="18288" bIns="18288">
            <a:spAutoFit/>
          </a:bodyPr>
          <a:lstStyle/>
          <a:p>
            <a:r>
              <a:rPr sz="2700" b="1" i="0" dirty="0">
                <a:solidFill>
                  <a:srgbClr val="081F3A"/>
                </a:solidFill>
                <a:latin typeface="Aptos"/>
              </a:rPr>
              <a:t>1D GMM: intensity-only clustering inside each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gmm_mixture.png"/>
          <p:cNvPicPr>
            <a:picLocks noChangeAspect="1"/>
          </p:cNvPicPr>
          <p:nvPr/>
        </p:nvPicPr>
        <p:blipFill>
          <a:blip r:embed="rId2"/>
          <a:stretch>
            <a:fillRect/>
          </a:stretch>
        </p:blipFill>
        <p:spPr>
          <a:xfrm>
            <a:off x="868680" y="1275362"/>
            <a:ext cx="5120640" cy="695395"/>
          </a:xfrm>
          <a:prstGeom prst="rect">
            <a:avLst/>
          </a:prstGeom>
        </p:spPr>
      </p:pic>
      <p:pic>
        <p:nvPicPr>
          <p:cNvPr id="6" name="Picture 5" descr="gmm_posterior.png"/>
          <p:cNvPicPr>
            <a:picLocks noChangeAspect="1"/>
          </p:cNvPicPr>
          <p:nvPr/>
        </p:nvPicPr>
        <p:blipFill>
          <a:blip r:embed="rId3"/>
          <a:stretch>
            <a:fillRect/>
          </a:stretch>
        </p:blipFill>
        <p:spPr>
          <a:xfrm>
            <a:off x="1049203" y="2240280"/>
            <a:ext cx="4759593" cy="777240"/>
          </a:xfrm>
          <a:prstGeom prst="rect">
            <a:avLst/>
          </a:prstGeom>
        </p:spPr>
      </p:pic>
      <p:sp>
        <p:nvSpPr>
          <p:cNvPr id="7" name="TextBox 6"/>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The model fits K Gaussian intensity classes to the voxel intensity distribution inside one nucleus.</a:t>
            </a:r>
          </a:p>
          <a:p>
            <a:pPr>
              <a:lnSpc>
                <a:spcPct val="105000"/>
              </a:lnSpc>
              <a:spcAft>
                <a:spcPts val="156"/>
              </a:spcAft>
              <a:defRPr sz="1400">
                <a:solidFill>
                  <a:srgbClr val="1C2736"/>
                </a:solidFill>
                <a:latin typeface="Aptos"/>
              </a:defRPr>
            </a:pPr>
            <a:r>
              <a:t>• Classes are sorted by their mean intensity from dimmest to brightest.</a:t>
            </a:r>
          </a:p>
          <a:p>
            <a:pPr>
              <a:lnSpc>
                <a:spcPct val="105000"/>
              </a:lnSpc>
              <a:spcAft>
                <a:spcPts val="156"/>
              </a:spcAft>
              <a:defRPr sz="1400">
                <a:solidFill>
                  <a:srgbClr val="1C2736"/>
                </a:solidFill>
                <a:latin typeface="Aptos"/>
              </a:defRPr>
            </a:pPr>
            <a:r>
              <a:t>• The user chooses the lowest sorted class index to keep. Example: with K=4 and keep ≥3, only the brightest class is kept.</a:t>
            </a:r>
          </a:p>
          <a:p>
            <a:pPr>
              <a:lnSpc>
                <a:spcPct val="105000"/>
              </a:lnSpc>
              <a:spcAft>
                <a:spcPts val="156"/>
              </a:spcAft>
              <a:defRPr sz="1400">
                <a:solidFill>
                  <a:srgbClr val="1C2736"/>
                </a:solidFill>
                <a:latin typeface="Aptos"/>
              </a:defRPr>
            </a:pPr>
            <a:r>
              <a:t>• Limitation: the method has no context telling it that a nucleus may contain no true arm signal.</a:t>
            </a:r>
          </a:p>
        </p:txBody>
      </p:sp>
      <p:sp>
        <p:nvSpPr>
          <p:cNvPr id="8" name="Rounded Rectangle 7"/>
          <p:cNvSpPr/>
          <p:nvPr/>
        </p:nvSpPr>
        <p:spPr>
          <a:xfrm>
            <a:off x="1005840" y="5074920"/>
            <a:ext cx="1014984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166359"/>
            <a:ext cx="9930384" cy="429768"/>
          </a:xfrm>
          <a:prstGeom prst="rect">
            <a:avLst/>
          </a:prstGeom>
          <a:noFill/>
        </p:spPr>
        <p:txBody>
          <a:bodyPr wrap="none" lIns="18288" tIns="18288" rIns="18288" bIns="18288" anchor="ctr">
            <a:spAutoFit/>
          </a:bodyPr>
          <a:lstStyle/>
          <a:p>
            <a:r>
              <a:rPr sz="1300" b="1" i="0">
                <a:solidFill>
                  <a:srgbClr val="FFFFFF"/>
                </a:solidFill>
                <a:latin typeface="Aptos"/>
              </a:rPr>
              <a:t>Use Legacy GMM as a baseline or for very clean signal. Use upgraded GMM when noise/no-signal nuclei are present.</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GMM PARAMETERS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GMM controls: how they affect P/Q arm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20" cy="39319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55320">
                <a:tc>
                  <a:txBody>
                    <a:bodyPr/>
                    <a:lstStyle/>
                    <a:p>
                      <a:pPr algn="l">
                        <a:defRPr sz="1080">
                          <a:solidFill>
                            <a:srgbClr val="FFFFFF"/>
                          </a:solidFill>
                          <a:latin typeface="Aptos"/>
                        </a:defRPr>
                      </a:pPr>
                      <a:r>
                        <a:t>Control</a:t>
                      </a:r>
                    </a:p>
                  </a:txBody>
                  <a:tcPr marL="45720" marR="36576" marT="27432" marB="27432">
                    <a:solidFill>
                      <a:srgbClr val="081F3A"/>
                    </a:solidFill>
                  </a:tcPr>
                </a:tc>
                <a:tc>
                  <a:txBody>
                    <a:bodyPr/>
                    <a:lstStyle/>
                    <a:p>
                      <a:pPr algn="l">
                        <a:defRPr sz="1080">
                          <a:solidFill>
                            <a:srgbClr val="FFFFFF"/>
                          </a:solidFill>
                          <a:latin typeface="Aptos"/>
                        </a:defRPr>
                      </a:pPr>
                      <a:r>
                        <a:t>What it does</a:t>
                      </a:r>
                    </a:p>
                  </a:txBody>
                  <a:tcPr marL="45720" marR="36576" marT="27432" marB="27432">
                    <a:solidFill>
                      <a:srgbClr val="081F3A"/>
                    </a:solidFill>
                  </a:tcPr>
                </a:tc>
                <a:tc>
                  <a:txBody>
                    <a:bodyPr/>
                    <a:lstStyle/>
                    <a:p>
                      <a:pPr algn="l">
                        <a:defRPr sz="1080">
                          <a:solidFill>
                            <a:srgbClr val="FFFFFF"/>
                          </a:solidFill>
                          <a:latin typeface="Aptos"/>
                        </a:defRPr>
                      </a:pPr>
                      <a:r>
                        <a:t>Effect on masks</a:t>
                      </a:r>
                    </a:p>
                  </a:txBody>
                  <a:tcPr marL="45720" marR="36576" marT="27432" marB="27432">
                    <a:solidFill>
                      <a:srgbClr val="081F3A"/>
                    </a:solidFill>
                  </a:tcPr>
                </a:tc>
                <a:extLst>
                  <a:ext uri="{0D108BD9-81ED-4DB2-BD59-A6C34878D82A}">
                    <a16:rowId xmlns:a16="http://schemas.microsoft.com/office/drawing/2014/main" val="10000"/>
                  </a:ext>
                </a:extLst>
              </a:tr>
              <a:tr h="655320">
                <a:tc>
                  <a:txBody>
                    <a:bodyPr/>
                    <a:lstStyle/>
                    <a:p>
                      <a:pPr algn="l">
                        <a:defRPr sz="1030">
                          <a:solidFill>
                            <a:srgbClr val="1C2736"/>
                          </a:solidFill>
                          <a:latin typeface="Aptos"/>
                        </a:defRPr>
                      </a:pPr>
                      <a:r>
                        <a:t>Max GMM components</a:t>
                      </a:r>
                    </a:p>
                  </a:txBody>
                  <a:tcPr marL="45720" marR="36576" marT="27432" marB="27432">
                    <a:solidFill>
                      <a:srgbClr val="FFFFFF"/>
                    </a:solidFill>
                  </a:tcPr>
                </a:tc>
                <a:tc>
                  <a:txBody>
                    <a:bodyPr/>
                    <a:lstStyle/>
                    <a:p>
                      <a:pPr algn="l">
                        <a:defRPr sz="1030">
                          <a:solidFill>
                            <a:srgbClr val="1C2736"/>
                          </a:solidFill>
                          <a:latin typeface="Aptos"/>
                        </a:defRPr>
                      </a:pPr>
                      <a:r>
                        <a:t>Maximum number of intensity classes</a:t>
                      </a:r>
                    </a:p>
                  </a:txBody>
                  <a:tcPr marL="45720" marR="36576" marT="27432" marB="27432">
                    <a:solidFill>
                      <a:srgbClr val="FFFFFF"/>
                    </a:solidFill>
                  </a:tcPr>
                </a:tc>
                <a:tc>
                  <a:txBody>
                    <a:bodyPr/>
                    <a:lstStyle/>
                    <a:p>
                      <a:pPr algn="l">
                        <a:defRPr sz="1030">
                          <a:solidFill>
                            <a:srgbClr val="1C2736"/>
                          </a:solidFill>
                          <a:latin typeface="Aptos"/>
                        </a:defRPr>
                      </a:pPr>
                      <a:r>
                        <a:t>More classes can model dim/medium/bright signal; too many can split noise</a:t>
                      </a:r>
                    </a:p>
                  </a:txBody>
                  <a:tcPr marL="45720" marR="36576" marT="27432" marB="27432">
                    <a:solidFill>
                      <a:srgbClr val="FFFFFF"/>
                    </a:solidFill>
                  </a:tcPr>
                </a:tc>
                <a:extLst>
                  <a:ext uri="{0D108BD9-81ED-4DB2-BD59-A6C34878D82A}">
                    <a16:rowId xmlns:a16="http://schemas.microsoft.com/office/drawing/2014/main" val="10001"/>
                  </a:ext>
                </a:extLst>
              </a:tr>
              <a:tr h="655320">
                <a:tc>
                  <a:txBody>
                    <a:bodyPr/>
                    <a:lstStyle/>
                    <a:p>
                      <a:pPr algn="l">
                        <a:defRPr sz="1030">
                          <a:solidFill>
                            <a:srgbClr val="1C2736"/>
                          </a:solidFill>
                          <a:latin typeface="Aptos"/>
                        </a:defRPr>
                      </a:pPr>
                      <a:r>
                        <a:t>Auto-choose by BIC</a:t>
                      </a:r>
                    </a:p>
                  </a:txBody>
                  <a:tcPr marL="45720" marR="36576" marT="27432" marB="27432">
                    <a:solidFill>
                      <a:srgbClr val="EEF3F9"/>
                    </a:solidFill>
                  </a:tcPr>
                </a:tc>
                <a:tc>
                  <a:txBody>
                    <a:bodyPr/>
                    <a:lstStyle/>
                    <a:p>
                      <a:pPr algn="l">
                        <a:defRPr sz="1030">
                          <a:solidFill>
                            <a:srgbClr val="1C2736"/>
                          </a:solidFill>
                          <a:latin typeface="Aptos"/>
                        </a:defRPr>
                      </a:pPr>
                      <a:r>
                        <a:t>Chooses number of components using model-selection score</a:t>
                      </a:r>
                    </a:p>
                  </a:txBody>
                  <a:tcPr marL="45720" marR="36576" marT="27432" marB="27432">
                    <a:solidFill>
                      <a:srgbClr val="EEF3F9"/>
                    </a:solidFill>
                  </a:tcPr>
                </a:tc>
                <a:tc>
                  <a:txBody>
                    <a:bodyPr/>
                    <a:lstStyle/>
                    <a:p>
                      <a:pPr algn="l">
                        <a:defRPr sz="1030">
                          <a:solidFill>
                            <a:srgbClr val="1C2736"/>
                          </a:solidFill>
                          <a:latin typeface="Aptos"/>
                        </a:defRPr>
                      </a:pPr>
                      <a:r>
                        <a:t>Adapts across nuclei but can be slower</a:t>
                      </a:r>
                    </a:p>
                  </a:txBody>
                  <a:tcPr marL="45720" marR="36576" marT="27432" marB="27432">
                    <a:solidFill>
                      <a:srgbClr val="EEF3F9"/>
                    </a:solidFill>
                  </a:tcPr>
                </a:tc>
                <a:extLst>
                  <a:ext uri="{0D108BD9-81ED-4DB2-BD59-A6C34878D82A}">
                    <a16:rowId xmlns:a16="http://schemas.microsoft.com/office/drawing/2014/main" val="10002"/>
                  </a:ext>
                </a:extLst>
              </a:tr>
              <a:tr h="655320">
                <a:tc>
                  <a:txBody>
                    <a:bodyPr/>
                    <a:lstStyle/>
                    <a:p>
                      <a:pPr algn="l">
                        <a:defRPr sz="1030">
                          <a:solidFill>
                            <a:srgbClr val="1C2736"/>
                          </a:solidFill>
                          <a:latin typeface="Aptos"/>
                        </a:defRPr>
                      </a:pPr>
                      <a:r>
                        <a:t>P: keep sorted class index ≥</a:t>
                      </a:r>
                    </a:p>
                  </a:txBody>
                  <a:tcPr marL="45720" marR="36576" marT="27432" marB="27432">
                    <a:solidFill>
                      <a:srgbClr val="FFFFFF"/>
                    </a:solidFill>
                  </a:tcPr>
                </a:tc>
                <a:tc>
                  <a:txBody>
                    <a:bodyPr/>
                    <a:lstStyle/>
                    <a:p>
                      <a:pPr algn="l">
                        <a:defRPr sz="1030">
                          <a:solidFill>
                            <a:srgbClr val="1C2736"/>
                          </a:solidFill>
                          <a:latin typeface="Aptos"/>
                        </a:defRPr>
                      </a:pPr>
                      <a:r>
                        <a:t>P-channel classes kept as signal</a:t>
                      </a:r>
                    </a:p>
                  </a:txBody>
                  <a:tcPr marL="45720" marR="36576" marT="27432" marB="27432">
                    <a:solidFill>
                      <a:srgbClr val="FFFFFF"/>
                    </a:solidFill>
                  </a:tcPr>
                </a:tc>
                <a:tc>
                  <a:txBody>
                    <a:bodyPr/>
                    <a:lstStyle/>
                    <a:p>
                      <a:pPr algn="l">
                        <a:defRPr sz="1030">
                          <a:solidFill>
                            <a:srgbClr val="1C2736"/>
                          </a:solidFill>
                          <a:latin typeface="Aptos"/>
                        </a:defRPr>
                      </a:pPr>
                      <a:r>
                        <a:t>Higher = stricter/brighter; lower = more inclusive</a:t>
                      </a:r>
                    </a:p>
                  </a:txBody>
                  <a:tcPr marL="45720" marR="36576" marT="27432" marB="27432">
                    <a:solidFill>
                      <a:srgbClr val="FFFFFF"/>
                    </a:solidFill>
                  </a:tcPr>
                </a:tc>
                <a:extLst>
                  <a:ext uri="{0D108BD9-81ED-4DB2-BD59-A6C34878D82A}">
                    <a16:rowId xmlns:a16="http://schemas.microsoft.com/office/drawing/2014/main" val="10003"/>
                  </a:ext>
                </a:extLst>
              </a:tr>
              <a:tr h="655320">
                <a:tc>
                  <a:txBody>
                    <a:bodyPr/>
                    <a:lstStyle/>
                    <a:p>
                      <a:pPr algn="l">
                        <a:defRPr sz="1030">
                          <a:solidFill>
                            <a:srgbClr val="1C2736"/>
                          </a:solidFill>
                          <a:latin typeface="Aptos"/>
                        </a:defRPr>
                      </a:pPr>
                      <a:r>
                        <a:t>Q: keep sorted class index ≥</a:t>
                      </a:r>
                    </a:p>
                  </a:txBody>
                  <a:tcPr marL="45720" marR="36576" marT="27432" marB="27432">
                    <a:solidFill>
                      <a:srgbClr val="EEF3F9"/>
                    </a:solidFill>
                  </a:tcPr>
                </a:tc>
                <a:tc>
                  <a:txBody>
                    <a:bodyPr/>
                    <a:lstStyle/>
                    <a:p>
                      <a:pPr algn="l">
                        <a:defRPr sz="1030">
                          <a:solidFill>
                            <a:srgbClr val="1C2736"/>
                          </a:solidFill>
                          <a:latin typeface="Aptos"/>
                        </a:defRPr>
                      </a:pPr>
                      <a:r>
                        <a:t>Q-channel classes kept as signal</a:t>
                      </a:r>
                    </a:p>
                  </a:txBody>
                  <a:tcPr marL="45720" marR="36576" marT="27432" marB="27432">
                    <a:solidFill>
                      <a:srgbClr val="EEF3F9"/>
                    </a:solidFill>
                  </a:tcPr>
                </a:tc>
                <a:tc>
                  <a:txBody>
                    <a:bodyPr/>
                    <a:lstStyle/>
                    <a:p>
                      <a:pPr algn="l">
                        <a:defRPr sz="1030">
                          <a:solidFill>
                            <a:srgbClr val="1C2736"/>
                          </a:solidFill>
                          <a:latin typeface="Aptos"/>
                        </a:defRPr>
                      </a:pPr>
                      <a:r>
                        <a:t>Tune separately because P and Q channels differ</a:t>
                      </a:r>
                    </a:p>
                  </a:txBody>
                  <a:tcPr marL="45720" marR="36576" marT="27432" marB="27432">
                    <a:solidFill>
                      <a:srgbClr val="EEF3F9"/>
                    </a:solidFill>
                  </a:tcPr>
                </a:tc>
                <a:extLst>
                  <a:ext uri="{0D108BD9-81ED-4DB2-BD59-A6C34878D82A}">
                    <a16:rowId xmlns:a16="http://schemas.microsoft.com/office/drawing/2014/main" val="10004"/>
                  </a:ext>
                </a:extLst>
              </a:tr>
              <a:tr h="655320">
                <a:tc>
                  <a:txBody>
                    <a:bodyPr/>
                    <a:lstStyle/>
                    <a:p>
                      <a:pPr algn="l">
                        <a:defRPr sz="1030">
                          <a:solidFill>
                            <a:srgbClr val="1C2736"/>
                          </a:solidFill>
                          <a:latin typeface="Aptos"/>
                        </a:defRPr>
                      </a:pPr>
                      <a:r>
                        <a:t>Probability threshold</a:t>
                      </a:r>
                    </a:p>
                  </a:txBody>
                  <a:tcPr marL="45720" marR="36576" marT="27432" marB="27432">
                    <a:solidFill>
                      <a:srgbClr val="FFFFFF"/>
                    </a:solidFill>
                  </a:tcPr>
                </a:tc>
                <a:tc>
                  <a:txBody>
                    <a:bodyPr/>
                    <a:lstStyle/>
                    <a:p>
                      <a:pPr algn="l">
                        <a:defRPr sz="1030">
                          <a:solidFill>
                            <a:srgbClr val="1C2736"/>
                          </a:solidFill>
                          <a:latin typeface="Aptos"/>
                        </a:defRPr>
                      </a:pPr>
                      <a:r>
                        <a:t>Converts probability map into binary mask</a:t>
                      </a:r>
                    </a:p>
                  </a:txBody>
                  <a:tcPr marL="45720" marR="36576" marT="27432" marB="27432">
                    <a:solidFill>
                      <a:srgbClr val="FFFFFF"/>
                    </a:solidFill>
                  </a:tcPr>
                </a:tc>
                <a:tc>
                  <a:txBody>
                    <a:bodyPr/>
                    <a:lstStyle/>
                    <a:p>
                      <a:pPr algn="l">
                        <a:defRPr sz="1030">
                          <a:solidFill>
                            <a:srgbClr val="1C2736"/>
                          </a:solidFill>
                          <a:latin typeface="Aptos"/>
                        </a:defRPr>
                      </a:pPr>
                      <a:r>
                        <a:t>Higher shrinks/cleans; lower expands/recovers dim signal</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914400" y="5577840"/>
            <a:ext cx="103327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5669279"/>
            <a:ext cx="10113264" cy="338328"/>
          </a:xfrm>
          <a:prstGeom prst="rect">
            <a:avLst/>
          </a:prstGeom>
          <a:noFill/>
        </p:spPr>
        <p:txBody>
          <a:bodyPr wrap="none" lIns="18288" tIns="18288" rIns="18288" bIns="18288" anchor="ctr">
            <a:spAutoFit/>
          </a:bodyPr>
          <a:lstStyle/>
          <a:p>
            <a:r>
              <a:rPr sz="1250" b="1" i="0">
                <a:solidFill>
                  <a:srgbClr val="FFFFFF"/>
                </a:solidFill>
                <a:latin typeface="Aptos"/>
              </a:rPr>
              <a:t>Common demo example: for 4 GMM components, “keep sorted class index ≥ 3” keeps only the brightest modeled class.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2</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Upgraded 1D GMM + gate + scoring: why it is the recommended default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Field normalization</a:t>
            </a:r>
          </a:p>
        </p:txBody>
      </p:sp>
      <p:sp>
        <p:nvSpPr>
          <p:cNvPr id="7" name="Right Arrow 6"/>
          <p:cNvSpPr/>
          <p:nvPr/>
        </p:nvSpPr>
        <p:spPr>
          <a:xfrm>
            <a:off x="2389632"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517648" y="1325880"/>
            <a:ext cx="1722120" cy="68580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3368"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Per-nucleus GMM</a:t>
            </a:r>
          </a:p>
        </p:txBody>
      </p:sp>
      <p:sp>
        <p:nvSpPr>
          <p:cNvPr id="10" name="Right Arrow 9"/>
          <p:cNvSpPr/>
          <p:nvPr/>
        </p:nvSpPr>
        <p:spPr>
          <a:xfrm>
            <a:off x="4221480"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49496" y="1325880"/>
            <a:ext cx="1722120" cy="68580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5216"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3" name="Right Arrow 12"/>
          <p:cNvSpPr/>
          <p:nvPr/>
        </p:nvSpPr>
        <p:spPr>
          <a:xfrm>
            <a:off x="6053328"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81344" y="1325880"/>
            <a:ext cx="1722120" cy="68580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27064"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Probability threshold</a:t>
            </a:r>
          </a:p>
        </p:txBody>
      </p:sp>
      <p:sp>
        <p:nvSpPr>
          <p:cNvPr id="16" name="Right Arrow 15"/>
          <p:cNvSpPr/>
          <p:nvPr/>
        </p:nvSpPr>
        <p:spPr>
          <a:xfrm>
            <a:off x="7885176"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013192" y="1325880"/>
            <a:ext cx="1722120" cy="68580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58912"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Component scoring</a:t>
            </a:r>
          </a:p>
        </p:txBody>
      </p:sp>
      <p:sp>
        <p:nvSpPr>
          <p:cNvPr id="19" name="Right Arrow 18"/>
          <p:cNvSpPr/>
          <p:nvPr/>
        </p:nvSpPr>
        <p:spPr>
          <a:xfrm>
            <a:off x="9717024" y="155905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845040" y="1325880"/>
            <a:ext cx="1722120" cy="68580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90760" y="1417320"/>
            <a:ext cx="1630680" cy="502920"/>
          </a:xfrm>
          <a:prstGeom prst="rect">
            <a:avLst/>
          </a:prstGeom>
          <a:noFill/>
        </p:spPr>
        <p:txBody>
          <a:bodyPr wrap="none" lIns="18288" tIns="18288" rIns="18288" bIns="18288" anchor="ctr">
            <a:spAutoFit/>
          </a:bodyPr>
          <a:lstStyle/>
          <a:p>
            <a:pPr algn="ctr"/>
            <a:r>
              <a:rPr sz="1150" b="1" i="0">
                <a:solidFill>
                  <a:srgbClr val="FFFFFF"/>
                </a:solidFill>
                <a:latin typeface="Aptos"/>
              </a:rPr>
              <a:t>Final mask</a:t>
            </a:r>
          </a:p>
        </p:txBody>
      </p:sp>
      <p:sp>
        <p:nvSpPr>
          <p:cNvPr id="22" name="Rounded Rectangle 21"/>
          <p:cNvSpPr/>
          <p:nvPr/>
        </p:nvSpPr>
        <p:spPr>
          <a:xfrm>
            <a:off x="7315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2423160"/>
            <a:ext cx="73152" cy="12801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77824" y="2532888"/>
            <a:ext cx="3246120" cy="320040"/>
          </a:xfrm>
          <a:prstGeom prst="rect">
            <a:avLst/>
          </a:prstGeom>
          <a:noFill/>
        </p:spPr>
        <p:txBody>
          <a:bodyPr wrap="none" lIns="18288" tIns="18288" rIns="18288" bIns="18288">
            <a:spAutoFit/>
          </a:bodyPr>
          <a:lstStyle/>
          <a:p>
            <a:r>
              <a:rPr sz="1500" b="1" i="0">
                <a:solidFill>
                  <a:srgbClr val="081F3A"/>
                </a:solidFill>
                <a:latin typeface="Aptos"/>
              </a:rPr>
              <a:t>Fixes field-to-field intensity variation</a:t>
            </a:r>
          </a:p>
        </p:txBody>
      </p:sp>
      <p:sp>
        <p:nvSpPr>
          <p:cNvPr id="25" name="TextBox 24"/>
          <p:cNvSpPr txBox="1"/>
          <p:nvPr/>
        </p:nvSpPr>
        <p:spPr>
          <a:xfrm>
            <a:off x="877824" y="2898648"/>
            <a:ext cx="3246120" cy="614014"/>
          </a:xfrm>
          <a:prstGeom prst="rect">
            <a:avLst/>
          </a:prstGeom>
          <a:noFill/>
        </p:spPr>
        <p:txBody>
          <a:bodyPr wrap="square" lIns="18288" tIns="18288" rIns="18288" bIns="18288">
            <a:spAutoFit/>
          </a:bodyPr>
          <a:lstStyle/>
          <a:p>
            <a:r>
              <a:rPr sz="1250" b="0" i="0" dirty="0">
                <a:solidFill>
                  <a:srgbClr val="1C2736"/>
                </a:solidFill>
                <a:latin typeface="Aptos"/>
              </a:rPr>
              <a:t>Raw intensities are robustly normalized relative to background/context so thresholds behave more consistently.</a:t>
            </a:r>
          </a:p>
        </p:txBody>
      </p:sp>
      <p:sp>
        <p:nvSpPr>
          <p:cNvPr id="26" name="Rounded Rectangle 25"/>
          <p:cNvSpPr/>
          <p:nvPr/>
        </p:nvSpPr>
        <p:spPr>
          <a:xfrm>
            <a:off x="43891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389120" y="2423160"/>
            <a:ext cx="73152" cy="128016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354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no-signal nuclei</a:t>
            </a:r>
          </a:p>
        </p:txBody>
      </p:sp>
      <p:sp>
        <p:nvSpPr>
          <p:cNvPr id="29" name="TextBox 28"/>
          <p:cNvSpPr txBox="1"/>
          <p:nvPr/>
        </p:nvSpPr>
        <p:spPr>
          <a:xfrm>
            <a:off x="4535424" y="2898648"/>
            <a:ext cx="3194306" cy="421654"/>
          </a:xfrm>
          <a:prstGeom prst="rect">
            <a:avLst/>
          </a:prstGeom>
          <a:noFill/>
        </p:spPr>
        <p:txBody>
          <a:bodyPr wrap="square" lIns="18288" tIns="18288" rIns="18288" bIns="18288">
            <a:spAutoFit/>
          </a:bodyPr>
          <a:lstStyle/>
          <a:p>
            <a:r>
              <a:rPr sz="1250" b="0" i="0">
                <a:solidFill>
                  <a:srgbClr val="1C2736"/>
                </a:solidFill>
                <a:latin typeface="Aptos"/>
              </a:rPr>
              <a:t>The presence gate requires enough evidence for real signal before allowing a mask.</a:t>
            </a:r>
          </a:p>
        </p:txBody>
      </p:sp>
      <p:sp>
        <p:nvSpPr>
          <p:cNvPr id="30" name="Rounded Rectangle 29"/>
          <p:cNvSpPr/>
          <p:nvPr/>
        </p:nvSpPr>
        <p:spPr>
          <a:xfrm>
            <a:off x="8046720" y="2423160"/>
            <a:ext cx="3474720" cy="12801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46720" y="2423160"/>
            <a:ext cx="73152" cy="128016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93024" y="2532888"/>
            <a:ext cx="3246120" cy="320040"/>
          </a:xfrm>
          <a:prstGeom prst="rect">
            <a:avLst/>
          </a:prstGeom>
          <a:noFill/>
        </p:spPr>
        <p:txBody>
          <a:bodyPr wrap="none" lIns="18288" tIns="18288" rIns="18288" bIns="18288">
            <a:spAutoFit/>
          </a:bodyPr>
          <a:lstStyle/>
          <a:p>
            <a:r>
              <a:rPr sz="1500" b="1" i="0">
                <a:solidFill>
                  <a:srgbClr val="081F3A"/>
                </a:solidFill>
                <a:latin typeface="Aptos"/>
              </a:rPr>
              <a:t>Rejects implausible fragments</a:t>
            </a:r>
          </a:p>
        </p:txBody>
      </p:sp>
      <p:sp>
        <p:nvSpPr>
          <p:cNvPr id="33" name="TextBox 32"/>
          <p:cNvSpPr txBox="1"/>
          <p:nvPr/>
        </p:nvSpPr>
        <p:spPr>
          <a:xfrm>
            <a:off x="8193024" y="2898648"/>
            <a:ext cx="3145536" cy="614014"/>
          </a:xfrm>
          <a:prstGeom prst="rect">
            <a:avLst/>
          </a:prstGeom>
          <a:noFill/>
        </p:spPr>
        <p:txBody>
          <a:bodyPr wrap="square" lIns="18288" tIns="18288" rIns="18288" bIns="18288">
            <a:spAutoFit/>
          </a:bodyPr>
          <a:lstStyle/>
          <a:p>
            <a:r>
              <a:rPr sz="1250" b="0" i="0" dirty="0">
                <a:solidFill>
                  <a:srgbClr val="1C2736"/>
                </a:solidFill>
                <a:latin typeface="Aptos"/>
              </a:rPr>
              <a:t>Component scoring evaluates connected 3D objects using probability, contrast, volume, and boundary irregularity.</a:t>
            </a:r>
          </a:p>
        </p:txBody>
      </p:sp>
      <p:sp>
        <p:nvSpPr>
          <p:cNvPr id="34" name="TextBox 33"/>
          <p:cNvSpPr txBox="1"/>
          <p:nvPr/>
        </p:nvSpPr>
        <p:spPr>
          <a:xfrm>
            <a:off x="914400" y="4389120"/>
            <a:ext cx="10058400" cy="91440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This method addresses the main weakness of legacy GMM: intensity clustering alone can create false masks from noise.</a:t>
            </a:r>
          </a:p>
          <a:p>
            <a:pPr>
              <a:lnSpc>
                <a:spcPct val="105000"/>
              </a:lnSpc>
              <a:spcAft>
                <a:spcPts val="156"/>
              </a:spcAft>
              <a:defRPr sz="1500">
                <a:solidFill>
                  <a:srgbClr val="1C2736"/>
                </a:solidFill>
                <a:latin typeface="Aptos"/>
              </a:defRPr>
            </a:pPr>
            <a:r>
              <a:t>• It is usually the first method to tune before trying MRF/CRF refinement.</a:t>
            </a:r>
          </a:p>
        </p:txBody>
      </p:sp>
      <p:sp>
        <p:nvSpPr>
          <p:cNvPr id="35" name="TextBox 34"/>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6" name="TextBox 35"/>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NORMALIZATION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Field context and robust intensity normalization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norm.png"/>
          <p:cNvPicPr>
            <a:picLocks noChangeAspect="1"/>
          </p:cNvPicPr>
          <p:nvPr/>
        </p:nvPicPr>
        <p:blipFill>
          <a:blip r:embed="rId2"/>
          <a:stretch>
            <a:fillRect/>
          </a:stretch>
        </p:blipFill>
        <p:spPr>
          <a:xfrm>
            <a:off x="731520" y="1260968"/>
            <a:ext cx="5669280" cy="769902"/>
          </a:xfrm>
          <a:prstGeom prst="rect">
            <a:avLst/>
          </a:prstGeom>
        </p:spPr>
      </p:pic>
      <p:sp>
        <p:nvSpPr>
          <p:cNvPr id="6" name="TextBox 5"/>
          <p:cNvSpPr txBox="1"/>
          <p:nvPr/>
        </p:nvSpPr>
        <p:spPr>
          <a:xfrm>
            <a:off x="868680" y="2286000"/>
            <a:ext cx="5303520" cy="21031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B is a background/context sample from outside nuclei or low-intensity voxels, depending on normalization mode.</a:t>
            </a:r>
          </a:p>
          <a:p>
            <a:pPr>
              <a:lnSpc>
                <a:spcPct val="105000"/>
              </a:lnSpc>
              <a:spcAft>
                <a:spcPts val="156"/>
              </a:spcAft>
              <a:defRPr sz="1400">
                <a:solidFill>
                  <a:srgbClr val="1C2736"/>
                </a:solidFill>
                <a:latin typeface="Aptos"/>
              </a:defRPr>
            </a:pPr>
            <a:r>
              <a:t>• MAD = median absolute deviation, a robust estimate of spread that is less sensitive to bright outliers.</a:t>
            </a:r>
          </a:p>
          <a:p>
            <a:pPr>
              <a:lnSpc>
                <a:spcPct val="105000"/>
              </a:lnSpc>
              <a:spcAft>
                <a:spcPts val="156"/>
              </a:spcAft>
              <a:defRPr sz="1400">
                <a:solidFill>
                  <a:srgbClr val="1C2736"/>
                </a:solidFill>
                <a:latin typeface="Aptos"/>
              </a:defRPr>
            </a:pPr>
            <a:r>
              <a:t>• After normalization, positive values mean brighter than background-like intensity.</a:t>
            </a:r>
          </a:p>
          <a:p>
            <a:pPr>
              <a:lnSpc>
                <a:spcPct val="105000"/>
              </a:lnSpc>
              <a:spcAft>
                <a:spcPts val="156"/>
              </a:spcAft>
              <a:defRPr sz="1400">
                <a:solidFill>
                  <a:srgbClr val="1C2736"/>
                </a:solidFill>
                <a:latin typeface="Aptos"/>
              </a:defRPr>
            </a:pPr>
            <a:r>
              <a:t>• The background percentile controls which low-intensity voxels contribute to the background estimate.</a:t>
            </a:r>
          </a:p>
        </p:txBody>
      </p:sp>
      <p:graphicFrame>
        <p:nvGraphicFramePr>
          <p:cNvPr id="7" name="Table 6"/>
          <p:cNvGraphicFramePr>
            <a:graphicFrameLocks noGrp="1"/>
          </p:cNvGraphicFramePr>
          <p:nvPr/>
        </p:nvGraphicFramePr>
        <p:xfrm>
          <a:off x="6492240" y="1234440"/>
          <a:ext cx="4937760" cy="33832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563880">
                <a:tc>
                  <a:txBody>
                    <a:bodyPr/>
                    <a:lstStyle/>
                    <a:p>
                      <a:pPr algn="l">
                        <a:defRPr sz="1000">
                          <a:solidFill>
                            <a:srgbClr val="FFFFFF"/>
                          </a:solidFill>
                          <a:latin typeface="Aptos"/>
                        </a:defRPr>
                      </a:pPr>
                      <a:r>
                        <a:t>Normalization mode</a:t>
                      </a:r>
                    </a:p>
                  </a:txBody>
                  <a:tcPr marL="45720" marR="36576" marT="27432" marB="27432">
                    <a:solidFill>
                      <a:srgbClr val="081F3A"/>
                    </a:solidFill>
                  </a:tcPr>
                </a:tc>
                <a:tc>
                  <a:txBody>
                    <a:bodyPr/>
                    <a:lstStyle/>
                    <a:p>
                      <a:pPr algn="l">
                        <a:defRPr sz="1000">
                          <a:solidFill>
                            <a:srgbClr val="FFFFFF"/>
                          </a:solidFill>
                          <a:latin typeface="Aptos"/>
                        </a:defRPr>
                      </a:pPr>
                      <a:r>
                        <a:t>Use case</a:t>
                      </a:r>
                    </a:p>
                  </a:txBody>
                  <a:tcPr marL="45720" marR="36576" marT="27432" marB="27432">
                    <a:solidFill>
                      <a:srgbClr val="081F3A"/>
                    </a:solidFill>
                  </a:tcPr>
                </a:tc>
                <a:extLst>
                  <a:ext uri="{0D108BD9-81ED-4DB2-BD59-A6C34878D82A}">
                    <a16:rowId xmlns:a16="http://schemas.microsoft.com/office/drawing/2014/main" val="10000"/>
                  </a:ext>
                </a:extLst>
              </a:tr>
              <a:tr h="563880">
                <a:tc>
                  <a:txBody>
                    <a:bodyPr/>
                    <a:lstStyle/>
                    <a:p>
                      <a:pPr algn="l">
                        <a:defRPr sz="950">
                          <a:solidFill>
                            <a:srgbClr val="1C2736"/>
                          </a:solidFill>
                          <a:latin typeface="Aptos"/>
                        </a:defRPr>
                      </a:pPr>
                      <a:r>
                        <a:t>mixed_outside_or_low_percentile</a:t>
                      </a:r>
                    </a:p>
                  </a:txBody>
                  <a:tcPr marL="45720" marR="36576" marT="27432" marB="27432">
                    <a:solidFill>
                      <a:srgbClr val="FFFFFF"/>
                    </a:solidFill>
                  </a:tcPr>
                </a:tc>
                <a:tc>
                  <a:txBody>
                    <a:bodyPr/>
                    <a:lstStyle/>
                    <a:p>
                      <a:pPr algn="l">
                        <a:defRPr sz="950">
                          <a:solidFill>
                            <a:srgbClr val="1C2736"/>
                          </a:solidFill>
                          <a:latin typeface="Aptos"/>
                        </a:defRPr>
                      </a:pPr>
                      <a:r>
                        <a:t>Recommended default; uses outside nuclei if available, otherwise low-percentile fallback</a:t>
                      </a:r>
                    </a:p>
                  </a:txBody>
                  <a:tcPr marL="45720" marR="36576" marT="27432" marB="27432">
                    <a:solidFill>
                      <a:srgbClr val="FFFFFF"/>
                    </a:solidFill>
                  </a:tcPr>
                </a:tc>
                <a:extLst>
                  <a:ext uri="{0D108BD9-81ED-4DB2-BD59-A6C34878D82A}">
                    <a16:rowId xmlns:a16="http://schemas.microsoft.com/office/drawing/2014/main" val="10001"/>
                  </a:ext>
                </a:extLst>
              </a:tr>
              <a:tr h="563880">
                <a:tc>
                  <a:txBody>
                    <a:bodyPr/>
                    <a:lstStyle/>
                    <a:p>
                      <a:pPr algn="l">
                        <a:defRPr sz="950">
                          <a:solidFill>
                            <a:srgbClr val="1C2736"/>
                          </a:solidFill>
                          <a:latin typeface="Aptos"/>
                        </a:defRPr>
                      </a:pPr>
                      <a:r>
                        <a:t>outside_nuclei</a:t>
                      </a:r>
                    </a:p>
                  </a:txBody>
                  <a:tcPr marL="45720" marR="36576" marT="27432" marB="27432">
                    <a:solidFill>
                      <a:srgbClr val="EEF3F9"/>
                    </a:solidFill>
                  </a:tcPr>
                </a:tc>
                <a:tc>
                  <a:txBody>
                    <a:bodyPr/>
                    <a:lstStyle/>
                    <a:p>
                      <a:pPr algn="l">
                        <a:defRPr sz="950">
                          <a:solidFill>
                            <a:srgbClr val="1C2736"/>
                          </a:solidFill>
                          <a:latin typeface="Aptos"/>
                        </a:defRPr>
                      </a:pPr>
                      <a:r>
                        <a:t>Good when outside-nucleus background is representative</a:t>
                      </a:r>
                    </a:p>
                  </a:txBody>
                  <a:tcPr marL="45720" marR="36576" marT="27432" marB="27432">
                    <a:solidFill>
                      <a:srgbClr val="EEF3F9"/>
                    </a:solidFill>
                  </a:tcPr>
                </a:tc>
                <a:extLst>
                  <a:ext uri="{0D108BD9-81ED-4DB2-BD59-A6C34878D82A}">
                    <a16:rowId xmlns:a16="http://schemas.microsoft.com/office/drawing/2014/main" val="10002"/>
                  </a:ext>
                </a:extLst>
              </a:tr>
              <a:tr h="563880">
                <a:tc>
                  <a:txBody>
                    <a:bodyPr/>
                    <a:lstStyle/>
                    <a:p>
                      <a:pPr algn="l">
                        <a:defRPr sz="950">
                          <a:solidFill>
                            <a:srgbClr val="1C2736"/>
                          </a:solidFill>
                          <a:latin typeface="Aptos"/>
                        </a:defRPr>
                      </a:pPr>
                      <a:r>
                        <a:t>nuclear_low_percentile</a:t>
                      </a:r>
                    </a:p>
                  </a:txBody>
                  <a:tcPr marL="45720" marR="36576" marT="27432" marB="27432">
                    <a:solidFill>
                      <a:srgbClr val="FFFFFF"/>
                    </a:solidFill>
                  </a:tcPr>
                </a:tc>
                <a:tc>
                  <a:txBody>
                    <a:bodyPr/>
                    <a:lstStyle/>
                    <a:p>
                      <a:pPr algn="l">
                        <a:defRPr sz="950">
                          <a:solidFill>
                            <a:srgbClr val="1C2736"/>
                          </a:solidFill>
                          <a:latin typeface="Aptos"/>
                        </a:defRPr>
                      </a:pPr>
                      <a:r>
                        <a:t>Good when whole-field background is unreliable</a:t>
                      </a:r>
                    </a:p>
                  </a:txBody>
                  <a:tcPr marL="45720" marR="36576" marT="27432" marB="27432">
                    <a:solidFill>
                      <a:srgbClr val="FFFFFF"/>
                    </a:solidFill>
                  </a:tcPr>
                </a:tc>
                <a:extLst>
                  <a:ext uri="{0D108BD9-81ED-4DB2-BD59-A6C34878D82A}">
                    <a16:rowId xmlns:a16="http://schemas.microsoft.com/office/drawing/2014/main" val="10003"/>
                  </a:ext>
                </a:extLst>
              </a:tr>
              <a:tr h="563880">
                <a:tc>
                  <a:txBody>
                    <a:bodyPr/>
                    <a:lstStyle/>
                    <a:p>
                      <a:pPr algn="l">
                        <a:defRPr sz="950">
                          <a:solidFill>
                            <a:srgbClr val="1C2736"/>
                          </a:solidFill>
                          <a:latin typeface="Aptos"/>
                        </a:defRPr>
                      </a:pPr>
                      <a:r>
                        <a:t>whole_image_low_percentile</a:t>
                      </a:r>
                    </a:p>
                  </a:txBody>
                  <a:tcPr marL="45720" marR="36576" marT="27432" marB="27432">
                    <a:solidFill>
                      <a:srgbClr val="EEF3F9"/>
                    </a:solidFill>
                  </a:tcPr>
                </a:tc>
                <a:tc>
                  <a:txBody>
                    <a:bodyPr/>
                    <a:lstStyle/>
                    <a:p>
                      <a:pPr algn="l">
                        <a:defRPr sz="950">
                          <a:solidFill>
                            <a:srgbClr val="1C2736"/>
                          </a:solidFill>
                          <a:latin typeface="Aptos"/>
                        </a:defRPr>
                      </a:pPr>
                      <a:r>
                        <a:t>Simple fallback for broad field background</a:t>
                      </a:r>
                    </a:p>
                  </a:txBody>
                  <a:tcPr marL="45720" marR="36576" marT="27432" marB="27432">
                    <a:solidFill>
                      <a:srgbClr val="EEF3F9"/>
                    </a:solidFill>
                  </a:tcPr>
                </a:tc>
                <a:extLst>
                  <a:ext uri="{0D108BD9-81ED-4DB2-BD59-A6C34878D82A}">
                    <a16:rowId xmlns:a16="http://schemas.microsoft.com/office/drawing/2014/main" val="10004"/>
                  </a:ext>
                </a:extLst>
              </a:tr>
              <a:tr h="563880">
                <a:tc>
                  <a:txBody>
                    <a:bodyPr/>
                    <a:lstStyle/>
                    <a:p>
                      <a:pPr algn="l">
                        <a:defRPr sz="950">
                          <a:solidFill>
                            <a:srgbClr val="1C2736"/>
                          </a:solidFill>
                          <a:latin typeface="Aptos"/>
                        </a:defRPr>
                      </a:pPr>
                      <a:r>
                        <a:t>none</a:t>
                      </a:r>
                    </a:p>
                  </a:txBody>
                  <a:tcPr marL="45720" marR="36576" marT="27432" marB="27432">
                    <a:solidFill>
                      <a:srgbClr val="FFFFFF"/>
                    </a:solidFill>
                  </a:tcPr>
                </a:tc>
                <a:tc>
                  <a:txBody>
                    <a:bodyPr/>
                    <a:lstStyle/>
                    <a:p>
                      <a:pPr algn="l">
                        <a:defRPr sz="950">
                          <a:solidFill>
                            <a:srgbClr val="1C2736"/>
                          </a:solidFill>
                          <a:latin typeface="Aptos"/>
                        </a:defRPr>
                      </a:pPr>
                      <a:r>
                        <a:t>Only if raw intensities are already comparable</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6629400" y="4983480"/>
            <a:ext cx="4663440" cy="530352"/>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39128" y="5074920"/>
            <a:ext cx="4443983" cy="365759"/>
          </a:xfrm>
          <a:prstGeom prst="rect">
            <a:avLst/>
          </a:prstGeom>
          <a:noFill/>
        </p:spPr>
        <p:txBody>
          <a:bodyPr wrap="none" lIns="18288" tIns="18288" rIns="18288" bIns="18288" anchor="ctr">
            <a:spAutoFit/>
          </a:bodyPr>
          <a:lstStyle/>
          <a:p>
            <a:r>
              <a:rPr sz="1200" b="1" i="0">
                <a:solidFill>
                  <a:srgbClr val="FFFFFF"/>
                </a:solidFill>
                <a:latin typeface="Aptos"/>
              </a:rPr>
              <a:t>Increase background percentile carefully: too high can treat dim real signal as background.</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Presence/absence gate: preventing false arms in no-signal nuclei</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bic.png"/>
          <p:cNvPicPr>
            <a:picLocks noChangeAspect="1"/>
          </p:cNvPicPr>
          <p:nvPr/>
        </p:nvPicPr>
        <p:blipFill>
          <a:blip r:embed="rId2"/>
          <a:stretch>
            <a:fillRect/>
          </a:stretch>
        </p:blipFill>
        <p:spPr>
          <a:xfrm>
            <a:off x="731520" y="1218312"/>
            <a:ext cx="5029200" cy="663191"/>
          </a:xfrm>
          <a:prstGeom prst="rect">
            <a:avLst/>
          </a:prstGeom>
        </p:spPr>
      </p:pic>
      <p:pic>
        <p:nvPicPr>
          <p:cNvPr id="6" name="Picture 5" descr="snr.png"/>
          <p:cNvPicPr>
            <a:picLocks noChangeAspect="1"/>
          </p:cNvPicPr>
          <p:nvPr/>
        </p:nvPicPr>
        <p:blipFill>
          <a:blip r:embed="rId3"/>
          <a:stretch>
            <a:fillRect/>
          </a:stretch>
        </p:blipFill>
        <p:spPr>
          <a:xfrm>
            <a:off x="731520" y="2004696"/>
            <a:ext cx="5029200" cy="663191"/>
          </a:xfrm>
          <a:prstGeom prst="rect">
            <a:avLst/>
          </a:prstGeom>
        </p:spPr>
      </p:pic>
      <p:pic>
        <p:nvPicPr>
          <p:cNvPr id="7" name="Picture 6" descr="gate.png"/>
          <p:cNvPicPr>
            <a:picLocks noChangeAspect="1"/>
          </p:cNvPicPr>
          <p:nvPr/>
        </p:nvPicPr>
        <p:blipFill>
          <a:blip r:embed="rId4"/>
          <a:stretch>
            <a:fillRect/>
          </a:stretch>
        </p:blipFill>
        <p:spPr>
          <a:xfrm>
            <a:off x="782955" y="2788920"/>
            <a:ext cx="5200650" cy="685800"/>
          </a:xfrm>
          <a:prstGeom prst="rect">
            <a:avLst/>
          </a:prstGeom>
        </p:spPr>
      </p:pic>
      <p:sp>
        <p:nvSpPr>
          <p:cNvPr id="8" name="TextBox 7"/>
          <p:cNvSpPr txBox="1"/>
          <p:nvPr/>
        </p:nvSpPr>
        <p:spPr>
          <a:xfrm>
            <a:off x="6400800" y="1234440"/>
            <a:ext cx="4937760" cy="292608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t>• Delta BIC/LLR asks whether a multi-component signal model explains the data better than a single noise-like model.</a:t>
            </a:r>
          </a:p>
          <a:p>
            <a:pPr>
              <a:lnSpc>
                <a:spcPct val="105000"/>
              </a:lnSpc>
              <a:spcAft>
                <a:spcPts val="156"/>
              </a:spcAft>
              <a:defRPr sz="1370">
                <a:solidFill>
                  <a:srgbClr val="1C2736"/>
                </a:solidFill>
                <a:latin typeface="Aptos"/>
              </a:defRPr>
            </a:pPr>
            <a:r>
              <a:t>• Signal SNR asks whether bright voxels stand out from the lower-intensity nuclear distribution.</a:t>
            </a:r>
          </a:p>
          <a:p>
            <a:pPr>
              <a:lnSpc>
                <a:spcPct val="105000"/>
              </a:lnSpc>
              <a:spcAft>
                <a:spcPts val="156"/>
              </a:spcAft>
              <a:defRPr sz="1370">
                <a:solidFill>
                  <a:srgbClr val="1C2736"/>
                </a:solidFill>
                <a:latin typeface="Aptos"/>
              </a:defRPr>
            </a:pPr>
            <a:r>
              <a:t>• Expected signal fraction prevents both tiny specks and overly broad masks from being accepted.</a:t>
            </a:r>
          </a:p>
          <a:p>
            <a:pPr>
              <a:lnSpc>
                <a:spcPct val="105000"/>
              </a:lnSpc>
              <a:spcAft>
                <a:spcPts val="156"/>
              </a:spcAft>
              <a:defRPr sz="1370">
                <a:solidFill>
                  <a:srgbClr val="1C2736"/>
                </a:solidFill>
                <a:latin typeface="Aptos"/>
              </a:defRPr>
            </a:pPr>
            <a:r>
              <a:t>• Mean posterior checks that expected signal voxels are sufficiently confident.</a:t>
            </a:r>
          </a:p>
        </p:txBody>
      </p:sp>
      <p:sp>
        <p:nvSpPr>
          <p:cNvPr id="9" name="Rounded Rectangle 8"/>
          <p:cNvSpPr/>
          <p:nvPr/>
        </p:nvSpPr>
        <p:spPr>
          <a:xfrm>
            <a:off x="1005840" y="5074920"/>
            <a:ext cx="10149840" cy="621792"/>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5166359"/>
            <a:ext cx="9930384" cy="457200"/>
          </a:xfrm>
          <a:prstGeom prst="rect">
            <a:avLst/>
          </a:prstGeom>
          <a:noFill/>
        </p:spPr>
        <p:txBody>
          <a:bodyPr wrap="none" lIns="18288" tIns="18288" rIns="18288" bIns="18288" anchor="ctr">
            <a:spAutoFit/>
          </a:bodyPr>
          <a:lstStyle/>
          <a:p>
            <a:r>
              <a:rPr sz="1320" b="1" i="0">
                <a:solidFill>
                  <a:srgbClr val="FFFFFF"/>
                </a:solidFill>
                <a:latin typeface="Aptos"/>
              </a:rPr>
              <a:t>If noise is still segmented, make the gate stricter. If true dim signal disappears, relax the gate.</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PRESENCE GATE</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Presence gate parameters: practical tuning effects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07008"/>
          <a:ext cx="11018520" cy="4343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620485">
                <a:tc>
                  <a:txBody>
                    <a:bodyPr/>
                    <a:lstStyle/>
                    <a:p>
                      <a:pPr algn="l">
                        <a:defRPr sz="1030">
                          <a:solidFill>
                            <a:srgbClr val="FFFFFF"/>
                          </a:solidFill>
                          <a:latin typeface="Aptos"/>
                        </a:defRPr>
                      </a:pPr>
                      <a:r>
                        <a:t>Parameter</a:t>
                      </a:r>
                    </a:p>
                  </a:txBody>
                  <a:tcPr marL="45720" marR="36576" marT="27432" marB="27432">
                    <a:solidFill>
                      <a:srgbClr val="081F3A"/>
                    </a:solidFill>
                  </a:tcPr>
                </a:tc>
                <a:tc>
                  <a:txBody>
                    <a:bodyPr/>
                    <a:lstStyle/>
                    <a:p>
                      <a:pPr algn="l">
                        <a:defRPr sz="1030">
                          <a:solidFill>
                            <a:srgbClr val="FFFFFF"/>
                          </a:solidFill>
                          <a:latin typeface="Aptos"/>
                        </a:defRPr>
                      </a:pPr>
                      <a:r>
                        <a:t>Increase to…</a:t>
                      </a:r>
                    </a:p>
                  </a:txBody>
                  <a:tcPr marL="45720" marR="36576" marT="27432" marB="27432">
                    <a:solidFill>
                      <a:srgbClr val="081F3A"/>
                    </a:solidFill>
                  </a:tcPr>
                </a:tc>
                <a:tc>
                  <a:txBody>
                    <a:bodyPr/>
                    <a:lstStyle/>
                    <a:p>
                      <a:pPr algn="l">
                        <a:defRPr sz="1030">
                          <a:solidFill>
                            <a:srgbClr val="FFFFFF"/>
                          </a:solidFill>
                          <a:latin typeface="Aptos"/>
                        </a:defRPr>
                      </a:pPr>
                      <a:r>
                        <a:t>Decrease to…</a:t>
                      </a:r>
                    </a:p>
                  </a:txBody>
                  <a:tcPr marL="45720" marR="36576" marT="27432" marB="27432">
                    <a:solidFill>
                      <a:srgbClr val="081F3A"/>
                    </a:solidFill>
                  </a:tcPr>
                </a:tc>
                <a:extLst>
                  <a:ext uri="{0D108BD9-81ED-4DB2-BD59-A6C34878D82A}">
                    <a16:rowId xmlns:a16="http://schemas.microsoft.com/office/drawing/2014/main" val="10000"/>
                  </a:ext>
                </a:extLst>
              </a:tr>
              <a:tr h="620485">
                <a:tc>
                  <a:txBody>
                    <a:bodyPr/>
                    <a:lstStyle/>
                    <a:p>
                      <a:pPr algn="l">
                        <a:defRPr sz="980">
                          <a:solidFill>
                            <a:srgbClr val="1C2736"/>
                          </a:solidFill>
                          <a:latin typeface="Aptos"/>
                        </a:defRPr>
                      </a:pPr>
                      <a:r>
                        <a:t>Minimum Delta BIC / LLR</a:t>
                      </a:r>
                    </a:p>
                  </a:txBody>
                  <a:tcPr marL="45720" marR="36576" marT="27432" marB="27432">
                    <a:solidFill>
                      <a:srgbClr val="FFFFFF"/>
                    </a:solidFill>
                  </a:tcPr>
                </a:tc>
                <a:tc>
                  <a:txBody>
                    <a:bodyPr/>
                    <a:lstStyle/>
                    <a:p>
                      <a:pPr algn="l">
                        <a:defRPr sz="980">
                          <a:solidFill>
                            <a:srgbClr val="1C2736"/>
                          </a:solidFill>
                          <a:latin typeface="Aptos"/>
                        </a:defRPr>
                      </a:pPr>
                      <a:r>
                        <a:t>Reject nuclei where intensity classes are not well separated</a:t>
                      </a:r>
                    </a:p>
                  </a:txBody>
                  <a:tcPr marL="45720" marR="36576" marT="27432" marB="27432">
                    <a:solidFill>
                      <a:srgbClr val="FFFFFF"/>
                    </a:solidFill>
                  </a:tcPr>
                </a:tc>
                <a:tc>
                  <a:txBody>
                    <a:bodyPr/>
                    <a:lstStyle/>
                    <a:p>
                      <a:pPr algn="l">
                        <a:defRPr sz="980">
                          <a:solidFill>
                            <a:srgbClr val="1C2736"/>
                          </a:solidFill>
                          <a:latin typeface="Aptos"/>
                        </a:defRPr>
                      </a:pPr>
                      <a:r>
                        <a:t>Keep weak/ambiguous true signal</a:t>
                      </a:r>
                    </a:p>
                  </a:txBody>
                  <a:tcPr marL="45720" marR="36576" marT="27432" marB="27432">
                    <a:solidFill>
                      <a:srgbClr val="FFFFFF"/>
                    </a:solidFill>
                  </a:tcPr>
                </a:tc>
                <a:extLst>
                  <a:ext uri="{0D108BD9-81ED-4DB2-BD59-A6C34878D82A}">
                    <a16:rowId xmlns:a16="http://schemas.microsoft.com/office/drawing/2014/main" val="10001"/>
                  </a:ext>
                </a:extLst>
              </a:tr>
              <a:tr h="620485">
                <a:tc>
                  <a:txBody>
                    <a:bodyPr/>
                    <a:lstStyle/>
                    <a:p>
                      <a:pPr algn="l">
                        <a:defRPr sz="980">
                          <a:solidFill>
                            <a:srgbClr val="1C2736"/>
                          </a:solidFill>
                          <a:latin typeface="Aptos"/>
                        </a:defRPr>
                      </a:pPr>
                      <a:r>
                        <a:t>Minimum signal SNR</a:t>
                      </a:r>
                    </a:p>
                  </a:txBody>
                  <a:tcPr marL="45720" marR="36576" marT="27432" marB="27432">
                    <a:solidFill>
                      <a:srgbClr val="EEF3F9"/>
                    </a:solidFill>
                  </a:tcPr>
                </a:tc>
                <a:tc>
                  <a:txBody>
                    <a:bodyPr/>
                    <a:lstStyle/>
                    <a:p>
                      <a:pPr algn="l">
                        <a:defRPr sz="980">
                          <a:solidFill>
                            <a:srgbClr val="1C2736"/>
                          </a:solidFill>
                          <a:latin typeface="Aptos"/>
                        </a:defRPr>
                      </a:pPr>
                      <a:r>
                        <a:t>Require signal to stand out more strongly</a:t>
                      </a:r>
                    </a:p>
                  </a:txBody>
                  <a:tcPr marL="45720" marR="36576" marT="27432" marB="27432">
                    <a:solidFill>
                      <a:srgbClr val="EEF3F9"/>
                    </a:solidFill>
                  </a:tcPr>
                </a:tc>
                <a:tc>
                  <a:txBody>
                    <a:bodyPr/>
                    <a:lstStyle/>
                    <a:p>
                      <a:pPr algn="l">
                        <a:defRPr sz="980">
                          <a:solidFill>
                            <a:srgbClr val="1C2736"/>
                          </a:solidFill>
                          <a:latin typeface="Aptos"/>
                        </a:defRPr>
                      </a:pPr>
                      <a:r>
                        <a:t>Recover dim or low-contrast signal</a:t>
                      </a:r>
                    </a:p>
                  </a:txBody>
                  <a:tcPr marL="45720" marR="36576" marT="27432" marB="27432">
                    <a:solidFill>
                      <a:srgbClr val="EEF3F9"/>
                    </a:solidFill>
                  </a:tcPr>
                </a:tc>
                <a:extLst>
                  <a:ext uri="{0D108BD9-81ED-4DB2-BD59-A6C34878D82A}">
                    <a16:rowId xmlns:a16="http://schemas.microsoft.com/office/drawing/2014/main" val="10002"/>
                  </a:ext>
                </a:extLst>
              </a:tr>
              <a:tr h="620485">
                <a:tc>
                  <a:txBody>
                    <a:bodyPr/>
                    <a:lstStyle/>
                    <a:p>
                      <a:pPr algn="l">
                        <a:defRPr sz="980">
                          <a:solidFill>
                            <a:srgbClr val="1C2736"/>
                          </a:solidFill>
                          <a:latin typeface="Aptos"/>
                        </a:defRPr>
                      </a:pPr>
                      <a:r>
                        <a:t>Minimum expected signal fraction</a:t>
                      </a:r>
                    </a:p>
                  </a:txBody>
                  <a:tcPr marL="45720" marR="36576" marT="27432" marB="27432">
                    <a:solidFill>
                      <a:srgbClr val="FFFFFF"/>
                    </a:solidFill>
                  </a:tcPr>
                </a:tc>
                <a:tc>
                  <a:txBody>
                    <a:bodyPr/>
                    <a:lstStyle/>
                    <a:p>
                      <a:pPr algn="l">
                        <a:defRPr sz="980">
                          <a:solidFill>
                            <a:srgbClr val="1C2736"/>
                          </a:solidFill>
                          <a:latin typeface="Aptos"/>
                        </a:defRPr>
                      </a:pPr>
                      <a:r>
                        <a:t>Reject tiny specks</a:t>
                      </a:r>
                    </a:p>
                  </a:txBody>
                  <a:tcPr marL="45720" marR="36576" marT="27432" marB="27432">
                    <a:solidFill>
                      <a:srgbClr val="FFFFFF"/>
                    </a:solidFill>
                  </a:tcPr>
                </a:tc>
                <a:tc>
                  <a:txBody>
                    <a:bodyPr/>
                    <a:lstStyle/>
                    <a:p>
                      <a:pPr algn="l">
                        <a:defRPr sz="980">
                          <a:solidFill>
                            <a:srgbClr val="1C2736"/>
                          </a:solidFill>
                          <a:latin typeface="Aptos"/>
                        </a:defRPr>
                      </a:pPr>
                      <a:r>
                        <a:t>Allow very small true territories</a:t>
                      </a:r>
                    </a:p>
                  </a:txBody>
                  <a:tcPr marL="45720" marR="36576" marT="27432" marB="27432">
                    <a:solidFill>
                      <a:srgbClr val="FFFFFF"/>
                    </a:solidFill>
                  </a:tcPr>
                </a:tc>
                <a:extLst>
                  <a:ext uri="{0D108BD9-81ED-4DB2-BD59-A6C34878D82A}">
                    <a16:rowId xmlns:a16="http://schemas.microsoft.com/office/drawing/2014/main" val="10003"/>
                  </a:ext>
                </a:extLst>
              </a:tr>
              <a:tr h="620485">
                <a:tc>
                  <a:txBody>
                    <a:bodyPr/>
                    <a:lstStyle/>
                    <a:p>
                      <a:pPr algn="l">
                        <a:defRPr sz="980">
                          <a:solidFill>
                            <a:srgbClr val="1C2736"/>
                          </a:solidFill>
                          <a:latin typeface="Aptos"/>
                        </a:defRPr>
                      </a:pPr>
                      <a:r>
                        <a:t>Maximum expected signal fraction</a:t>
                      </a:r>
                    </a:p>
                  </a:txBody>
                  <a:tcPr marL="45720" marR="36576" marT="27432" marB="27432">
                    <a:solidFill>
                      <a:srgbClr val="EEF3F9"/>
                    </a:solidFill>
                  </a:tcPr>
                </a:tc>
                <a:tc>
                  <a:txBody>
                    <a:bodyPr/>
                    <a:lstStyle/>
                    <a:p>
                      <a:pPr algn="l">
                        <a:defRPr sz="980">
                          <a:solidFill>
                            <a:srgbClr val="1C2736"/>
                          </a:solidFill>
                          <a:latin typeface="Aptos"/>
                        </a:defRPr>
                      </a:pPr>
                      <a:r>
                        <a:t>Prevent broad over-segmentation</a:t>
                      </a:r>
                    </a:p>
                  </a:txBody>
                  <a:tcPr marL="45720" marR="36576" marT="27432" marB="27432">
                    <a:solidFill>
                      <a:srgbClr val="EEF3F9"/>
                    </a:solidFill>
                  </a:tcPr>
                </a:tc>
                <a:tc>
                  <a:txBody>
                    <a:bodyPr/>
                    <a:lstStyle/>
                    <a:p>
                      <a:pPr algn="l">
                        <a:defRPr sz="980">
                          <a:solidFill>
                            <a:srgbClr val="1C2736"/>
                          </a:solidFill>
                          <a:latin typeface="Aptos"/>
                        </a:defRPr>
                      </a:pPr>
                      <a:r>
                        <a:t>Allow large true territories</a:t>
                      </a:r>
                    </a:p>
                  </a:txBody>
                  <a:tcPr marL="45720" marR="36576" marT="27432" marB="27432">
                    <a:solidFill>
                      <a:srgbClr val="EEF3F9"/>
                    </a:solidFill>
                  </a:tcPr>
                </a:tc>
                <a:extLst>
                  <a:ext uri="{0D108BD9-81ED-4DB2-BD59-A6C34878D82A}">
                    <a16:rowId xmlns:a16="http://schemas.microsoft.com/office/drawing/2014/main" val="10004"/>
                  </a:ext>
                </a:extLst>
              </a:tr>
              <a:tr h="620485">
                <a:tc>
                  <a:txBody>
                    <a:bodyPr/>
                    <a:lstStyle/>
                    <a:p>
                      <a:pPr algn="l">
                        <a:defRPr sz="980">
                          <a:solidFill>
                            <a:srgbClr val="1C2736"/>
                          </a:solidFill>
                          <a:latin typeface="Aptos"/>
                        </a:defRPr>
                      </a:pPr>
                      <a:r>
                        <a:t>Minimum mean posterior</a:t>
                      </a:r>
                    </a:p>
                  </a:txBody>
                  <a:tcPr marL="45720" marR="36576" marT="27432" marB="27432">
                    <a:solidFill>
                      <a:srgbClr val="FFFFFF"/>
                    </a:solidFill>
                  </a:tcPr>
                </a:tc>
                <a:tc>
                  <a:txBody>
                    <a:bodyPr/>
                    <a:lstStyle/>
                    <a:p>
                      <a:pPr algn="l">
                        <a:defRPr sz="980">
                          <a:solidFill>
                            <a:srgbClr val="1C2736"/>
                          </a:solidFill>
                          <a:latin typeface="Aptos"/>
                        </a:defRPr>
                      </a:pPr>
                      <a:r>
                        <a:t>Keep only confident probability maps</a:t>
                      </a:r>
                    </a:p>
                  </a:txBody>
                  <a:tcPr marL="45720" marR="36576" marT="27432" marB="27432">
                    <a:solidFill>
                      <a:srgbClr val="FFFFFF"/>
                    </a:solidFill>
                  </a:tcPr>
                </a:tc>
                <a:tc>
                  <a:txBody>
                    <a:bodyPr/>
                    <a:lstStyle/>
                    <a:p>
                      <a:pPr algn="l">
                        <a:defRPr sz="980">
                          <a:solidFill>
                            <a:srgbClr val="1C2736"/>
                          </a:solidFill>
                          <a:latin typeface="Aptos"/>
                        </a:defRPr>
                      </a:pPr>
                      <a:r>
                        <a:t>Accept weak but plausible probability maps</a:t>
                      </a:r>
                    </a:p>
                  </a:txBody>
                  <a:tcPr marL="45720" marR="36576" marT="27432" marB="27432">
                    <a:solidFill>
                      <a:srgbClr val="FFFFFF"/>
                    </a:solidFill>
                  </a:tcPr>
                </a:tc>
                <a:extLst>
                  <a:ext uri="{0D108BD9-81ED-4DB2-BD59-A6C34878D82A}">
                    <a16:rowId xmlns:a16="http://schemas.microsoft.com/office/drawing/2014/main" val="10005"/>
                  </a:ext>
                </a:extLst>
              </a:tr>
              <a:tr h="620490">
                <a:tc>
                  <a:txBody>
                    <a:bodyPr/>
                    <a:lstStyle/>
                    <a:p>
                      <a:pPr algn="l">
                        <a:defRPr sz="980">
                          <a:solidFill>
                            <a:srgbClr val="1C2736"/>
                          </a:solidFill>
                          <a:latin typeface="Aptos"/>
                        </a:defRPr>
                      </a:pPr>
                      <a:r>
                        <a:t>Probability threshold</a:t>
                      </a:r>
                    </a:p>
                  </a:txBody>
                  <a:tcPr marL="45720" marR="36576" marT="27432" marB="27432">
                    <a:solidFill>
                      <a:srgbClr val="EEF3F9"/>
                    </a:solidFill>
                  </a:tcPr>
                </a:tc>
                <a:tc>
                  <a:txBody>
                    <a:bodyPr/>
                    <a:lstStyle/>
                    <a:p>
                      <a:pPr algn="l">
                        <a:defRPr sz="980">
                          <a:solidFill>
                            <a:srgbClr val="1C2736"/>
                          </a:solidFill>
                          <a:latin typeface="Aptos"/>
                        </a:defRPr>
                      </a:pPr>
                      <a:r>
                        <a:t>Shrink/clean final masks</a:t>
                      </a:r>
                    </a:p>
                  </a:txBody>
                  <a:tcPr marL="45720" marR="36576" marT="27432" marB="27432">
                    <a:solidFill>
                      <a:srgbClr val="EEF3F9"/>
                    </a:solidFill>
                  </a:tcPr>
                </a:tc>
                <a:tc>
                  <a:txBody>
                    <a:bodyPr/>
                    <a:lstStyle/>
                    <a:p>
                      <a:pPr algn="l">
                        <a:defRPr sz="980">
                          <a:solidFill>
                            <a:srgbClr val="1C2736"/>
                          </a:solidFill>
                          <a:latin typeface="Aptos"/>
                        </a:defRPr>
                      </a:pPr>
                      <a:r>
                        <a:t>Expand masks and recover dim boundaries</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Connected-component selection: object-level cleanup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03520" cy="219456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After probability thresholding and optional refinement, the binary mask may contain multiple disconnected 3D objects.</a:t>
            </a:r>
          </a:p>
          <a:p>
            <a:pPr>
              <a:lnSpc>
                <a:spcPct val="105000"/>
              </a:lnSpc>
              <a:spcAft>
                <a:spcPts val="156"/>
              </a:spcAft>
              <a:defRPr sz="1450">
                <a:solidFill>
                  <a:srgbClr val="1C2736"/>
                </a:solidFill>
                <a:latin typeface="Aptos"/>
              </a:defRPr>
            </a:pPr>
            <a:r>
              <a:t>• Component selection decides which 3D objects are plausible arm territories.</a:t>
            </a:r>
          </a:p>
          <a:p>
            <a:pPr>
              <a:lnSpc>
                <a:spcPct val="105000"/>
              </a:lnSpc>
              <a:spcAft>
                <a:spcPts val="156"/>
              </a:spcAft>
              <a:defRPr sz="1450">
                <a:solidFill>
                  <a:srgbClr val="1C2736"/>
                </a:solidFill>
                <a:latin typeface="Aptos"/>
              </a:defRPr>
            </a:pPr>
            <a:r>
              <a:t>• This step does not refine voxel boundaries; it keeps or removes entire connected components.</a:t>
            </a:r>
          </a:p>
          <a:p>
            <a:pPr>
              <a:lnSpc>
                <a:spcPct val="105000"/>
              </a:lnSpc>
              <a:spcAft>
                <a:spcPts val="156"/>
              </a:spcAft>
              <a:defRPr sz="1450">
                <a:solidFill>
                  <a:srgbClr val="1C2736"/>
                </a:solidFill>
                <a:latin typeface="Aptos"/>
              </a:defRPr>
            </a:pPr>
            <a:r>
              <a:t>• Think of it as the final “object plausibility” filter.</a:t>
            </a:r>
          </a:p>
        </p:txBody>
      </p:sp>
      <p:graphicFrame>
        <p:nvGraphicFramePr>
          <p:cNvPr id="6" name="Table 5"/>
          <p:cNvGraphicFramePr>
            <a:graphicFrameLocks noGrp="1"/>
          </p:cNvGraphicFramePr>
          <p:nvPr/>
        </p:nvGraphicFramePr>
        <p:xfrm>
          <a:off x="6355080" y="1234440"/>
          <a:ext cx="5074919" cy="342900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74519">
                  <a:extLst>
                    <a:ext uri="{9D8B030D-6E8A-4147-A177-3AD203B41FA5}">
                      <a16:colId xmlns:a16="http://schemas.microsoft.com/office/drawing/2014/main" val="20002"/>
                    </a:ext>
                  </a:extLst>
                </a:gridCol>
              </a:tblGrid>
              <a:tr h="571500">
                <a:tc>
                  <a:txBody>
                    <a:bodyPr/>
                    <a:lstStyle/>
                    <a:p>
                      <a:pPr algn="l">
                        <a:defRPr sz="940">
                          <a:solidFill>
                            <a:srgbClr val="FFFFFF"/>
                          </a:solidFill>
                          <a:latin typeface="Aptos"/>
                        </a:defRPr>
                      </a:pPr>
                      <a:r>
                        <a:t>Mode</a:t>
                      </a:r>
                    </a:p>
                  </a:txBody>
                  <a:tcPr marL="45720" marR="36576" marT="27432" marB="27432">
                    <a:solidFill>
                      <a:srgbClr val="081F3A"/>
                    </a:solidFill>
                  </a:tcPr>
                </a:tc>
                <a:tc>
                  <a:txBody>
                    <a:bodyPr/>
                    <a:lstStyle/>
                    <a:p>
                      <a:pPr algn="l">
                        <a:defRPr sz="940">
                          <a:solidFill>
                            <a:srgbClr val="FFFFFF"/>
                          </a:solidFill>
                          <a:latin typeface="Aptos"/>
                        </a:defRPr>
                      </a:pPr>
                      <a:r>
                        <a:t>Behavior</a:t>
                      </a:r>
                    </a:p>
                  </a:txBody>
                  <a:tcPr marL="45720" marR="36576" marT="27432" marB="27432">
                    <a:solidFill>
                      <a:srgbClr val="081F3A"/>
                    </a:solidFill>
                  </a:tcPr>
                </a:tc>
                <a:tc>
                  <a:txBody>
                    <a:bodyPr/>
                    <a:lstStyle/>
                    <a:p>
                      <a:pPr algn="l">
                        <a:defRPr sz="940">
                          <a:solidFill>
                            <a:srgbClr val="FFFFFF"/>
                          </a:solidFill>
                          <a:latin typeface="Aptos"/>
                        </a:defRPr>
                      </a:pPr>
                      <a:r>
                        <a:t>When useful</a:t>
                      </a:r>
                    </a:p>
                  </a:txBody>
                  <a:tcPr marL="45720" marR="36576" marT="27432" marB="27432">
                    <a:solidFill>
                      <a:srgbClr val="081F3A"/>
                    </a:solidFill>
                  </a:tcPr>
                </a:tc>
                <a:extLst>
                  <a:ext uri="{0D108BD9-81ED-4DB2-BD59-A6C34878D82A}">
                    <a16:rowId xmlns:a16="http://schemas.microsoft.com/office/drawing/2014/main" val="10000"/>
                  </a:ext>
                </a:extLst>
              </a:tr>
              <a:tr h="571500">
                <a:tc>
                  <a:txBody>
                    <a:bodyPr/>
                    <a:lstStyle/>
                    <a:p>
                      <a:pPr algn="l">
                        <a:defRPr sz="890">
                          <a:solidFill>
                            <a:srgbClr val="1C2736"/>
                          </a:solidFill>
                          <a:latin typeface="Aptos"/>
                        </a:defRPr>
                      </a:pPr>
                      <a:r>
                        <a:t>none</a:t>
                      </a:r>
                    </a:p>
                  </a:txBody>
                  <a:tcPr marL="45720" marR="36576" marT="27432" marB="27432">
                    <a:solidFill>
                      <a:srgbClr val="FFFFFF"/>
                    </a:solidFill>
                  </a:tcPr>
                </a:tc>
                <a:tc>
                  <a:txBody>
                    <a:bodyPr/>
                    <a:lstStyle/>
                    <a:p>
                      <a:pPr algn="l">
                        <a:defRPr sz="890">
                          <a:solidFill>
                            <a:srgbClr val="1C2736"/>
                          </a:solidFill>
                          <a:latin typeface="Aptos"/>
                        </a:defRPr>
                      </a:pPr>
                      <a:r>
                        <a:t>Keeps all detected voxels</a:t>
                      </a:r>
                    </a:p>
                  </a:txBody>
                  <a:tcPr marL="45720" marR="36576" marT="27432" marB="27432">
                    <a:solidFill>
                      <a:srgbClr val="FFFFFF"/>
                    </a:solidFill>
                  </a:tcPr>
                </a:tc>
                <a:tc>
                  <a:txBody>
                    <a:bodyPr/>
                    <a:lstStyle/>
                    <a:p>
                      <a:pPr algn="l">
                        <a:defRPr sz="890">
                          <a:solidFill>
                            <a:srgbClr val="1C2736"/>
                          </a:solidFill>
                          <a:latin typeface="Aptos"/>
                        </a:defRPr>
                      </a:pPr>
                      <a:r>
                        <a:t>Debugging raw mask behavior</a:t>
                      </a:r>
                    </a:p>
                  </a:txBody>
                  <a:tcPr marL="45720" marR="36576" marT="27432" marB="27432">
                    <a:solidFill>
                      <a:srgbClr val="FFFFFF"/>
                    </a:solidFill>
                  </a:tcPr>
                </a:tc>
                <a:extLst>
                  <a:ext uri="{0D108BD9-81ED-4DB2-BD59-A6C34878D82A}">
                    <a16:rowId xmlns:a16="http://schemas.microsoft.com/office/drawing/2014/main" val="10001"/>
                  </a:ext>
                </a:extLst>
              </a:tr>
              <a:tr h="571500">
                <a:tc>
                  <a:txBody>
                    <a:bodyPr/>
                    <a:lstStyle/>
                    <a:p>
                      <a:pPr algn="l">
                        <a:defRPr sz="890">
                          <a:solidFill>
                            <a:srgbClr val="1C2736"/>
                          </a:solidFill>
                          <a:latin typeface="Aptos"/>
                        </a:defRPr>
                      </a:pPr>
                      <a:r>
                        <a:t>largest</a:t>
                      </a:r>
                    </a:p>
                  </a:txBody>
                  <a:tcPr marL="45720" marR="36576" marT="27432" marB="27432">
                    <a:solidFill>
                      <a:srgbClr val="EEF3F9"/>
                    </a:solidFill>
                  </a:tcPr>
                </a:tc>
                <a:tc>
                  <a:txBody>
                    <a:bodyPr/>
                    <a:lstStyle/>
                    <a:p>
                      <a:pPr algn="l">
                        <a:defRPr sz="890">
                          <a:solidFill>
                            <a:srgbClr val="1C2736"/>
                          </a:solidFill>
                          <a:latin typeface="Aptos"/>
                        </a:defRPr>
                      </a:pPr>
                      <a:r>
                        <a:t>Keeps largest component only</a:t>
                      </a:r>
                    </a:p>
                  </a:txBody>
                  <a:tcPr marL="45720" marR="36576" marT="27432" marB="27432">
                    <a:solidFill>
                      <a:srgbClr val="EEF3F9"/>
                    </a:solidFill>
                  </a:tcPr>
                </a:tc>
                <a:tc>
                  <a:txBody>
                    <a:bodyPr/>
                    <a:lstStyle/>
                    <a:p>
                      <a:pPr algn="l">
                        <a:defRPr sz="890">
                          <a:solidFill>
                            <a:srgbClr val="1C2736"/>
                          </a:solidFill>
                          <a:latin typeface="Aptos"/>
                        </a:defRPr>
                      </a:pPr>
                      <a:r>
                        <a:t>One compact territory expected</a:t>
                      </a:r>
                    </a:p>
                  </a:txBody>
                  <a:tcPr marL="45720" marR="36576" marT="27432" marB="27432">
                    <a:solidFill>
                      <a:srgbClr val="EEF3F9"/>
                    </a:solidFill>
                  </a:tcPr>
                </a:tc>
                <a:extLst>
                  <a:ext uri="{0D108BD9-81ED-4DB2-BD59-A6C34878D82A}">
                    <a16:rowId xmlns:a16="http://schemas.microsoft.com/office/drawing/2014/main" val="10002"/>
                  </a:ext>
                </a:extLst>
              </a:tr>
              <a:tr h="571500">
                <a:tc>
                  <a:txBody>
                    <a:bodyPr/>
                    <a:lstStyle/>
                    <a:p>
                      <a:pPr algn="l">
                        <a:defRPr sz="890">
                          <a:solidFill>
                            <a:srgbClr val="1C2736"/>
                          </a:solidFill>
                          <a:latin typeface="Aptos"/>
                        </a:defRPr>
                      </a:pPr>
                      <a:r>
                        <a:t>all_after_size_filter</a:t>
                      </a:r>
                    </a:p>
                  </a:txBody>
                  <a:tcPr marL="45720" marR="36576" marT="27432" marB="27432">
                    <a:solidFill>
                      <a:srgbClr val="FFFFFF"/>
                    </a:solidFill>
                  </a:tcPr>
                </a:tc>
                <a:tc>
                  <a:txBody>
                    <a:bodyPr/>
                    <a:lstStyle/>
                    <a:p>
                      <a:pPr algn="l">
                        <a:defRPr sz="890">
                          <a:solidFill>
                            <a:srgbClr val="1C2736"/>
                          </a:solidFill>
                          <a:latin typeface="Aptos"/>
                        </a:defRPr>
                      </a:pPr>
                      <a:r>
                        <a:t>Keeps components above minimum volume</a:t>
                      </a:r>
                    </a:p>
                  </a:txBody>
                  <a:tcPr marL="45720" marR="36576" marT="27432" marB="27432">
                    <a:solidFill>
                      <a:srgbClr val="FFFFFF"/>
                    </a:solidFill>
                  </a:tcPr>
                </a:tc>
                <a:tc>
                  <a:txBody>
                    <a:bodyPr/>
                    <a:lstStyle/>
                    <a:p>
                      <a:pPr algn="l">
                        <a:defRPr sz="890">
                          <a:solidFill>
                            <a:srgbClr val="1C2736"/>
                          </a:solidFill>
                          <a:latin typeface="Aptos"/>
                        </a:defRPr>
                      </a:pPr>
                      <a:r>
                        <a:t>Permissive multi-piece signal</a:t>
                      </a:r>
                    </a:p>
                  </a:txBody>
                  <a:tcPr marL="45720" marR="36576" marT="27432" marB="27432">
                    <a:solidFill>
                      <a:srgbClr val="FFFFFF"/>
                    </a:solidFill>
                  </a:tcPr>
                </a:tc>
                <a:extLst>
                  <a:ext uri="{0D108BD9-81ED-4DB2-BD59-A6C34878D82A}">
                    <a16:rowId xmlns:a16="http://schemas.microsoft.com/office/drawing/2014/main" val="10003"/>
                  </a:ext>
                </a:extLst>
              </a:tr>
              <a:tr h="571500">
                <a:tc>
                  <a:txBody>
                    <a:bodyPr/>
                    <a:lstStyle/>
                    <a:p>
                      <a:pPr algn="l">
                        <a:defRPr sz="890">
                          <a:solidFill>
                            <a:srgbClr val="1C2736"/>
                          </a:solidFill>
                          <a:latin typeface="Aptos"/>
                        </a:defRPr>
                      </a:pPr>
                      <a:r>
                        <a:t>best_score</a:t>
                      </a:r>
                    </a:p>
                  </a:txBody>
                  <a:tcPr marL="45720" marR="36576" marT="27432" marB="27432">
                    <a:solidFill>
                      <a:srgbClr val="EEF3F9"/>
                    </a:solidFill>
                  </a:tcPr>
                </a:tc>
                <a:tc>
                  <a:txBody>
                    <a:bodyPr/>
                    <a:lstStyle/>
                    <a:p>
                      <a:pPr algn="l">
                        <a:defRPr sz="890">
                          <a:solidFill>
                            <a:srgbClr val="1C2736"/>
                          </a:solidFill>
                          <a:latin typeface="Aptos"/>
                        </a:defRPr>
                      </a:pPr>
                      <a:r>
                        <a:t>Keeps highest-scoring object</a:t>
                      </a:r>
                    </a:p>
                  </a:txBody>
                  <a:tcPr marL="45720" marR="36576" marT="27432" marB="27432">
                    <a:solidFill>
                      <a:srgbClr val="EEF3F9"/>
                    </a:solidFill>
                  </a:tcPr>
                </a:tc>
                <a:tc>
                  <a:txBody>
                    <a:bodyPr/>
                    <a:lstStyle/>
                    <a:p>
                      <a:pPr algn="l">
                        <a:defRPr sz="890">
                          <a:solidFill>
                            <a:srgbClr val="1C2736"/>
                          </a:solidFill>
                          <a:latin typeface="Aptos"/>
                        </a:defRPr>
                      </a:pPr>
                      <a:r>
                        <a:t>Default when one main territory expected</a:t>
                      </a:r>
                    </a:p>
                  </a:txBody>
                  <a:tcPr marL="45720" marR="36576" marT="27432" marB="27432">
                    <a:solidFill>
                      <a:srgbClr val="EEF3F9"/>
                    </a:solidFill>
                  </a:tcPr>
                </a:tc>
                <a:extLst>
                  <a:ext uri="{0D108BD9-81ED-4DB2-BD59-A6C34878D82A}">
                    <a16:rowId xmlns:a16="http://schemas.microsoft.com/office/drawing/2014/main" val="10004"/>
                  </a:ext>
                </a:extLst>
              </a:tr>
              <a:tr h="571500">
                <a:tc>
                  <a:txBody>
                    <a:bodyPr/>
                    <a:lstStyle/>
                    <a:p>
                      <a:pPr algn="l">
                        <a:defRPr sz="890">
                          <a:solidFill>
                            <a:srgbClr val="1C2736"/>
                          </a:solidFill>
                          <a:latin typeface="Aptos"/>
                        </a:defRPr>
                      </a:pPr>
                      <a:r>
                        <a:t>all_passing_score</a:t>
                      </a:r>
                    </a:p>
                  </a:txBody>
                  <a:tcPr marL="45720" marR="36576" marT="27432" marB="27432">
                    <a:solidFill>
                      <a:srgbClr val="FFFFFF"/>
                    </a:solidFill>
                  </a:tcPr>
                </a:tc>
                <a:tc>
                  <a:txBody>
                    <a:bodyPr/>
                    <a:lstStyle/>
                    <a:p>
                      <a:pPr algn="l">
                        <a:defRPr sz="890">
                          <a:solidFill>
                            <a:srgbClr val="1C2736"/>
                          </a:solidFill>
                          <a:latin typeface="Aptos"/>
                        </a:defRPr>
                      </a:pPr>
                      <a:r>
                        <a:t>Keeps all objects above score threshold</a:t>
                      </a:r>
                    </a:p>
                  </a:txBody>
                  <a:tcPr marL="45720" marR="36576" marT="27432" marB="27432">
                    <a:solidFill>
                      <a:srgbClr val="FFFFFF"/>
                    </a:solidFill>
                  </a:tcPr>
                </a:tc>
                <a:tc>
                  <a:txBody>
                    <a:bodyPr/>
                    <a:lstStyle/>
                    <a:p>
                      <a:pPr algn="l">
                        <a:defRPr sz="890">
                          <a:solidFill>
                            <a:srgbClr val="1C2736"/>
                          </a:solidFill>
                          <a:latin typeface="Aptos"/>
                        </a:defRPr>
                      </a:pPr>
                      <a:r>
                        <a:t>True signal may be fragmented</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914400" y="5166360"/>
            <a:ext cx="10332720" cy="59436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257800"/>
            <a:ext cx="10113264" cy="429768"/>
          </a:xfrm>
          <a:prstGeom prst="rect">
            <a:avLst/>
          </a:prstGeom>
          <a:noFill/>
        </p:spPr>
        <p:txBody>
          <a:bodyPr wrap="none" lIns="18288" tIns="18288" rIns="18288" bIns="18288" anchor="ctr">
            <a:spAutoFit/>
          </a:bodyPr>
          <a:lstStyle/>
          <a:p>
            <a:r>
              <a:rPr sz="1400" b="1" i="0">
                <a:solidFill>
                  <a:srgbClr val="FFFFFF"/>
                </a:solidFill>
                <a:latin typeface="Aptos"/>
              </a:rPr>
              <a:t>MRF/CRF fixes shape. Component selection chooses objects.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COMPONENT SELECTION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probability + contrast + volume − boundary penalty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2914650" y="1234440"/>
            <a:ext cx="6240780" cy="822960"/>
          </a:xfrm>
          <a:prstGeom prst="rect">
            <a:avLst/>
          </a:prstGeom>
        </p:spPr>
      </p:pic>
      <p:graphicFrame>
        <p:nvGraphicFramePr>
          <p:cNvPr id="6" name="Table 5"/>
          <p:cNvGraphicFramePr>
            <a:graphicFrameLocks noGrp="1"/>
          </p:cNvGraphicFramePr>
          <p:nvPr/>
        </p:nvGraphicFramePr>
        <p:xfrm>
          <a:off x="822960" y="2331720"/>
          <a:ext cx="10515600" cy="2880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76072">
                <a:tc>
                  <a:txBody>
                    <a:bodyPr/>
                    <a:lstStyle/>
                    <a:p>
                      <a:pPr algn="l">
                        <a:defRPr sz="1070">
                          <a:solidFill>
                            <a:srgbClr val="FFFFFF"/>
                          </a:solidFill>
                          <a:latin typeface="Aptos"/>
                        </a:defRPr>
                      </a:pPr>
                      <a:r>
                        <a:t>Term</a:t>
                      </a:r>
                    </a:p>
                  </a:txBody>
                  <a:tcPr marL="45720" marR="36576" marT="27432" marB="27432">
                    <a:solidFill>
                      <a:srgbClr val="081F3A"/>
                    </a:solidFill>
                  </a:tcPr>
                </a:tc>
                <a:tc>
                  <a:txBody>
                    <a:bodyPr/>
                    <a:lstStyle/>
                    <a:p>
                      <a:pPr algn="l">
                        <a:defRPr sz="1070">
                          <a:solidFill>
                            <a:srgbClr val="FFFFFF"/>
                          </a:solidFill>
                          <a:latin typeface="Aptos"/>
                        </a:defRPr>
                      </a:pPr>
                      <a:r>
                        <a:t>Meaning</a:t>
                      </a:r>
                    </a:p>
                  </a:txBody>
                  <a:tcPr marL="45720" marR="36576" marT="27432" marB="27432">
                    <a:solidFill>
                      <a:srgbClr val="081F3A"/>
                    </a:solidFill>
                  </a:tcPr>
                </a:tc>
                <a:tc>
                  <a:txBody>
                    <a:bodyPr/>
                    <a:lstStyle/>
                    <a:p>
                      <a:pPr algn="l">
                        <a:defRPr sz="1070">
                          <a:solidFill>
                            <a:srgbClr val="FFFFFF"/>
                          </a:solidFill>
                          <a:latin typeface="Aptos"/>
                        </a:defRPr>
                      </a:pPr>
                      <a:r>
                        <a:t>Higher weight favors…</a:t>
                      </a:r>
                    </a:p>
                  </a:txBody>
                  <a:tcPr marL="45720" marR="36576" marT="27432" marB="27432">
                    <a:solidFill>
                      <a:srgbClr val="081F3A"/>
                    </a:solidFill>
                  </a:tcPr>
                </a:tc>
                <a:extLst>
                  <a:ext uri="{0D108BD9-81ED-4DB2-BD59-A6C34878D82A}">
                    <a16:rowId xmlns:a16="http://schemas.microsoft.com/office/drawing/2014/main" val="10000"/>
                  </a:ext>
                </a:extLst>
              </a:tr>
              <a:tr h="576072">
                <a:tc>
                  <a:txBody>
                    <a:bodyPr/>
                    <a:lstStyle/>
                    <a:p>
                      <a:pPr algn="l">
                        <a:defRPr sz="1019">
                          <a:solidFill>
                            <a:srgbClr val="1C2736"/>
                          </a:solidFill>
                          <a:latin typeface="Aptos"/>
                        </a:defRPr>
                      </a:pPr>
                      <a:r>
                        <a:t>wₚ mean probability</a:t>
                      </a:r>
                    </a:p>
                  </a:txBody>
                  <a:tcPr marL="45720" marR="36576" marT="27432" marB="27432">
                    <a:solidFill>
                      <a:srgbClr val="FFFFFF"/>
                    </a:solidFill>
                  </a:tcPr>
                </a:tc>
                <a:tc>
                  <a:txBody>
                    <a:bodyPr/>
                    <a:lstStyle/>
                    <a:p>
                      <a:pPr algn="l">
                        <a:defRPr sz="1019">
                          <a:solidFill>
                            <a:srgbClr val="1C2736"/>
                          </a:solidFill>
                          <a:latin typeface="Aptos"/>
                        </a:defRPr>
                      </a:pPr>
                      <a:r>
                        <a:t>Average GMM signal probability inside component</a:t>
                      </a:r>
                    </a:p>
                  </a:txBody>
                  <a:tcPr marL="45720" marR="36576" marT="27432" marB="27432">
                    <a:solidFill>
                      <a:srgbClr val="FFFFFF"/>
                    </a:solidFill>
                  </a:tcPr>
                </a:tc>
                <a:tc>
                  <a:txBody>
                    <a:bodyPr/>
                    <a:lstStyle/>
                    <a:p>
                      <a:pPr algn="l">
                        <a:defRPr sz="1019">
                          <a:solidFill>
                            <a:srgbClr val="1C2736"/>
                          </a:solidFill>
                          <a:latin typeface="Aptos"/>
                        </a:defRPr>
                      </a:pPr>
                      <a:r>
                        <a:t>High-confidence components</a:t>
                      </a:r>
                    </a:p>
                  </a:txBody>
                  <a:tcPr marL="45720" marR="36576" marT="27432" marB="27432">
                    <a:solidFill>
                      <a:srgbClr val="FFFFFF"/>
                    </a:solidFill>
                  </a:tcPr>
                </a:tc>
                <a:extLst>
                  <a:ext uri="{0D108BD9-81ED-4DB2-BD59-A6C34878D82A}">
                    <a16:rowId xmlns:a16="http://schemas.microsoft.com/office/drawing/2014/main" val="10001"/>
                  </a:ext>
                </a:extLst>
              </a:tr>
              <a:tr h="576072">
                <a:tc>
                  <a:txBody>
                    <a:bodyPr/>
                    <a:lstStyle/>
                    <a:p>
                      <a:pPr algn="l">
                        <a:defRPr sz="1019">
                          <a:solidFill>
                            <a:srgbClr val="1C2736"/>
                          </a:solidFill>
                          <a:latin typeface="Aptos"/>
                        </a:defRPr>
                      </a:pPr>
                      <a:r>
                        <a:t>w꜀ contrast</a:t>
                      </a:r>
                    </a:p>
                  </a:txBody>
                  <a:tcPr marL="45720" marR="36576" marT="27432" marB="27432">
                    <a:solidFill>
                      <a:srgbClr val="EEF3F9"/>
                    </a:solidFill>
                  </a:tcPr>
                </a:tc>
                <a:tc>
                  <a:txBody>
                    <a:bodyPr/>
                    <a:lstStyle/>
                    <a:p>
                      <a:pPr algn="l">
                        <a:defRPr sz="1019">
                          <a:solidFill>
                            <a:srgbClr val="1C2736"/>
                          </a:solidFill>
                          <a:latin typeface="Aptos"/>
                        </a:defRPr>
                      </a:pPr>
                      <a:r>
                        <a:t>Component brightness relative to nearby surroundings</a:t>
                      </a:r>
                    </a:p>
                  </a:txBody>
                  <a:tcPr marL="45720" marR="36576" marT="27432" marB="27432">
                    <a:solidFill>
                      <a:srgbClr val="EEF3F9"/>
                    </a:solidFill>
                  </a:tcPr>
                </a:tc>
                <a:tc>
                  <a:txBody>
                    <a:bodyPr/>
                    <a:lstStyle/>
                    <a:p>
                      <a:pPr algn="l">
                        <a:defRPr sz="1019">
                          <a:solidFill>
                            <a:srgbClr val="1C2736"/>
                          </a:solidFill>
                          <a:latin typeface="Aptos"/>
                        </a:defRPr>
                      </a:pPr>
                      <a:r>
                        <a:t>Locally distinct signal rather than background gradients</a:t>
                      </a:r>
                    </a:p>
                  </a:txBody>
                  <a:tcPr marL="45720" marR="36576" marT="27432" marB="27432">
                    <a:solidFill>
                      <a:srgbClr val="EEF3F9"/>
                    </a:solidFill>
                  </a:tcPr>
                </a:tc>
                <a:extLst>
                  <a:ext uri="{0D108BD9-81ED-4DB2-BD59-A6C34878D82A}">
                    <a16:rowId xmlns:a16="http://schemas.microsoft.com/office/drawing/2014/main" val="10002"/>
                  </a:ext>
                </a:extLst>
              </a:tr>
              <a:tr h="576072">
                <a:tc>
                  <a:txBody>
                    <a:bodyPr/>
                    <a:lstStyle/>
                    <a:p>
                      <a:pPr algn="l">
                        <a:defRPr sz="1019">
                          <a:solidFill>
                            <a:srgbClr val="1C2736"/>
                          </a:solidFill>
                          <a:latin typeface="Aptos"/>
                        </a:defRPr>
                      </a:pPr>
                      <a:r>
                        <a:t>wᵥ volume</a:t>
                      </a:r>
                    </a:p>
                  </a:txBody>
                  <a:tcPr marL="45720" marR="36576" marT="27432" marB="27432">
                    <a:solidFill>
                      <a:srgbClr val="FFFFFF"/>
                    </a:solidFill>
                  </a:tcPr>
                </a:tc>
                <a:tc>
                  <a:txBody>
                    <a:bodyPr/>
                    <a:lstStyle/>
                    <a:p>
                      <a:pPr algn="l">
                        <a:defRPr sz="1019">
                          <a:solidFill>
                            <a:srgbClr val="1C2736"/>
                          </a:solidFill>
                          <a:latin typeface="Aptos"/>
                        </a:defRPr>
                      </a:pPr>
                      <a:r>
                        <a:t>Component size relative to minimum allowed volume</a:t>
                      </a:r>
                    </a:p>
                  </a:txBody>
                  <a:tcPr marL="45720" marR="36576" marT="27432" marB="27432">
                    <a:solidFill>
                      <a:srgbClr val="FFFFFF"/>
                    </a:solidFill>
                  </a:tcPr>
                </a:tc>
                <a:tc>
                  <a:txBody>
                    <a:bodyPr/>
                    <a:lstStyle/>
                    <a:p>
                      <a:pPr algn="l">
                        <a:defRPr sz="1019">
                          <a:solidFill>
                            <a:srgbClr val="1C2736"/>
                          </a:solidFill>
                          <a:latin typeface="Aptos"/>
                        </a:defRPr>
                      </a:pPr>
                      <a:r>
                        <a:t>Larger coherent territories over specks</a:t>
                      </a:r>
                    </a:p>
                  </a:txBody>
                  <a:tcPr marL="45720" marR="36576" marT="27432" marB="27432">
                    <a:solidFill>
                      <a:srgbClr val="FFFFFF"/>
                    </a:solidFill>
                  </a:tcPr>
                </a:tc>
                <a:extLst>
                  <a:ext uri="{0D108BD9-81ED-4DB2-BD59-A6C34878D82A}">
                    <a16:rowId xmlns:a16="http://schemas.microsoft.com/office/drawing/2014/main" val="10003"/>
                  </a:ext>
                </a:extLst>
              </a:tr>
              <a:tr h="576072">
                <a:tc>
                  <a:txBody>
                    <a:bodyPr/>
                    <a:lstStyle/>
                    <a:p>
                      <a:pPr algn="l">
                        <a:defRPr sz="1019">
                          <a:solidFill>
                            <a:srgbClr val="1C2736"/>
                          </a:solidFill>
                          <a:latin typeface="Aptos"/>
                        </a:defRPr>
                      </a:pPr>
                      <a:r>
                        <a:t>wᵦ boundary penalty</a:t>
                      </a:r>
                    </a:p>
                  </a:txBody>
                  <a:tcPr marL="45720" marR="36576" marT="27432" marB="27432">
                    <a:solidFill>
                      <a:srgbClr val="EEF3F9"/>
                    </a:solidFill>
                  </a:tcPr>
                </a:tc>
                <a:tc>
                  <a:txBody>
                    <a:bodyPr/>
                    <a:lstStyle/>
                    <a:p>
                      <a:pPr algn="l">
                        <a:defRPr sz="1019">
                          <a:solidFill>
                            <a:srgbClr val="1C2736"/>
                          </a:solidFill>
                          <a:latin typeface="Aptos"/>
                        </a:defRPr>
                      </a:pPr>
                      <a:r>
                        <a:t>Irregularity / jagged boundary-like shape</a:t>
                      </a:r>
                    </a:p>
                  </a:txBody>
                  <a:tcPr marL="45720" marR="36576" marT="27432" marB="27432">
                    <a:solidFill>
                      <a:srgbClr val="EEF3F9"/>
                    </a:solidFill>
                  </a:tcPr>
                </a:tc>
                <a:tc>
                  <a:txBody>
                    <a:bodyPr/>
                    <a:lstStyle/>
                    <a:p>
                      <a:pPr algn="l">
                        <a:defRPr sz="1019">
                          <a:solidFill>
                            <a:srgbClr val="1C2736"/>
                          </a:solidFill>
                          <a:latin typeface="Aptos"/>
                        </a:defRPr>
                      </a:pPr>
                      <a:r>
                        <a:t>Smooth plausible components; penalizes speckled pieces</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914400" y="5596128"/>
            <a:ext cx="10332720" cy="47548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8" y="5687568"/>
            <a:ext cx="10113264" cy="310896"/>
          </a:xfrm>
          <a:prstGeom prst="rect">
            <a:avLst/>
          </a:prstGeom>
          <a:noFill/>
        </p:spPr>
        <p:txBody>
          <a:bodyPr wrap="none" lIns="18288" tIns="18288" rIns="18288" bIns="18288" anchor="ctr">
            <a:spAutoFit/>
          </a:bodyPr>
          <a:lstStyle/>
          <a:p>
            <a:r>
              <a:rPr sz="1180" b="1" i="0">
                <a:solidFill>
                  <a:srgbClr val="FFFFFF"/>
                </a:solidFill>
                <a:latin typeface="Aptos"/>
              </a:rPr>
              <a:t>If a false component is kept, increase score threshold, contrast weight, volume weight, or boundary penalty depending on the failure mode.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METHOD 3</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refinement: boundary smoothing with edge protection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39496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MRF = Markov Random Field: neighboring voxels tend to have similar labels.</a:t>
            </a:r>
          </a:p>
          <a:p>
            <a:pPr>
              <a:lnSpc>
                <a:spcPct val="105000"/>
              </a:lnSpc>
              <a:spcAft>
                <a:spcPts val="156"/>
              </a:spcAft>
              <a:defRPr sz="1450">
                <a:solidFill>
                  <a:srgbClr val="1C2736"/>
                </a:solidFill>
                <a:latin typeface="Aptos"/>
              </a:defRPr>
            </a:pPr>
            <a:r>
              <a:t>• CRF = Conditional Random Field: the amount of smoothing depends on the image; strong intensity edges reduce smoothing.</a:t>
            </a:r>
          </a:p>
          <a:p>
            <a:pPr>
              <a:lnSpc>
                <a:spcPct val="105000"/>
              </a:lnSpc>
              <a:spcAft>
                <a:spcPts val="156"/>
              </a:spcAft>
              <a:defRPr sz="1450">
                <a:solidFill>
                  <a:srgbClr val="1C2736"/>
                </a:solidFill>
                <a:latin typeface="Aptos"/>
              </a:defRPr>
            </a:pPr>
            <a:r>
              <a:t>• The plugin uses this as a deterministic refinement step after GMM probabilities.</a:t>
            </a:r>
          </a:p>
          <a:p>
            <a:pPr>
              <a:lnSpc>
                <a:spcPct val="105000"/>
              </a:lnSpc>
              <a:spcAft>
                <a:spcPts val="156"/>
              </a:spcAft>
              <a:defRPr sz="1450">
                <a:solidFill>
                  <a:srgbClr val="1C2736"/>
                </a:solidFill>
                <a:latin typeface="Aptos"/>
              </a:defRPr>
            </a:pPr>
            <a:r>
              <a:t>• It is best when the upgraded GMM finds the correct region but the boundary is ragged, speckled, or slightly fragmented.</a:t>
            </a:r>
          </a:p>
        </p:txBody>
      </p:sp>
      <p:pic>
        <p:nvPicPr>
          <p:cNvPr id="6" name="Picture 5" descr="mrf_energy.png"/>
          <p:cNvPicPr>
            <a:picLocks noChangeAspect="1"/>
          </p:cNvPicPr>
          <p:nvPr/>
        </p:nvPicPr>
        <p:blipFill>
          <a:blip r:embed="rId2"/>
          <a:stretch>
            <a:fillRect/>
          </a:stretch>
        </p:blipFill>
        <p:spPr>
          <a:xfrm>
            <a:off x="6400800" y="1337184"/>
            <a:ext cx="5029200" cy="663191"/>
          </a:xfrm>
          <a:prstGeom prst="rect">
            <a:avLst/>
          </a:prstGeom>
        </p:spPr>
      </p:pic>
      <p:pic>
        <p:nvPicPr>
          <p:cNvPr id="7" name="Picture 6" descr="mrf_update.png"/>
          <p:cNvPicPr>
            <a:picLocks noChangeAspect="1"/>
          </p:cNvPicPr>
          <p:nvPr/>
        </p:nvPicPr>
        <p:blipFill>
          <a:blip r:embed="rId3"/>
          <a:stretch>
            <a:fillRect/>
          </a:stretch>
        </p:blipFill>
        <p:spPr>
          <a:xfrm>
            <a:off x="6400800" y="2343024"/>
            <a:ext cx="5029200" cy="663191"/>
          </a:xfrm>
          <a:prstGeom prst="rect">
            <a:avLst/>
          </a:prstGeom>
        </p:spPr>
      </p:pic>
      <p:sp>
        <p:nvSpPr>
          <p:cNvPr id="8" name="Rounded Rectangle 7"/>
          <p:cNvSpPr/>
          <p:nvPr/>
        </p:nvSpPr>
        <p:spPr>
          <a:xfrm>
            <a:off x="6400800" y="3429000"/>
            <a:ext cx="5029200" cy="105156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400800" y="3429000"/>
            <a:ext cx="73152" cy="105156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47104" y="3538728"/>
            <a:ext cx="480060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1" name="TextBox 10"/>
          <p:cNvSpPr txBox="1"/>
          <p:nvPr/>
        </p:nvSpPr>
        <p:spPr>
          <a:xfrm>
            <a:off x="6547104" y="3904487"/>
            <a:ext cx="4700016" cy="421654"/>
          </a:xfrm>
          <a:prstGeom prst="rect">
            <a:avLst/>
          </a:prstGeom>
          <a:noFill/>
        </p:spPr>
        <p:txBody>
          <a:bodyPr wrap="square" lIns="18288" tIns="18288" rIns="18288" bIns="18288">
            <a:spAutoFit/>
          </a:bodyPr>
          <a:lstStyle/>
          <a:p>
            <a:r>
              <a:rPr sz="1250" b="0" i="0" dirty="0">
                <a:solidFill>
                  <a:srgbClr val="1C2736"/>
                </a:solidFill>
                <a:latin typeface="Aptos"/>
              </a:rPr>
              <a:t>Final voxel decision = GMM probability evidence + neighborhood support − resistance from image edges.</a:t>
            </a:r>
          </a:p>
        </p:txBody>
      </p:sp>
      <p:sp>
        <p:nvSpPr>
          <p:cNvPr id="12" name="Rounded Rectangle 11"/>
          <p:cNvSpPr/>
          <p:nvPr/>
        </p:nvSpPr>
        <p:spPr>
          <a:xfrm>
            <a:off x="914400" y="5257800"/>
            <a:ext cx="103327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24128" y="5349240"/>
            <a:ext cx="10113264" cy="384048"/>
          </a:xfrm>
          <a:prstGeom prst="rect">
            <a:avLst/>
          </a:prstGeom>
          <a:noFill/>
        </p:spPr>
        <p:txBody>
          <a:bodyPr wrap="none" lIns="18288" tIns="18288" rIns="18288" bIns="18288" anchor="ctr">
            <a:spAutoFit/>
          </a:bodyPr>
          <a:lstStyle/>
          <a:p>
            <a:r>
              <a:rPr sz="1300" b="1" i="0">
                <a:solidFill>
                  <a:srgbClr val="FFFFFF"/>
                </a:solidFill>
                <a:latin typeface="Aptos"/>
              </a:rPr>
              <a:t>Use MRF/CRF after the intensity model is mostly correct—not as a substitute for correct channels and thresholds.</a:t>
            </a:r>
          </a:p>
        </p:txBody>
      </p:sp>
      <p:sp>
        <p:nvSpPr>
          <p:cNvPr id="14" name="TextBox 1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5" name="TextBox 1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MRF/CRF</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parameters: how they affect boundaries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10881360" cy="30175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25196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603504">
                <a:tc>
                  <a:txBody>
                    <a:bodyPr/>
                    <a:lstStyle/>
                    <a:p>
                      <a:pPr algn="l">
                        <a:defRPr sz="1100">
                          <a:solidFill>
                            <a:srgbClr val="FFFFFF"/>
                          </a:solidFill>
                          <a:latin typeface="Aptos"/>
                        </a:defRPr>
                      </a:pPr>
                      <a:r>
                        <a:t>Parameter</a:t>
                      </a:r>
                    </a:p>
                  </a:txBody>
                  <a:tcPr marL="45720" marR="36576" marT="27432" marB="27432">
                    <a:solidFill>
                      <a:srgbClr val="081F3A"/>
                    </a:solidFill>
                  </a:tcPr>
                </a:tc>
                <a:tc>
                  <a:txBody>
                    <a:bodyPr/>
                    <a:lstStyle/>
                    <a:p>
                      <a:pPr algn="l">
                        <a:defRPr sz="1100">
                          <a:solidFill>
                            <a:srgbClr val="FFFFFF"/>
                          </a:solidFill>
                          <a:latin typeface="Aptos"/>
                        </a:defRPr>
                      </a:pPr>
                      <a:r>
                        <a:t>Higher value does…</a:t>
                      </a:r>
                    </a:p>
                  </a:txBody>
                  <a:tcPr marL="45720" marR="36576" marT="27432" marB="27432">
                    <a:solidFill>
                      <a:srgbClr val="081F3A"/>
                    </a:solidFill>
                  </a:tcPr>
                </a:tc>
                <a:tc>
                  <a:txBody>
                    <a:bodyPr/>
                    <a:lstStyle/>
                    <a:p>
                      <a:pPr algn="l">
                        <a:defRPr sz="1100">
                          <a:solidFill>
                            <a:srgbClr val="FFFFFF"/>
                          </a:solidFill>
                          <a:latin typeface="Aptos"/>
                        </a:defRPr>
                      </a:pPr>
                      <a:r>
                        <a:t>Risk if too high</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50">
                          <a:solidFill>
                            <a:srgbClr val="1C2736"/>
                          </a:solidFill>
                          <a:latin typeface="Aptos"/>
                        </a:defRPr>
                      </a:pPr>
                      <a:r>
                        <a:t>MRF iterations</a:t>
                      </a:r>
                    </a:p>
                  </a:txBody>
                  <a:tcPr marL="45720" marR="36576" marT="27432" marB="27432">
                    <a:solidFill>
                      <a:srgbClr val="FFFFFF"/>
                    </a:solidFill>
                  </a:tcPr>
                </a:tc>
                <a:tc>
                  <a:txBody>
                    <a:bodyPr/>
                    <a:lstStyle/>
                    <a:p>
                      <a:pPr algn="l">
                        <a:defRPr sz="1050">
                          <a:solidFill>
                            <a:srgbClr val="1C2736"/>
                          </a:solidFill>
                          <a:latin typeface="Aptos"/>
                        </a:defRPr>
                      </a:pPr>
                      <a:r>
                        <a:t>Repeats neighborhood refinement more times</a:t>
                      </a:r>
                    </a:p>
                  </a:txBody>
                  <a:tcPr marL="45720" marR="36576" marT="27432" marB="27432">
                    <a:solidFill>
                      <a:srgbClr val="FFFFFF"/>
                    </a:solidFill>
                  </a:tcPr>
                </a:tc>
                <a:tc>
                  <a:txBody>
                    <a:bodyPr/>
                    <a:lstStyle/>
                    <a:p>
                      <a:pPr algn="l">
                        <a:defRPr sz="1050">
                          <a:solidFill>
                            <a:srgbClr val="1C2736"/>
                          </a:solidFill>
                          <a:latin typeface="Aptos"/>
                        </a:defRPr>
                      </a:pPr>
                      <a:r>
                        <a:t>Over-smoothing, over-expansion, slower analysis</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50">
                          <a:solidFill>
                            <a:srgbClr val="1C2736"/>
                          </a:solidFill>
                          <a:latin typeface="Aptos"/>
                        </a:defRPr>
                      </a:pPr>
                      <a:r>
                        <a:t>MRF lambda</a:t>
                      </a:r>
                    </a:p>
                  </a:txBody>
                  <a:tcPr marL="45720" marR="36576" marT="27432" marB="27432">
                    <a:solidFill>
                      <a:srgbClr val="EEF3F9"/>
                    </a:solidFill>
                  </a:tcPr>
                </a:tc>
                <a:tc>
                  <a:txBody>
                    <a:bodyPr/>
                    <a:lstStyle/>
                    <a:p>
                      <a:pPr algn="l">
                        <a:defRPr sz="1050">
                          <a:solidFill>
                            <a:srgbClr val="1C2736"/>
                          </a:solidFill>
                          <a:latin typeface="Aptos"/>
                        </a:defRPr>
                      </a:pPr>
                      <a:r>
                        <a:t>Increases neighbor agreement strength</a:t>
                      </a:r>
                    </a:p>
                  </a:txBody>
                  <a:tcPr marL="45720" marR="36576" marT="27432" marB="27432">
                    <a:solidFill>
                      <a:srgbClr val="EEF3F9"/>
                    </a:solidFill>
                  </a:tcPr>
                </a:tc>
                <a:tc>
                  <a:txBody>
                    <a:bodyPr/>
                    <a:lstStyle/>
                    <a:p>
                      <a:pPr algn="l">
                        <a:defRPr sz="1050">
                          <a:solidFill>
                            <a:srgbClr val="1C2736"/>
                          </a:solidFill>
                          <a:latin typeface="Aptos"/>
                        </a:defRPr>
                      </a:pPr>
                      <a:r>
                        <a:t>Pulls background into the mask or merges nearby objects</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50">
                          <a:solidFill>
                            <a:srgbClr val="1C2736"/>
                          </a:solidFill>
                          <a:latin typeface="Aptos"/>
                        </a:defRPr>
                      </a:pPr>
                      <a:r>
                        <a:t>MRF edge sigma</a:t>
                      </a:r>
                    </a:p>
                  </a:txBody>
                  <a:tcPr marL="45720" marR="36576" marT="27432" marB="27432">
                    <a:solidFill>
                      <a:srgbClr val="FFFFFF"/>
                    </a:solidFill>
                  </a:tcPr>
                </a:tc>
                <a:tc>
                  <a:txBody>
                    <a:bodyPr/>
                    <a:lstStyle/>
                    <a:p>
                      <a:pPr algn="l">
                        <a:defRPr sz="1050">
                          <a:solidFill>
                            <a:srgbClr val="1C2736"/>
                          </a:solidFill>
                          <a:latin typeface="Aptos"/>
                        </a:defRPr>
                      </a:pPr>
                      <a:r>
                        <a:t>Allows smoothing across weaker intensity edges</a:t>
                      </a:r>
                    </a:p>
                  </a:txBody>
                  <a:tcPr marL="45720" marR="36576" marT="27432" marB="27432">
                    <a:solidFill>
                      <a:srgbClr val="FFFFFF"/>
                    </a:solidFill>
                  </a:tcPr>
                </a:tc>
                <a:tc>
                  <a:txBody>
                    <a:bodyPr/>
                    <a:lstStyle/>
                    <a:p>
                      <a:pPr algn="l">
                        <a:defRPr sz="1050">
                          <a:solidFill>
                            <a:srgbClr val="1C2736"/>
                          </a:solidFill>
                          <a:latin typeface="Aptos"/>
                        </a:defRPr>
                      </a:pPr>
                      <a:r>
                        <a:t>Leaks across real boundaries if too permissive</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50">
                          <a:solidFill>
                            <a:srgbClr val="1C2736"/>
                          </a:solidFill>
                          <a:latin typeface="Aptos"/>
                        </a:defRPr>
                      </a:pPr>
                      <a:r>
                        <a:t>Probability threshold</a:t>
                      </a:r>
                    </a:p>
                  </a:txBody>
                  <a:tcPr marL="45720" marR="36576" marT="27432" marB="27432">
                    <a:solidFill>
                      <a:srgbClr val="EEF3F9"/>
                    </a:solidFill>
                  </a:tcPr>
                </a:tc>
                <a:tc>
                  <a:txBody>
                    <a:bodyPr/>
                    <a:lstStyle/>
                    <a:p>
                      <a:pPr algn="l">
                        <a:defRPr sz="1050">
                          <a:solidFill>
                            <a:srgbClr val="1C2736"/>
                          </a:solidFill>
                          <a:latin typeface="Aptos"/>
                        </a:defRPr>
                      </a:pPr>
                      <a:r>
                        <a:t>Sets the starting mask before refinement</a:t>
                      </a:r>
                    </a:p>
                  </a:txBody>
                  <a:tcPr marL="45720" marR="36576" marT="27432" marB="27432">
                    <a:solidFill>
                      <a:srgbClr val="EEF3F9"/>
                    </a:solidFill>
                  </a:tcPr>
                </a:tc>
                <a:tc>
                  <a:txBody>
                    <a:bodyPr/>
                    <a:lstStyle/>
                    <a:p>
                      <a:pPr algn="l">
                        <a:defRPr sz="1050">
                          <a:solidFill>
                            <a:srgbClr val="1C2736"/>
                          </a:solidFill>
                          <a:latin typeface="Aptos"/>
                        </a:defRPr>
                      </a:pPr>
                      <a:r>
                        <a:t>Too high removes signal before refinement; too low seeds background</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22960" y="4709160"/>
            <a:ext cx="10424160" cy="11430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If background is added next to the arm: increase probability threshold; decrease lambda, edge sigma, or iterations.</a:t>
            </a:r>
          </a:p>
          <a:p>
            <a:pPr>
              <a:lnSpc>
                <a:spcPct val="105000"/>
              </a:lnSpc>
              <a:spcAft>
                <a:spcPts val="156"/>
              </a:spcAft>
              <a:defRPr sz="1380">
                <a:solidFill>
                  <a:srgbClr val="1C2736"/>
                </a:solidFill>
                <a:latin typeface="Aptos"/>
              </a:defRPr>
            </a:pPr>
            <a:r>
              <a:t>• If true signal remains fragmented: slightly decrease probability threshold; increase lambda or iterations gently; consider all_passing_score.</a:t>
            </a:r>
          </a:p>
          <a:p>
            <a:pPr>
              <a:lnSpc>
                <a:spcPct val="105000"/>
              </a:lnSpc>
              <a:spcAft>
                <a:spcPts val="156"/>
              </a:spcAft>
              <a:defRPr sz="1380">
                <a:solidFill>
                  <a:srgbClr val="1C2736"/>
                </a:solidFill>
                <a:latin typeface="Aptos"/>
              </a:defRPr>
            </a:pPr>
            <a:r>
              <a:t>• If boundaries look too smooth or too round: decrease lambda or iterations.</a:t>
            </a: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BOUNDARY CLEANUP</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Optional smoothing and binary morphology: use carefully</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4008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234440"/>
            <a:ext cx="73152" cy="16002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86384" y="1344168"/>
            <a:ext cx="3246120" cy="320040"/>
          </a:xfrm>
          <a:prstGeom prst="rect">
            <a:avLst/>
          </a:prstGeom>
          <a:noFill/>
        </p:spPr>
        <p:txBody>
          <a:bodyPr wrap="none" lIns="18288" tIns="18288" rIns="18288" bIns="18288">
            <a:spAutoFit/>
          </a:bodyPr>
          <a:lstStyle/>
          <a:p>
            <a:r>
              <a:rPr sz="1500" b="1" i="0">
                <a:solidFill>
                  <a:srgbClr val="081F3A"/>
                </a:solidFill>
                <a:latin typeface="Aptos"/>
              </a:rPr>
              <a:t>Arm Gaussian smoothing sigma</a:t>
            </a:r>
          </a:p>
        </p:txBody>
      </p:sp>
      <p:sp>
        <p:nvSpPr>
          <p:cNvPr id="8" name="TextBox 7"/>
          <p:cNvSpPr txBox="1"/>
          <p:nvPr/>
        </p:nvSpPr>
        <p:spPr>
          <a:xfrm>
            <a:off x="786384" y="1709928"/>
            <a:ext cx="3172966" cy="614014"/>
          </a:xfrm>
          <a:prstGeom prst="rect">
            <a:avLst/>
          </a:prstGeom>
          <a:noFill/>
        </p:spPr>
        <p:txBody>
          <a:bodyPr wrap="square" lIns="18288" tIns="18288" rIns="18288" bIns="18288">
            <a:spAutoFit/>
          </a:bodyPr>
          <a:lstStyle/>
          <a:p>
            <a:r>
              <a:rPr sz="1250" b="0" i="0">
                <a:solidFill>
                  <a:srgbClr val="1C2736"/>
                </a:solidFill>
                <a:latin typeface="Aptos"/>
              </a:rPr>
              <a:t>Smooths raw P/Q intensity before modeling. Helps speckle; can blur true boundaries and merge nearby signal.</a:t>
            </a:r>
          </a:p>
        </p:txBody>
      </p:sp>
      <p:sp>
        <p:nvSpPr>
          <p:cNvPr id="9" name="Rounded Rectangle 8"/>
          <p:cNvSpPr/>
          <p:nvPr/>
        </p:nvSpPr>
        <p:spPr>
          <a:xfrm>
            <a:off x="434340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234440"/>
            <a:ext cx="73152" cy="16002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8970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opening radius</a:t>
            </a:r>
          </a:p>
        </p:txBody>
      </p:sp>
      <p:sp>
        <p:nvSpPr>
          <p:cNvPr id="12" name="TextBox 11"/>
          <p:cNvSpPr txBox="1"/>
          <p:nvPr/>
        </p:nvSpPr>
        <p:spPr>
          <a:xfrm>
            <a:off x="4489704" y="1709928"/>
            <a:ext cx="3172968" cy="614014"/>
          </a:xfrm>
          <a:prstGeom prst="rect">
            <a:avLst/>
          </a:prstGeom>
          <a:noFill/>
        </p:spPr>
        <p:txBody>
          <a:bodyPr wrap="square" lIns="18288" tIns="18288" rIns="18288" bIns="18288">
            <a:spAutoFit/>
          </a:bodyPr>
          <a:lstStyle/>
          <a:p>
            <a:r>
              <a:rPr sz="1250" b="0" i="0" dirty="0">
                <a:solidFill>
                  <a:srgbClr val="1C2736"/>
                </a:solidFill>
                <a:latin typeface="Aptos"/>
              </a:rPr>
              <a:t>Removes small objects and thin protrusions after detection. Good for specks; can delete small true fragments.</a:t>
            </a:r>
          </a:p>
        </p:txBody>
      </p:sp>
      <p:sp>
        <p:nvSpPr>
          <p:cNvPr id="13" name="Rounded Rectangle 12"/>
          <p:cNvSpPr/>
          <p:nvPr/>
        </p:nvSpPr>
        <p:spPr>
          <a:xfrm>
            <a:off x="8046720" y="1234440"/>
            <a:ext cx="3474720" cy="16002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046720" y="1234440"/>
            <a:ext cx="73152" cy="16002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93024" y="1344168"/>
            <a:ext cx="3246120" cy="320040"/>
          </a:xfrm>
          <a:prstGeom prst="rect">
            <a:avLst/>
          </a:prstGeom>
          <a:noFill/>
        </p:spPr>
        <p:txBody>
          <a:bodyPr wrap="none" lIns="18288" tIns="18288" rIns="18288" bIns="18288">
            <a:spAutoFit/>
          </a:bodyPr>
          <a:lstStyle/>
          <a:p>
            <a:r>
              <a:rPr sz="1500" b="1" i="0">
                <a:solidFill>
                  <a:srgbClr val="081F3A"/>
                </a:solidFill>
                <a:latin typeface="Aptos"/>
              </a:rPr>
              <a:t>Binary closing radius</a:t>
            </a:r>
          </a:p>
        </p:txBody>
      </p:sp>
      <p:sp>
        <p:nvSpPr>
          <p:cNvPr id="16" name="TextBox 15"/>
          <p:cNvSpPr txBox="1"/>
          <p:nvPr/>
        </p:nvSpPr>
        <p:spPr>
          <a:xfrm>
            <a:off x="8193024" y="1709928"/>
            <a:ext cx="3282696" cy="614014"/>
          </a:xfrm>
          <a:prstGeom prst="rect">
            <a:avLst/>
          </a:prstGeom>
          <a:noFill/>
        </p:spPr>
        <p:txBody>
          <a:bodyPr wrap="square" lIns="18288" tIns="18288" rIns="18288" bIns="18288">
            <a:spAutoFit/>
          </a:bodyPr>
          <a:lstStyle/>
          <a:p>
            <a:r>
              <a:rPr sz="1250" b="0" i="0" dirty="0">
                <a:solidFill>
                  <a:srgbClr val="1C2736"/>
                </a:solidFill>
                <a:latin typeface="Aptos"/>
              </a:rPr>
              <a:t>Fills small holes and bridges small gaps. Good for fragmented signal; can attach background adjacent to the arm.</a:t>
            </a:r>
          </a:p>
        </p:txBody>
      </p:sp>
      <p:sp>
        <p:nvSpPr>
          <p:cNvPr id="17" name="TextBox 16"/>
          <p:cNvSpPr txBox="1"/>
          <p:nvPr/>
        </p:nvSpPr>
        <p:spPr>
          <a:xfrm>
            <a:off x="914400" y="3657600"/>
            <a:ext cx="10241280" cy="1463040"/>
          </a:xfrm>
          <a:prstGeom prst="rect">
            <a:avLst/>
          </a:prstGeom>
          <a:noFill/>
        </p:spPr>
        <p:txBody>
          <a:bodyPr wrap="square" lIns="73152" tIns="18288" rIns="45720" bIns="18288">
            <a:spAutoFit/>
          </a:bodyPr>
          <a:lstStyle/>
          <a:p>
            <a:pPr>
              <a:lnSpc>
                <a:spcPct val="105000"/>
              </a:lnSpc>
              <a:spcAft>
                <a:spcPts val="156"/>
              </a:spcAft>
              <a:defRPr sz="1500">
                <a:solidFill>
                  <a:srgbClr val="1C2736"/>
                </a:solidFill>
                <a:latin typeface="Aptos"/>
              </a:defRPr>
            </a:pPr>
            <a:r>
              <a:t>• Binary morphology is not intensity-aware: it changes masks based only on shape and adjacency.</a:t>
            </a:r>
          </a:p>
          <a:p>
            <a:pPr>
              <a:lnSpc>
                <a:spcPct val="105000"/>
              </a:lnSpc>
              <a:spcAft>
                <a:spcPts val="156"/>
              </a:spcAft>
              <a:defRPr sz="1500">
                <a:solidFill>
                  <a:srgbClr val="1C2736"/>
                </a:solidFill>
                <a:latin typeface="Aptos"/>
              </a:defRPr>
            </a:pPr>
            <a:r>
              <a:t>• When background is added because it touches the arm, reduce binary closing or turn morphology off.</a:t>
            </a:r>
          </a:p>
          <a:p>
            <a:pPr>
              <a:lnSpc>
                <a:spcPct val="105000"/>
              </a:lnSpc>
              <a:spcAft>
                <a:spcPts val="156"/>
              </a:spcAft>
              <a:defRPr sz="1500">
                <a:solidFill>
                  <a:srgbClr val="1C2736"/>
                </a:solidFill>
                <a:latin typeface="Aptos"/>
              </a:defRPr>
            </a:pPr>
            <a:r>
              <a:t>• Use MRF/CRF when the desired cleanup should respect intensity boundaries.</a:t>
            </a:r>
          </a:p>
        </p:txBody>
      </p:sp>
      <p:sp>
        <p:nvSpPr>
          <p:cNvPr id="18" name="Rounded Rectangle 17"/>
          <p:cNvSpPr/>
          <p:nvPr/>
        </p:nvSpPr>
        <p:spPr>
          <a:xfrm>
            <a:off x="1143000" y="5486400"/>
            <a:ext cx="9875520" cy="50292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52728" y="5577840"/>
            <a:ext cx="9656064" cy="338328"/>
          </a:xfrm>
          <a:prstGeom prst="rect">
            <a:avLst/>
          </a:prstGeom>
          <a:noFill/>
        </p:spPr>
        <p:txBody>
          <a:bodyPr wrap="none" lIns="18288" tIns="18288" rIns="18288" bIns="18288" anchor="ctr">
            <a:spAutoFit/>
          </a:bodyPr>
          <a:lstStyle/>
          <a:p>
            <a:r>
              <a:rPr sz="1250" b="1" i="0">
                <a:solidFill>
                  <a:srgbClr val="FFFFFF"/>
                </a:solidFill>
                <a:latin typeface="Aptos"/>
              </a:rPr>
              <a:t>Practical default: keep morphology off unless a specific defect remains after tuning probability and component selection.</a:t>
            </a:r>
          </a:p>
        </p:txBody>
      </p:sp>
      <p:sp>
        <p:nvSpPr>
          <p:cNvPr id="20" name="TextBox 1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21" name="TextBox 2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 STRATEGY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Choosing the best method during a live demo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94360" y="1234440"/>
          <a:ext cx="11018519" cy="4069080"/>
        </p:xfrm>
        <a:graphic>
          <a:graphicData uri="http://schemas.openxmlformats.org/drawingml/2006/table">
            <a:tbl>
              <a:tblPr firstRow="1" bandRow="1">
                <a:tableStyleId>{5C22544A-7EE6-4342-B048-85BDC9FD1C3A}</a:tableStyleId>
              </a:tblPr>
              <a:tblGrid>
                <a:gridCol w="40233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77639">
                  <a:extLst>
                    <a:ext uri="{9D8B030D-6E8A-4147-A177-3AD203B41FA5}">
                      <a16:colId xmlns:a16="http://schemas.microsoft.com/office/drawing/2014/main" val="20002"/>
                    </a:ext>
                  </a:extLst>
                </a:gridCol>
              </a:tblGrid>
              <a:tr h="678180">
                <a:tc>
                  <a:txBody>
                    <a:bodyPr/>
                    <a:lstStyle/>
                    <a:p>
                      <a:pPr algn="l">
                        <a:defRPr sz="1100">
                          <a:solidFill>
                            <a:srgbClr val="FFFFFF"/>
                          </a:solidFill>
                          <a:latin typeface="Aptos"/>
                        </a:defRPr>
                      </a:pPr>
                      <a:r>
                        <a:t>Situation</a:t>
                      </a:r>
                    </a:p>
                  </a:txBody>
                  <a:tcPr marL="45720" marR="36576" marT="27432" marB="27432">
                    <a:solidFill>
                      <a:srgbClr val="081F3A"/>
                    </a:solidFill>
                  </a:tcPr>
                </a:tc>
                <a:tc>
                  <a:txBody>
                    <a:bodyPr/>
                    <a:lstStyle/>
                    <a:p>
                      <a:pPr algn="l">
                        <a:defRPr sz="1100">
                          <a:solidFill>
                            <a:srgbClr val="FFFFFF"/>
                          </a:solidFill>
                          <a:latin typeface="Aptos"/>
                        </a:defRPr>
                      </a:pPr>
                      <a:r>
                        <a:t>Method to show</a:t>
                      </a:r>
                    </a:p>
                  </a:txBody>
                  <a:tcPr marL="45720" marR="36576" marT="27432" marB="27432">
                    <a:solidFill>
                      <a:srgbClr val="081F3A"/>
                    </a:solidFill>
                  </a:tcPr>
                </a:tc>
                <a:tc>
                  <a:txBody>
                    <a:bodyPr/>
                    <a:lstStyle/>
                    <a:p>
                      <a:pPr algn="l">
                        <a:defRPr sz="110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78180">
                <a:tc>
                  <a:txBody>
                    <a:bodyPr/>
                    <a:lstStyle/>
                    <a:p>
                      <a:pPr algn="l">
                        <a:defRPr sz="1050">
                          <a:solidFill>
                            <a:srgbClr val="1C2736"/>
                          </a:solidFill>
                          <a:latin typeface="Aptos"/>
                        </a:defRPr>
                      </a:pPr>
                      <a:r>
                        <a:t>Clean bright signal; quick baseline</a:t>
                      </a:r>
                    </a:p>
                  </a:txBody>
                  <a:tcPr marL="45720" marR="36576" marT="27432" marB="27432">
                    <a:solidFill>
                      <a:srgbClr val="FFFFFF"/>
                    </a:solidFill>
                  </a:tcPr>
                </a:tc>
                <a:tc>
                  <a:txBody>
                    <a:bodyPr/>
                    <a:lstStyle/>
                    <a:p>
                      <a:pPr algn="l">
                        <a:defRPr sz="1050">
                          <a:solidFill>
                            <a:srgbClr val="1C2736"/>
                          </a:solidFill>
                          <a:latin typeface="Aptos"/>
                        </a:defRPr>
                      </a:pPr>
                      <a:r>
                        <a:t>Legacy 1D GMM</a:t>
                      </a:r>
                    </a:p>
                  </a:txBody>
                  <a:tcPr marL="45720" marR="36576" marT="27432" marB="27432">
                    <a:solidFill>
                      <a:srgbClr val="FFFFFF"/>
                    </a:solidFill>
                  </a:tcPr>
                </a:tc>
                <a:tc>
                  <a:txBody>
                    <a:bodyPr/>
                    <a:lstStyle/>
                    <a:p>
                      <a:pPr algn="l">
                        <a:defRPr sz="1050">
                          <a:solidFill>
                            <a:srgbClr val="1C2736"/>
                          </a:solidFill>
                          <a:latin typeface="Aptos"/>
                        </a:defRPr>
                      </a:pPr>
                      <a:r>
                        <a:t>Demonstrates intensity-only segmentation</a:t>
                      </a:r>
                    </a:p>
                  </a:txBody>
                  <a:tcPr marL="45720" marR="36576" marT="27432" marB="27432">
                    <a:solidFill>
                      <a:srgbClr val="FFFFFF"/>
                    </a:solidFill>
                  </a:tcPr>
                </a:tc>
                <a:extLst>
                  <a:ext uri="{0D108BD9-81ED-4DB2-BD59-A6C34878D82A}">
                    <a16:rowId xmlns:a16="http://schemas.microsoft.com/office/drawing/2014/main" val="10001"/>
                  </a:ext>
                </a:extLst>
              </a:tr>
              <a:tr h="678180">
                <a:tc>
                  <a:txBody>
                    <a:bodyPr/>
                    <a:lstStyle/>
                    <a:p>
                      <a:pPr algn="l">
                        <a:defRPr sz="1050">
                          <a:solidFill>
                            <a:srgbClr val="1C2736"/>
                          </a:solidFill>
                          <a:latin typeface="Aptos"/>
                        </a:defRPr>
                      </a:pPr>
                      <a:r>
                        <a:t>Mixed strong/weak/no-signal nuclei</a:t>
                      </a:r>
                    </a:p>
                  </a:txBody>
                  <a:tcPr marL="45720" marR="36576" marT="27432" marB="27432">
                    <a:solidFill>
                      <a:srgbClr val="EEF3F9"/>
                    </a:solidFill>
                  </a:tcPr>
                </a:tc>
                <a:tc>
                  <a:txBody>
                    <a:bodyPr/>
                    <a:lstStyle/>
                    <a:p>
                      <a:pPr algn="l">
                        <a:defRPr sz="1050">
                          <a:solidFill>
                            <a:srgbClr val="1C2736"/>
                          </a:solidFill>
                          <a:latin typeface="Aptos"/>
                        </a:defRPr>
                      </a:pPr>
                      <a:r>
                        <a:t>Upgraded GMM + gate + scoring</a:t>
                      </a:r>
                    </a:p>
                  </a:txBody>
                  <a:tcPr marL="45720" marR="36576" marT="27432" marB="27432">
                    <a:solidFill>
                      <a:srgbClr val="EEF3F9"/>
                    </a:solidFill>
                  </a:tcPr>
                </a:tc>
                <a:tc>
                  <a:txBody>
                    <a:bodyPr/>
                    <a:lstStyle/>
                    <a:p>
                      <a:pPr algn="l">
                        <a:defRPr sz="1050">
                          <a:solidFill>
                            <a:srgbClr val="1C2736"/>
                          </a:solidFill>
                          <a:latin typeface="Aptos"/>
                        </a:defRPr>
                      </a:pPr>
                      <a:r>
                        <a:t>Rejects false positives and scores objects</a:t>
                      </a:r>
                    </a:p>
                  </a:txBody>
                  <a:tcPr marL="45720" marR="36576" marT="27432" marB="27432">
                    <a:solidFill>
                      <a:srgbClr val="EEF3F9"/>
                    </a:solidFill>
                  </a:tcPr>
                </a:tc>
                <a:extLst>
                  <a:ext uri="{0D108BD9-81ED-4DB2-BD59-A6C34878D82A}">
                    <a16:rowId xmlns:a16="http://schemas.microsoft.com/office/drawing/2014/main" val="10002"/>
                  </a:ext>
                </a:extLst>
              </a:tr>
              <a:tr h="678180">
                <a:tc>
                  <a:txBody>
                    <a:bodyPr/>
                    <a:lstStyle/>
                    <a:p>
                      <a:pPr algn="l">
                        <a:defRPr sz="1050">
                          <a:solidFill>
                            <a:srgbClr val="1C2736"/>
                          </a:solidFill>
                          <a:latin typeface="Aptos"/>
                        </a:defRPr>
                      </a:pPr>
                      <a:r>
                        <a:t>Good approximate masks but rough boundaries</a:t>
                      </a:r>
                    </a:p>
                  </a:txBody>
                  <a:tcPr marL="45720" marR="36576" marT="27432" marB="27432">
                    <a:solidFill>
                      <a:srgbClr val="FFFFFF"/>
                    </a:solidFill>
                  </a:tcPr>
                </a:tc>
                <a:tc>
                  <a:txBody>
                    <a:bodyPr/>
                    <a:lstStyle/>
                    <a:p>
                      <a:pPr algn="l">
                        <a:defRPr sz="1050">
                          <a:solidFill>
                            <a:srgbClr val="1C2736"/>
                          </a:solidFill>
                          <a:latin typeface="Aptos"/>
                        </a:defRPr>
                      </a:pPr>
                      <a:r>
                        <a:t>MRF/CRF refinement</a:t>
                      </a:r>
                    </a:p>
                  </a:txBody>
                  <a:tcPr marL="45720" marR="36576" marT="27432" marB="27432">
                    <a:solidFill>
                      <a:srgbClr val="FFFFFF"/>
                    </a:solidFill>
                  </a:tcPr>
                </a:tc>
                <a:tc>
                  <a:txBody>
                    <a:bodyPr/>
                    <a:lstStyle/>
                    <a:p>
                      <a:pPr algn="l">
                        <a:defRPr sz="1050">
                          <a:solidFill>
                            <a:srgbClr val="1C2736"/>
                          </a:solidFill>
                          <a:latin typeface="Aptos"/>
                        </a:defRPr>
                      </a:pPr>
                      <a:r>
                        <a:t>Uses neighbor context while respecting intensity edges</a:t>
                      </a:r>
                    </a:p>
                  </a:txBody>
                  <a:tcPr marL="45720" marR="36576" marT="27432" marB="27432">
                    <a:solidFill>
                      <a:srgbClr val="FFFFFF"/>
                    </a:solidFill>
                  </a:tcPr>
                </a:tc>
                <a:extLst>
                  <a:ext uri="{0D108BD9-81ED-4DB2-BD59-A6C34878D82A}">
                    <a16:rowId xmlns:a16="http://schemas.microsoft.com/office/drawing/2014/main" val="10003"/>
                  </a:ext>
                </a:extLst>
              </a:tr>
              <a:tr h="678180">
                <a:tc>
                  <a:txBody>
                    <a:bodyPr/>
                    <a:lstStyle/>
                    <a:p>
                      <a:pPr algn="l">
                        <a:defRPr sz="1050">
                          <a:solidFill>
                            <a:srgbClr val="1C2736"/>
                          </a:solidFill>
                          <a:latin typeface="Aptos"/>
                        </a:defRPr>
                      </a:pPr>
                      <a:r>
                        <a:t>Many tiny false dots</a:t>
                      </a:r>
                    </a:p>
                  </a:txBody>
                  <a:tcPr marL="45720" marR="36576" marT="27432" marB="27432">
                    <a:solidFill>
                      <a:srgbClr val="EEF3F9"/>
                    </a:solidFill>
                  </a:tcPr>
                </a:tc>
                <a:tc>
                  <a:txBody>
                    <a:bodyPr/>
                    <a:lstStyle/>
                    <a:p>
                      <a:pPr algn="l">
                        <a:defRPr sz="1050">
                          <a:solidFill>
                            <a:srgbClr val="1C2736"/>
                          </a:solidFill>
                          <a:latin typeface="Aptos"/>
                        </a:defRPr>
                      </a:pPr>
                      <a:r>
                        <a:t>Upgraded or MRF + stricter component selection</a:t>
                      </a:r>
                    </a:p>
                  </a:txBody>
                  <a:tcPr marL="45720" marR="36576" marT="27432" marB="27432">
                    <a:solidFill>
                      <a:srgbClr val="EEF3F9"/>
                    </a:solidFill>
                  </a:tcPr>
                </a:tc>
                <a:tc>
                  <a:txBody>
                    <a:bodyPr/>
                    <a:lstStyle/>
                    <a:p>
                      <a:pPr algn="l">
                        <a:defRPr sz="1050">
                          <a:solidFill>
                            <a:srgbClr val="1C2736"/>
                          </a:solidFill>
                          <a:latin typeface="Aptos"/>
                        </a:defRPr>
                      </a:pPr>
                      <a:r>
                        <a:t>Object-level filtering removes specks</a:t>
                      </a:r>
                    </a:p>
                  </a:txBody>
                  <a:tcPr marL="45720" marR="36576" marT="27432" marB="27432">
                    <a:solidFill>
                      <a:srgbClr val="EEF3F9"/>
                    </a:solidFill>
                  </a:tcPr>
                </a:tc>
                <a:extLst>
                  <a:ext uri="{0D108BD9-81ED-4DB2-BD59-A6C34878D82A}">
                    <a16:rowId xmlns:a16="http://schemas.microsoft.com/office/drawing/2014/main" val="10004"/>
                  </a:ext>
                </a:extLst>
              </a:tr>
              <a:tr h="678180">
                <a:tc>
                  <a:txBody>
                    <a:bodyPr/>
                    <a:lstStyle/>
                    <a:p>
                      <a:pPr algn="l">
                        <a:defRPr sz="1050">
                          <a:solidFill>
                            <a:srgbClr val="1C2736"/>
                          </a:solidFill>
                          <a:latin typeface="Aptos"/>
                        </a:defRPr>
                      </a:pPr>
                      <a:r>
                        <a:t>True arm is split into multiple pieces</a:t>
                      </a:r>
                    </a:p>
                  </a:txBody>
                  <a:tcPr marL="45720" marR="36576" marT="27432" marB="27432">
                    <a:solidFill>
                      <a:srgbClr val="FFFFFF"/>
                    </a:solidFill>
                  </a:tcPr>
                </a:tc>
                <a:tc>
                  <a:txBody>
                    <a:bodyPr/>
                    <a:lstStyle/>
                    <a:p>
                      <a:pPr algn="l">
                        <a:defRPr sz="1050">
                          <a:solidFill>
                            <a:srgbClr val="1C2736"/>
                          </a:solidFill>
                          <a:latin typeface="Aptos"/>
                        </a:defRPr>
                      </a:pPr>
                      <a:r>
                        <a:t>all_passing_score component mode</a:t>
                      </a:r>
                    </a:p>
                  </a:txBody>
                  <a:tcPr marL="45720" marR="36576" marT="27432" marB="27432">
                    <a:solidFill>
                      <a:srgbClr val="FFFFFF"/>
                    </a:solidFill>
                  </a:tcPr>
                </a:tc>
                <a:tc>
                  <a:txBody>
                    <a:bodyPr/>
                    <a:lstStyle/>
                    <a:p>
                      <a:pPr algn="l">
                        <a:defRPr sz="1050">
                          <a:solidFill>
                            <a:srgbClr val="1C2736"/>
                          </a:solidFill>
                          <a:latin typeface="Aptos"/>
                        </a:defRPr>
                      </a:pPr>
                      <a:r>
                        <a:t>Allows more than one plausible component</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33172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Measurements and mathematical definitions</a:t>
            </a:r>
          </a:p>
        </p:txBody>
      </p:sp>
      <p:sp>
        <p:nvSpPr>
          <p:cNvPr id="3" name="TextBox 2"/>
          <p:cNvSpPr txBox="1"/>
          <p:nvPr/>
        </p:nvSpPr>
        <p:spPr>
          <a:xfrm>
            <a:off x="1280160" y="3063240"/>
            <a:ext cx="9601200" cy="457200"/>
          </a:xfrm>
          <a:prstGeom prst="rect">
            <a:avLst/>
          </a:prstGeom>
          <a:noFill/>
        </p:spPr>
        <p:txBody>
          <a:bodyPr wrap="none" lIns="18288" tIns="18288" rIns="18288" bIns="18288">
            <a:spAutoFit/>
          </a:bodyPr>
          <a:lstStyle/>
          <a:p>
            <a:pPr algn="ctr"/>
            <a:r>
              <a:rPr sz="1600" b="0" i="0">
                <a:solidFill>
                  <a:srgbClr val="D2E6F5"/>
                </a:solidFill>
                <a:latin typeface="Aptos"/>
              </a:rPr>
              <a:t>What the CSV columns and plots mean</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Measurements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Volume and fraction measurements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731520" y="1239715"/>
            <a:ext cx="5120640" cy="675249"/>
          </a:xfrm>
          <a:prstGeom prst="rect">
            <a:avLst/>
          </a:prstGeom>
        </p:spPr>
      </p:pic>
      <p:pic>
        <p:nvPicPr>
          <p:cNvPr id="6" name="Picture 5" descr="overlap.png"/>
          <p:cNvPicPr>
            <a:picLocks noChangeAspect="1"/>
          </p:cNvPicPr>
          <p:nvPr/>
        </p:nvPicPr>
        <p:blipFill>
          <a:blip r:embed="rId3"/>
          <a:stretch>
            <a:fillRect/>
          </a:stretch>
        </p:blipFill>
        <p:spPr>
          <a:xfrm>
            <a:off x="731520" y="2108395"/>
            <a:ext cx="5120640" cy="675249"/>
          </a:xfrm>
          <a:prstGeom prst="rect">
            <a:avLst/>
          </a:prstGeom>
        </p:spPr>
      </p:pic>
      <p:sp>
        <p:nvSpPr>
          <p:cNvPr id="7" name="TextBox 6"/>
          <p:cNvSpPr txBox="1"/>
          <p:nvPr/>
        </p:nvSpPr>
        <p:spPr>
          <a:xfrm>
            <a:off x="6400800" y="1234440"/>
            <a:ext cx="5029200" cy="256032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rPr sz="1600"/>
              <a:t>• nucleus_volume_um3, p_volume_um3, q_volume_um3, and pq_overlap_volume_um3 are physical volumes.</a:t>
            </a:r>
          </a:p>
          <a:p>
            <a:pPr/>
            <a:r>
              <a:rPr sz="1600"/>
              <a:t>• p_fraction_of_nucleus = P-arm volume / nucleus volume.</a:t>
            </a:r>
          </a:p>
          <a:p>
            <a:pPr/>
            <a:r>
              <a:rPr sz="1600"/>
              <a:t>• q_fraction_of_nucleus = Q-arm volume / nucleus volume.</a:t>
            </a:r>
          </a:p>
          <a:p>
            <a:pPr/>
            <a:r>
              <a:rPr sz="1600"/>
              <a:t>• p_fish_signal_count and q_fish_signal_count report how many final retained 3D P or Q signal compartments are present in that nucleus.</a:t>
            </a:r>
          </a:p>
          <a:p>
            <a:pPr/>
            <a:r>
              <a:rPr sz="1600"/>
              <a:t>• pq_overlap_fraction_of_p and pq_overlap_fraction_of_q answer different questions when P and Q sizes differ.</a:t>
            </a:r>
          </a:p>
        </p:txBody>
      </p:sp>
      <p:sp>
        <p:nvSpPr>
          <p:cNvPr id="8" name="Rounded Rectangle 7"/>
          <p:cNvSpPr/>
          <p:nvPr/>
        </p:nvSpPr>
        <p:spPr>
          <a:xfrm>
            <a:off x="914400" y="4297680"/>
            <a:ext cx="10241280" cy="10058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4400" y="4297680"/>
            <a:ext cx="73152" cy="10058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0704" y="4407408"/>
            <a:ext cx="10012680" cy="320040"/>
          </a:xfrm>
          <a:prstGeom prst="rect">
            <a:avLst/>
          </a:prstGeom>
          <a:noFill/>
        </p:spPr>
        <p:txBody>
          <a:bodyPr wrap="none" lIns="18288" tIns="18288" rIns="18288" bIns="18288">
            <a:spAutoFit/>
          </a:bodyPr>
          <a:lstStyle/>
          <a:p>
            <a:r>
              <a:rPr sz="1500" b="1" i="0">
                <a:solidFill>
                  <a:srgbClr val="081F3A"/>
                </a:solidFill>
                <a:latin typeface="Aptos"/>
              </a:rPr>
              <a:t>Why normalize?</a:t>
            </a:r>
          </a:p>
        </p:txBody>
      </p:sp>
      <p:sp>
        <p:nvSpPr>
          <p:cNvPr id="11" name="TextBox 10"/>
          <p:cNvSpPr txBox="1"/>
          <p:nvPr/>
        </p:nvSpPr>
        <p:spPr>
          <a:xfrm>
            <a:off x="1060704" y="4773168"/>
            <a:ext cx="10012680" cy="438912"/>
          </a:xfrm>
          <a:prstGeom prst="rect">
            <a:avLst/>
          </a:prstGeom>
          <a:noFill/>
        </p:spPr>
        <p:txBody>
          <a:bodyPr wrap="none" lIns="18288" tIns="18288" rIns="18288" bIns="18288">
            <a:spAutoFit/>
          </a:bodyPr>
          <a:lstStyle/>
          <a:p>
            <a:r>
              <a:rPr sz="1250" b="0" i="0">
                <a:solidFill>
                  <a:srgbClr val="1C2736"/>
                </a:solidFill>
                <a:latin typeface="Aptos"/>
              </a:rPr>
              <a:t>Fractions account for differences in nucleus size and arm-mask size, making cell-to-cell comparisons more interpretable than raw volumes alone.</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P/Q spatial relationship: centroid distance, edge distance, and contact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distance.png"/>
          <p:cNvPicPr>
            <a:picLocks noChangeAspect="1"/>
          </p:cNvPicPr>
          <p:nvPr/>
        </p:nvPicPr>
        <p:blipFill>
          <a:blip r:embed="rId2"/>
          <a:stretch>
            <a:fillRect/>
          </a:stretch>
        </p:blipFill>
        <p:spPr>
          <a:xfrm>
            <a:off x="874394" y="1234440"/>
            <a:ext cx="5200650" cy="685800"/>
          </a:xfrm>
          <a:prstGeom prst="rect">
            <a:avLst/>
          </a:prstGeom>
        </p:spPr>
      </p:pic>
      <p:sp>
        <p:nvSpPr>
          <p:cNvPr id="6" name="TextBox 5"/>
          <p:cNvSpPr txBox="1"/>
          <p:nvPr/>
        </p:nvSpPr>
        <p:spPr>
          <a:xfrm>
            <a:off x="868680" y="2286000"/>
            <a:ext cx="5303520" cy="233172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Centroid distance uses the physical 3D centers of P and Q masks.</a:t>
            </a:r>
          </a:p>
          <a:p>
            <a:pPr>
              <a:lnSpc>
                <a:spcPct val="105000"/>
              </a:lnSpc>
              <a:spcAft>
                <a:spcPts val="156"/>
              </a:spcAft>
              <a:defRPr sz="1450">
                <a:solidFill>
                  <a:srgbClr val="1C2736"/>
                </a:solidFill>
                <a:latin typeface="Aptos"/>
              </a:defRPr>
            </a:pPr>
            <a:r>
              <a:t>• Minimum edge distance is the shortest physical distance between P and Q boundary voxels.</a:t>
            </a:r>
          </a:p>
          <a:p>
            <a:pPr>
              <a:lnSpc>
                <a:spcPct val="105000"/>
              </a:lnSpc>
              <a:spcAft>
                <a:spcPts val="156"/>
              </a:spcAft>
              <a:defRPr sz="1450">
                <a:solidFill>
                  <a:srgbClr val="1C2736"/>
                </a:solidFill>
                <a:latin typeface="Aptos"/>
              </a:defRPr>
            </a:pPr>
            <a:r>
              <a:t>• Contact is binary: 1 if P and Q touch/overlap after the chosen contact dilation radius; 0 otherwise.</a:t>
            </a:r>
          </a:p>
          <a:p>
            <a:pPr>
              <a:lnSpc>
                <a:spcPct val="105000"/>
              </a:lnSpc>
              <a:spcAft>
                <a:spcPts val="156"/>
              </a:spcAft>
              <a:defRPr sz="1450">
                <a:solidFill>
                  <a:srgbClr val="1C2736"/>
                </a:solidFill>
                <a:latin typeface="Aptos"/>
              </a:defRPr>
            </a:pPr>
            <a:r>
              <a:t>• Contact frequency is the mean of pq_contact across nuclei.</a:t>
            </a:r>
          </a:p>
        </p:txBody>
      </p:sp>
      <p:pic>
        <p:nvPicPr>
          <p:cNvPr id="7" name="Picture 6" descr="fig2e_like_contact_frequency.png"/>
          <p:cNvPicPr>
            <a:picLocks noChangeAspect="1"/>
          </p:cNvPicPr>
          <p:nvPr/>
        </p:nvPicPr>
        <p:blipFill>
          <a:blip r:embed="rId3"/>
          <a:stretch>
            <a:fillRect/>
          </a:stretch>
        </p:blipFill>
        <p:spPr>
          <a:xfrm>
            <a:off x="6400800" y="1265245"/>
            <a:ext cx="2514600" cy="1995788"/>
          </a:xfrm>
          <a:prstGeom prst="rect">
            <a:avLst/>
          </a:prstGeom>
        </p:spPr>
      </p:pic>
      <p:pic>
        <p:nvPicPr>
          <p:cNvPr id="8" name="Picture 7" descr="edge_distance_histogram.png"/>
          <p:cNvPicPr>
            <a:picLocks noChangeAspect="1"/>
          </p:cNvPicPr>
          <p:nvPr/>
        </p:nvPicPr>
        <p:blipFill>
          <a:blip r:embed="rId4"/>
          <a:stretch>
            <a:fillRect/>
          </a:stretch>
        </p:blipFill>
        <p:spPr>
          <a:xfrm>
            <a:off x="8915400" y="1322281"/>
            <a:ext cx="2514600" cy="1653116"/>
          </a:xfrm>
          <a:prstGeom prst="rect">
            <a:avLst/>
          </a:prstGeom>
        </p:spPr>
      </p:pic>
      <p:pic>
        <p:nvPicPr>
          <p:cNvPr id="9" name="Picture 8" descr="centroid_distance_histogram.png"/>
          <p:cNvPicPr>
            <a:picLocks noChangeAspect="1"/>
          </p:cNvPicPr>
          <p:nvPr/>
        </p:nvPicPr>
        <p:blipFill>
          <a:blip r:embed="rId5"/>
          <a:stretch>
            <a:fillRect/>
          </a:stretch>
        </p:blipFill>
        <p:spPr>
          <a:xfrm>
            <a:off x="7604974" y="3657600"/>
            <a:ext cx="2712290" cy="178308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shape metrics: volume, surface area, sphericity, compactness, axes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phericity.png"/>
          <p:cNvPicPr>
            <a:picLocks noChangeAspect="1"/>
          </p:cNvPicPr>
          <p:nvPr/>
        </p:nvPicPr>
        <p:blipFill>
          <a:blip r:embed="rId2"/>
          <a:stretch>
            <a:fillRect/>
          </a:stretch>
        </p:blipFill>
        <p:spPr>
          <a:xfrm>
            <a:off x="777240" y="1239715"/>
            <a:ext cx="5120640" cy="675249"/>
          </a:xfrm>
          <a:prstGeom prst="rect">
            <a:avLst/>
          </a:prstGeom>
        </p:spPr>
      </p:pic>
      <p:pic>
        <p:nvPicPr>
          <p:cNvPr id="6" name="Picture 5" descr="surface_sphere.png"/>
          <p:cNvPicPr>
            <a:picLocks noChangeAspect="1"/>
          </p:cNvPicPr>
          <p:nvPr/>
        </p:nvPicPr>
        <p:blipFill>
          <a:blip r:embed="rId3"/>
          <a:stretch>
            <a:fillRect/>
          </a:stretch>
        </p:blipFill>
        <p:spPr>
          <a:xfrm>
            <a:off x="777240" y="2062675"/>
            <a:ext cx="5120640" cy="675249"/>
          </a:xfrm>
          <a:prstGeom prst="rect">
            <a:avLst/>
          </a:prstGeom>
        </p:spPr>
      </p:pic>
      <p:sp>
        <p:nvSpPr>
          <p:cNvPr id="7" name="TextBox 6"/>
          <p:cNvSpPr txBox="1"/>
          <p:nvPr/>
        </p:nvSpPr>
        <p:spPr>
          <a:xfrm>
            <a:off x="6355080" y="1234440"/>
            <a:ext cx="5029200" cy="32004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t>• Surface area estimates how much boundary area the object has.</a:t>
            </a:r>
          </a:p>
          <a:p>
            <a:pPr>
              <a:lnSpc>
                <a:spcPct val="105000"/>
              </a:lnSpc>
              <a:spcAft>
                <a:spcPts val="156"/>
              </a:spcAft>
              <a:defRPr sz="1380">
                <a:solidFill>
                  <a:srgbClr val="1C2736"/>
                </a:solidFill>
                <a:latin typeface="Aptos"/>
              </a:defRPr>
            </a:pPr>
            <a:r>
              <a:t>• Sphericity compares object surface area to a sphere with the same volume; values closer to 1 are more sphere-like.</a:t>
            </a:r>
          </a:p>
          <a:p>
            <a:pPr>
              <a:lnSpc>
                <a:spcPct val="105000"/>
              </a:lnSpc>
              <a:spcAft>
                <a:spcPts val="156"/>
              </a:spcAft>
              <a:defRPr sz="1380">
                <a:solidFill>
                  <a:srgbClr val="1C2736"/>
                </a:solidFill>
                <a:latin typeface="Aptos"/>
              </a:defRPr>
            </a:pPr>
            <a:r>
              <a:t>• Compactness is another volume-to-surface relationship; low values often indicate rough or fragmented masks.</a:t>
            </a:r>
          </a:p>
          <a:p>
            <a:pPr>
              <a:lnSpc>
                <a:spcPct val="105000"/>
              </a:lnSpc>
              <a:spcAft>
                <a:spcPts val="156"/>
              </a:spcAft>
              <a:defRPr sz="1380">
                <a:solidFill>
                  <a:srgbClr val="1C2736"/>
                </a:solidFill>
                <a:latin typeface="Aptos"/>
              </a:defRPr>
            </a:pPr>
            <a:r>
              <a:t>• PCA major/intermediate/minor axes summarize the 3D spread of the object along its principal directions.</a:t>
            </a:r>
          </a:p>
          <a:p>
            <a:pPr>
              <a:lnSpc>
                <a:spcPct val="105000"/>
              </a:lnSpc>
              <a:spcAft>
                <a:spcPts val="156"/>
              </a:spcAft>
              <a:defRPr sz="1380">
                <a:solidFill>
                  <a:srgbClr val="1C2736"/>
                </a:solidFill>
                <a:latin typeface="Aptos"/>
              </a:defRPr>
            </a:pPr>
            <a:r>
              <a:t>• Elongation and flatness are ratios of these PCA axes.</a:t>
            </a:r>
          </a:p>
        </p:txBody>
      </p:sp>
      <p:pic>
        <p:nvPicPr>
          <p:cNvPr id="8" name="Picture 7" descr="ct_sphericity_boxplot.png"/>
          <p:cNvPicPr>
            <a:picLocks noChangeAspect="1"/>
          </p:cNvPicPr>
          <p:nvPr/>
        </p:nvPicPr>
        <p:blipFill>
          <a:blip r:embed="rId4"/>
          <a:stretch>
            <a:fillRect/>
          </a:stretch>
        </p:blipFill>
        <p:spPr>
          <a:xfrm>
            <a:off x="1445926" y="3154680"/>
            <a:ext cx="2868866" cy="2377440"/>
          </a:xfrm>
          <a:prstGeom prst="rect">
            <a:avLst/>
          </a:prstGeom>
        </p:spPr>
      </p:pic>
      <p:pic>
        <p:nvPicPr>
          <p:cNvPr id="9" name="Picture 8" descr="nucleus_sphericity_histogram.png"/>
          <p:cNvPicPr>
            <a:picLocks noChangeAspect="1"/>
          </p:cNvPicPr>
          <p:nvPr/>
        </p:nvPicPr>
        <p:blipFill>
          <a:blip r:embed="rId5"/>
          <a:stretch>
            <a:fillRect/>
          </a:stretch>
        </p:blipFill>
        <p:spPr>
          <a:xfrm>
            <a:off x="5469013" y="4251960"/>
            <a:ext cx="2503652" cy="1645920"/>
          </a:xfrm>
          <a:prstGeom prst="rect">
            <a:avLst/>
          </a:prstGeom>
        </p:spPr>
      </p:pic>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3D radial position: continuous center-to-surface coordinate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radial.png"/>
          <p:cNvPicPr>
            <a:picLocks noChangeAspect="1"/>
          </p:cNvPicPr>
          <p:nvPr/>
        </p:nvPicPr>
        <p:blipFill>
          <a:blip r:embed="rId2"/>
          <a:stretch>
            <a:fillRect/>
          </a:stretch>
        </p:blipFill>
        <p:spPr>
          <a:xfrm>
            <a:off x="685800" y="1261319"/>
            <a:ext cx="5486400" cy="723481"/>
          </a:xfrm>
          <a:prstGeom prst="rect">
            <a:avLst/>
          </a:prstGeom>
        </p:spPr>
      </p:pic>
      <p:sp>
        <p:nvSpPr>
          <p:cNvPr id="6" name="TextBox 5"/>
          <p:cNvSpPr txBox="1"/>
          <p:nvPr/>
        </p:nvSpPr>
        <p:spPr>
          <a:xfrm>
            <a:off x="822960" y="2331720"/>
            <a:ext cx="5303520" cy="228600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D(v) is the 3D distance-transform value inside the nucleus.</a:t>
            </a:r>
          </a:p>
          <a:p>
            <a:pPr>
              <a:lnSpc>
                <a:spcPct val="105000"/>
              </a:lnSpc>
              <a:spcAft>
                <a:spcPts val="156"/>
              </a:spcAft>
              <a:defRPr sz="1450">
                <a:solidFill>
                  <a:srgbClr val="1C2736"/>
                </a:solidFill>
                <a:latin typeface="Aptos"/>
              </a:defRPr>
            </a:pPr>
            <a:r>
              <a:t>• Dmax is the maximum distance-transform value in that nucleus.</a:t>
            </a:r>
          </a:p>
          <a:p>
            <a:pPr>
              <a:lnSpc>
                <a:spcPct val="105000"/>
              </a:lnSpc>
              <a:spcAft>
                <a:spcPts val="156"/>
              </a:spcAft>
              <a:defRPr sz="1450">
                <a:solidFill>
                  <a:srgbClr val="1C2736"/>
                </a:solidFill>
                <a:latin typeface="Aptos"/>
              </a:defRPr>
            </a:pPr>
            <a:r>
              <a:t>• ρ(v) is close to 0 near the nuclear center and close to 1 near the nuclear boundary.</a:t>
            </a:r>
          </a:p>
          <a:p>
            <a:pPr>
              <a:lnSpc>
                <a:spcPct val="105000"/>
              </a:lnSpc>
              <a:spcAft>
                <a:spcPts val="156"/>
              </a:spcAft>
              <a:defRPr sz="1450">
                <a:solidFill>
                  <a:srgbClr val="1C2736"/>
                </a:solidFill>
                <a:latin typeface="Aptos"/>
              </a:defRPr>
            </a:pPr>
            <a:r>
              <a:t>• For each territory, the plugin reports centroid, min, max, mean, and median radial position.</a:t>
            </a:r>
          </a:p>
        </p:txBody>
      </p:sp>
      <p:pic>
        <p:nvPicPr>
          <p:cNvPr id="7" name="Picture 6" descr="ct_centroid_radial_position_boxplot.png"/>
          <p:cNvPicPr>
            <a:picLocks noChangeAspect="1"/>
          </p:cNvPicPr>
          <p:nvPr/>
        </p:nvPicPr>
        <p:blipFill>
          <a:blip r:embed="rId3"/>
          <a:stretch>
            <a:fillRect/>
          </a:stretch>
        </p:blipFill>
        <p:spPr>
          <a:xfrm>
            <a:off x="6583680" y="1271375"/>
            <a:ext cx="4434840" cy="3675168"/>
          </a:xfrm>
          <a:prstGeom prst="rect">
            <a:avLst/>
          </a:prstGeom>
        </p:spPr>
      </p:pic>
      <p:sp>
        <p:nvSpPr>
          <p:cNvPr id="8" name="Rounded Rectangle 7"/>
          <p:cNvSpPr/>
          <p:nvPr/>
        </p:nvSpPr>
        <p:spPr>
          <a:xfrm>
            <a:off x="1005840" y="5257800"/>
            <a:ext cx="10058400" cy="53035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15568" y="5349240"/>
            <a:ext cx="9838944" cy="365759"/>
          </a:xfrm>
          <a:prstGeom prst="rect">
            <a:avLst/>
          </a:prstGeom>
          <a:noFill/>
        </p:spPr>
        <p:txBody>
          <a:bodyPr wrap="none" lIns="18288" tIns="18288" rIns="18288" bIns="18288" anchor="ctr">
            <a:spAutoFit/>
          </a:bodyPr>
          <a:lstStyle/>
          <a:p>
            <a:r>
              <a:rPr sz="1300" b="1" i="0">
                <a:solidFill>
                  <a:srgbClr val="FFFFFF"/>
                </a:solidFill>
                <a:latin typeface="Aptos"/>
              </a:rPr>
              <a:t>This extends the HiTIPS 2D distance-transform idea to full 3D nuclei.</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MEASUREMENTS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Radial shell fractions: binned 3D distribution inside the nucleus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4688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The plugin can divide each nucleus into concentric shell bins using distance-transform values.</a:t>
            </a:r>
          </a:p>
          <a:p>
            <a:pPr>
              <a:lnSpc>
                <a:spcPct val="105000"/>
              </a:lnSpc>
              <a:spcAft>
                <a:spcPts val="156"/>
              </a:spcAft>
              <a:defRPr sz="1450">
                <a:solidFill>
                  <a:srgbClr val="1C2736"/>
                </a:solidFill>
                <a:latin typeface="Aptos"/>
              </a:defRPr>
            </a:pPr>
            <a:r>
              <a:t>• For each P or Q mask, the shell fraction is the fraction of that mask lying in a shell.</a:t>
            </a:r>
          </a:p>
          <a:p>
            <a:pPr>
              <a:lnSpc>
                <a:spcPct val="105000"/>
              </a:lnSpc>
              <a:spcAft>
                <a:spcPts val="156"/>
              </a:spcAft>
              <a:defRPr sz="1450">
                <a:solidFill>
                  <a:srgbClr val="1C2736"/>
                </a:solidFill>
                <a:latin typeface="Aptos"/>
              </a:defRPr>
            </a:pPr>
            <a:r>
              <a:t>• Shells are useful for summaries and comparisons; continuous radial coordinates are more precise.</a:t>
            </a:r>
          </a:p>
          <a:p>
            <a:pPr>
              <a:lnSpc>
                <a:spcPct val="105000"/>
              </a:lnSpc>
              <a:spcAft>
                <a:spcPts val="156"/>
              </a:spcAft>
              <a:defRPr sz="1450">
                <a:solidFill>
                  <a:srgbClr val="1C2736"/>
                </a:solidFill>
                <a:latin typeface="Aptos"/>
              </a:defRPr>
            </a:pPr>
            <a:r>
              <a:t>• The public table keeps selected shell fractions while internal/requested removed columns are omitted.</a:t>
            </a:r>
          </a:p>
        </p:txBody>
      </p:sp>
      <p:graphicFrame>
        <p:nvGraphicFramePr>
          <p:cNvPr id="6" name="Table 5"/>
          <p:cNvGraphicFramePr>
            <a:graphicFrameLocks noGrp="1"/>
          </p:cNvGraphicFramePr>
          <p:nvPr/>
        </p:nvGraphicFramePr>
        <p:xfrm>
          <a:off x="6400800" y="1371600"/>
          <a:ext cx="4846320" cy="251460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02920">
                <a:tc>
                  <a:txBody>
                    <a:bodyPr/>
                    <a:lstStyle/>
                    <a:p>
                      <a:pPr algn="l">
                        <a:defRPr sz="1100">
                          <a:solidFill>
                            <a:srgbClr val="FFFFFF"/>
                          </a:solidFill>
                          <a:latin typeface="Aptos"/>
                        </a:defRPr>
                      </a:pPr>
                      <a:r>
                        <a:t>Column example</a:t>
                      </a:r>
                    </a:p>
                  </a:txBody>
                  <a:tcPr marL="45720" marR="36576" marT="27432" marB="27432">
                    <a:solidFill>
                      <a:srgbClr val="081F3A"/>
                    </a:solidFill>
                  </a:tcPr>
                </a:tc>
                <a:tc>
                  <a:txBody>
                    <a:bodyPr/>
                    <a:lstStyle/>
                    <a:p>
                      <a:pPr algn="l">
                        <a:defRPr sz="110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502920">
                <a:tc>
                  <a:txBody>
                    <a:bodyPr/>
                    <a:lstStyle/>
                    <a:p>
                      <a:pPr algn="l">
                        <a:defRPr sz="1050">
                          <a:solidFill>
                            <a:srgbClr val="1C2736"/>
                          </a:solidFill>
                          <a:latin typeface="Aptos"/>
                        </a:defRPr>
                      </a:pPr>
                      <a:r>
                        <a:t>p_shell_2_frac</a:t>
                      </a:r>
                    </a:p>
                  </a:txBody>
                  <a:tcPr marL="45720" marR="36576" marT="27432" marB="27432">
                    <a:solidFill>
                      <a:srgbClr val="FFFFFF"/>
                    </a:solidFill>
                  </a:tcPr>
                </a:tc>
                <a:tc>
                  <a:txBody>
                    <a:bodyPr/>
                    <a:lstStyle/>
                    <a:p>
                      <a:pPr algn="l">
                        <a:defRPr sz="1050">
                          <a:solidFill>
                            <a:srgbClr val="1C2736"/>
                          </a:solidFill>
                          <a:latin typeface="Aptos"/>
                        </a:defRPr>
                      </a:pPr>
                      <a:r>
                        <a:t>Fraction of P-arm volume in shell 2</a:t>
                      </a:r>
                    </a:p>
                  </a:txBody>
                  <a:tcPr marL="45720" marR="36576" marT="27432" marB="27432">
                    <a:solidFill>
                      <a:srgbClr val="FFFFFF"/>
                    </a:solidFill>
                  </a:tcPr>
                </a:tc>
                <a:extLst>
                  <a:ext uri="{0D108BD9-81ED-4DB2-BD59-A6C34878D82A}">
                    <a16:rowId xmlns:a16="http://schemas.microsoft.com/office/drawing/2014/main" val="10001"/>
                  </a:ext>
                </a:extLst>
              </a:tr>
              <a:tr h="502920">
                <a:tc>
                  <a:txBody>
                    <a:bodyPr/>
                    <a:lstStyle/>
                    <a:p>
                      <a:pPr algn="l">
                        <a:defRPr sz="1050">
                          <a:solidFill>
                            <a:srgbClr val="1C2736"/>
                          </a:solidFill>
                          <a:latin typeface="Aptos"/>
                        </a:defRPr>
                      </a:pPr>
                      <a:r>
                        <a:t>p_shell_5_frac</a:t>
                      </a:r>
                    </a:p>
                  </a:txBody>
                  <a:tcPr marL="45720" marR="36576" marT="27432" marB="27432">
                    <a:solidFill>
                      <a:srgbClr val="EEF3F9"/>
                    </a:solidFill>
                  </a:tcPr>
                </a:tc>
                <a:tc>
                  <a:txBody>
                    <a:bodyPr/>
                    <a:lstStyle/>
                    <a:p>
                      <a:pPr algn="l">
                        <a:defRPr sz="1050">
                          <a:solidFill>
                            <a:srgbClr val="1C2736"/>
                          </a:solidFill>
                          <a:latin typeface="Aptos"/>
                        </a:defRPr>
                      </a:pPr>
                      <a:r>
                        <a:t>Fraction of P-arm volume in most central reported shell</a:t>
                      </a:r>
                    </a:p>
                  </a:txBody>
                  <a:tcPr marL="45720" marR="36576" marT="27432" marB="27432">
                    <a:solidFill>
                      <a:srgbClr val="EEF3F9"/>
                    </a:solidFill>
                  </a:tcPr>
                </a:tc>
                <a:extLst>
                  <a:ext uri="{0D108BD9-81ED-4DB2-BD59-A6C34878D82A}">
                    <a16:rowId xmlns:a16="http://schemas.microsoft.com/office/drawing/2014/main" val="10002"/>
                  </a:ext>
                </a:extLst>
              </a:tr>
              <a:tr h="502920">
                <a:tc>
                  <a:txBody>
                    <a:bodyPr/>
                    <a:lstStyle/>
                    <a:p>
                      <a:pPr algn="l">
                        <a:defRPr sz="1050">
                          <a:solidFill>
                            <a:srgbClr val="1C2736"/>
                          </a:solidFill>
                          <a:latin typeface="Aptos"/>
                        </a:defRPr>
                      </a:pPr>
                      <a:r>
                        <a:t>q_shell_3_frac</a:t>
                      </a:r>
                    </a:p>
                  </a:txBody>
                  <a:tcPr marL="45720" marR="36576" marT="27432" marB="27432">
                    <a:solidFill>
                      <a:srgbClr val="FFFFFF"/>
                    </a:solidFill>
                  </a:tcPr>
                </a:tc>
                <a:tc>
                  <a:txBody>
                    <a:bodyPr/>
                    <a:lstStyle/>
                    <a:p>
                      <a:pPr algn="l">
                        <a:defRPr sz="1050">
                          <a:solidFill>
                            <a:srgbClr val="1C2736"/>
                          </a:solidFill>
                          <a:latin typeface="Aptos"/>
                        </a:defRPr>
                      </a:pPr>
                      <a:r>
                        <a:t>Fraction of Q-arm volume in shell 3</a:t>
                      </a:r>
                    </a:p>
                  </a:txBody>
                  <a:tcPr marL="45720" marR="36576" marT="27432" marB="27432">
                    <a:solidFill>
                      <a:srgbClr val="FFFFFF"/>
                    </a:solidFill>
                  </a:tcPr>
                </a:tc>
                <a:extLst>
                  <a:ext uri="{0D108BD9-81ED-4DB2-BD59-A6C34878D82A}">
                    <a16:rowId xmlns:a16="http://schemas.microsoft.com/office/drawing/2014/main" val="10003"/>
                  </a:ext>
                </a:extLst>
              </a:tr>
              <a:tr h="502920">
                <a:tc>
                  <a:txBody>
                    <a:bodyPr/>
                    <a:lstStyle/>
                    <a:p>
                      <a:pPr algn="l">
                        <a:defRPr sz="1050">
                          <a:solidFill>
                            <a:srgbClr val="1C2736"/>
                          </a:solidFill>
                          <a:latin typeface="Aptos"/>
                        </a:defRPr>
                      </a:pPr>
                      <a:r>
                        <a:t>q_shell_5_frac</a:t>
                      </a:r>
                    </a:p>
                  </a:txBody>
                  <a:tcPr marL="45720" marR="36576" marT="27432" marB="27432">
                    <a:solidFill>
                      <a:srgbClr val="EEF3F9"/>
                    </a:solidFill>
                  </a:tcPr>
                </a:tc>
                <a:tc>
                  <a:txBody>
                    <a:bodyPr/>
                    <a:lstStyle/>
                    <a:p>
                      <a:pPr algn="l">
                        <a:defRPr sz="1050">
                          <a:solidFill>
                            <a:srgbClr val="1C2736"/>
                          </a:solidFill>
                          <a:latin typeface="Aptos"/>
                        </a:defRPr>
                      </a:pPr>
                      <a:r>
                        <a:t>Fraction of Q-arm volume in most central reported shell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0" y="4343400"/>
            <a:ext cx="484632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0" y="4343400"/>
            <a:ext cx="73152" cy="114300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47104" y="4453128"/>
            <a:ext cx="4617720" cy="320040"/>
          </a:xfrm>
          <a:prstGeom prst="rect">
            <a:avLst/>
          </a:prstGeom>
          <a:noFill/>
        </p:spPr>
        <p:txBody>
          <a:bodyPr wrap="none" lIns="18288" tIns="18288" rIns="18288" bIns="18288">
            <a:spAutoFit/>
          </a:bodyPr>
          <a:lstStyle/>
          <a:p>
            <a:r>
              <a:rPr sz="1500" b="1" i="0">
                <a:solidFill>
                  <a:srgbClr val="081F3A"/>
                </a:solidFill>
                <a:latin typeface="Aptos"/>
              </a:rPr>
              <a:t>Interpretation</a:t>
            </a:r>
          </a:p>
        </p:txBody>
      </p:sp>
      <p:sp>
        <p:nvSpPr>
          <p:cNvPr id="10" name="TextBox 9"/>
          <p:cNvSpPr txBox="1"/>
          <p:nvPr/>
        </p:nvSpPr>
        <p:spPr>
          <a:xfrm>
            <a:off x="6547104" y="4818888"/>
            <a:ext cx="4617720" cy="614014"/>
          </a:xfrm>
          <a:prstGeom prst="rect">
            <a:avLst/>
          </a:prstGeom>
          <a:noFill/>
        </p:spPr>
        <p:txBody>
          <a:bodyPr wrap="square" lIns="18288" tIns="18288" rIns="18288" bIns="18288">
            <a:spAutoFit/>
          </a:bodyPr>
          <a:lstStyle/>
          <a:p>
            <a:r>
              <a:rPr sz="1250" b="0" i="0" dirty="0">
                <a:solidFill>
                  <a:srgbClr val="1C2736"/>
                </a:solidFill>
                <a:latin typeface="Aptos"/>
              </a:rPr>
              <a:t>Radial fractions summarize where a mask lies within a nucleus. A more central object has more volume in inner shells; a more peripheral object has more volume near outer shells.</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Output files created by “Analyze and save all outputs”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43000"/>
          <a:ext cx="11201400" cy="47091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72737">
                <a:tc>
                  <a:txBody>
                    <a:bodyPr/>
                    <a:lstStyle/>
                    <a:p>
                      <a:pPr algn="l">
                        <a:defRPr sz="969">
                          <a:solidFill>
                            <a:srgbClr val="FFFFFF"/>
                          </a:solidFill>
                          <a:latin typeface="Aptos"/>
                        </a:defRPr>
                      </a:pPr>
                      <a:r>
                        <a:t>File group</a:t>
                      </a:r>
                    </a:p>
                  </a:txBody>
                  <a:tcPr marL="45720" marR="36576" marT="27432" marB="27432">
                    <a:solidFill>
                      <a:srgbClr val="081F3A"/>
                    </a:solidFill>
                  </a:tcPr>
                </a:tc>
                <a:tc>
                  <a:txBody>
                    <a:bodyPr/>
                    <a:lstStyle/>
                    <a:p>
                      <a:pPr algn="l">
                        <a:defRPr sz="969">
                          <a:solidFill>
                            <a:srgbClr val="FFFFFF"/>
                          </a:solidFill>
                          <a:latin typeface="Aptos"/>
                        </a:defRPr>
                      </a:pPr>
                      <a:r>
                        <a:t>Examples</a:t>
                      </a:r>
                    </a:p>
                  </a:txBody>
                  <a:tcPr marL="45720" marR="36576" marT="27432" marB="27432">
                    <a:solidFill>
                      <a:srgbClr val="081F3A"/>
                    </a:solidFill>
                  </a:tcPr>
                </a:tc>
                <a:tc>
                  <a:txBody>
                    <a:bodyPr/>
                    <a:lstStyle/>
                    <a:p>
                      <a:pPr algn="l">
                        <a:defRPr sz="969">
                          <a:solidFill>
                            <a:srgbClr val="FFFFFF"/>
                          </a:solidFill>
                          <a:latin typeface="Aptos"/>
                        </a:defRPr>
                      </a:pPr>
                      <a:r>
                        <a:t>Purpose</a:t>
                      </a:r>
                    </a:p>
                  </a:txBody>
                  <a:tcPr marL="45720" marR="36576" marT="27432" marB="27432">
                    <a:solidFill>
                      <a:srgbClr val="081F3A"/>
                    </a:solidFill>
                  </a:tcPr>
                </a:tc>
                <a:extLst>
                  <a:ext uri="{0D108BD9-81ED-4DB2-BD59-A6C34878D82A}">
                    <a16:rowId xmlns:a16="http://schemas.microsoft.com/office/drawing/2014/main" val="10000"/>
                  </a:ext>
                </a:extLst>
              </a:tr>
              <a:tr h="672737">
                <a:tc>
                  <a:txBody>
                    <a:bodyPr/>
                    <a:lstStyle/>
                    <a:p>
                      <a:pPr algn="l">
                        <a:defRPr sz="919">
                          <a:solidFill>
                            <a:srgbClr val="1C2736"/>
                          </a:solidFill>
                          <a:latin typeface="Aptos"/>
                        </a:defRPr>
                      </a:pPr>
                      <a:r>
                        <a:t>Masks</a:t>
                      </a:r>
                    </a:p>
                  </a:txBody>
                  <a:tcPr marL="45720" marR="36576" marT="27432" marB="27432">
                    <a:solidFill>
                      <a:srgbClr val="FFFFFF"/>
                    </a:solidFill>
                  </a:tcPr>
                </a:tc>
                <a:tc>
                  <a:txBody>
                    <a:bodyPr/>
                    <a:lstStyle/>
                    <a:p>
                      <a:pPr algn="l">
                        <a:defRPr sz="919">
                          <a:solidFill>
                            <a:srgbClr val="1C2736"/>
                          </a:solidFill>
                          <a:latin typeface="Aptos"/>
                        </a:defRPr>
                      </a:pPr>
                      <a:r>
                        <a:t>nuclei_labels_3d.tif, p_arm_mask_3d.tif, q_arm_mask_3d.tif, pq_overlap_mask_3d.tif</a:t>
                      </a:r>
                    </a:p>
                  </a:txBody>
                  <a:tcPr marL="45720" marR="36576" marT="27432" marB="27432">
                    <a:solidFill>
                      <a:srgbClr val="FFFFFF"/>
                    </a:solidFill>
                  </a:tcPr>
                </a:tc>
                <a:tc>
                  <a:txBody>
                    <a:bodyPr/>
                    <a:lstStyle/>
                    <a:p>
                      <a:pPr algn="l">
                        <a:defRPr sz="919">
                          <a:solidFill>
                            <a:srgbClr val="1C2736"/>
                          </a:solidFill>
                          <a:latin typeface="Aptos"/>
                        </a:defRPr>
                      </a:pPr>
                      <a:r>
                        <a:t>3D segmentation outputs</a:t>
                      </a:r>
                    </a:p>
                  </a:txBody>
                  <a:tcPr marL="45720" marR="36576" marT="27432" marB="27432">
                    <a:solidFill>
                      <a:srgbClr val="FFFFFF"/>
                    </a:solidFill>
                  </a:tcPr>
                </a:tc>
                <a:extLst>
                  <a:ext uri="{0D108BD9-81ED-4DB2-BD59-A6C34878D82A}">
                    <a16:rowId xmlns:a16="http://schemas.microsoft.com/office/drawing/2014/main" val="10001"/>
                  </a:ext>
                </a:extLst>
              </a:tr>
              <a:tr h="672737">
                <a:tc>
                  <a:txBody>
                    <a:bodyPr/>
                    <a:lstStyle/>
                    <a:p>
                      <a:pPr algn="l">
                        <a:defRPr sz="919">
                          <a:solidFill>
                            <a:srgbClr val="1C2736"/>
                          </a:solidFill>
                          <a:latin typeface="Aptos"/>
                        </a:defRPr>
                      </a:pPr>
                      <a:r>
                        <a:t>Label masks</a:t>
                      </a:r>
                    </a:p>
                  </a:txBody>
                  <a:tcPr marL="45720" marR="36576" marT="27432" marB="27432">
                    <a:solidFill>
                      <a:srgbClr val="EEF3F9"/>
                    </a:solidFill>
                  </a:tcPr>
                </a:tc>
                <a:tc>
                  <a:txBody>
                    <a:bodyPr/>
                    <a:lstStyle/>
                    <a:p>
                      <a:pPr algn="l">
                        <a:defRPr sz="919">
                          <a:solidFill>
                            <a:srgbClr val="1C2736"/>
                          </a:solidFill>
                          <a:latin typeface="Aptos"/>
                        </a:defRPr>
                      </a:pPr>
                      <a:r>
                        <a:t>p_arm_labels_by_nucleus_3d.tif, q_arm_labels_by_nucleus_3d.tif</a:t>
                      </a:r>
                    </a:p>
                  </a:txBody>
                  <a:tcPr marL="45720" marR="36576" marT="27432" marB="27432">
                    <a:solidFill>
                      <a:srgbClr val="EEF3F9"/>
                    </a:solidFill>
                  </a:tcPr>
                </a:tc>
                <a:tc>
                  <a:txBody>
                    <a:bodyPr/>
                    <a:lstStyle/>
                    <a:p>
                      <a:pPr algn="l">
                        <a:defRPr sz="919">
                          <a:solidFill>
                            <a:srgbClr val="1C2736"/>
                          </a:solidFill>
                          <a:latin typeface="Aptos"/>
                        </a:defRPr>
                      </a:pPr>
                      <a:r>
                        <a:t>Trace mask voxels back to parent nucleus ID</a:t>
                      </a:r>
                    </a:p>
                  </a:txBody>
                  <a:tcPr marL="45720" marR="36576" marT="27432" marB="27432">
                    <a:solidFill>
                      <a:srgbClr val="EEF3F9"/>
                    </a:solidFill>
                  </a:tcPr>
                </a:tc>
                <a:extLst>
                  <a:ext uri="{0D108BD9-81ED-4DB2-BD59-A6C34878D82A}">
                    <a16:rowId xmlns:a16="http://schemas.microsoft.com/office/drawing/2014/main" val="10002"/>
                  </a:ext>
                </a:extLst>
              </a:tr>
              <a:tr h="672737">
                <a:tc>
                  <a:txBody>
                    <a:bodyPr/>
                    <a:lstStyle/>
                    <a:p>
                      <a:pPr algn="l">
                        <a:defRPr sz="919">
                          <a:solidFill>
                            <a:srgbClr val="1C2736"/>
                          </a:solidFill>
                          <a:latin typeface="Aptos"/>
                        </a:defRPr>
                      </a:pPr>
                      <a:r>
                        <a:t>CSVs</a:t>
                      </a:r>
                    </a:p>
                  </a:txBody>
                  <a:tcPr marL="45720" marR="36576" marT="27432" marB="27432">
                    <a:solidFill>
                      <a:srgbClr val="FFFFFF"/>
                    </a:solidFill>
                  </a:tcPr>
                </a:tc>
                <a:tc>
                  <a:txBody>
                    <a:bodyPr/>
                    <a:lstStyle/>
                    <a:p>
                      <a:pPr algn="l">
                        <a:defRPr sz="919">
                          <a:solidFill>
                            <a:srgbClr val="1C2736"/>
                          </a:solidFill>
                          <a:latin typeface="Aptos"/>
                        </a:defRPr>
                      </a:pPr>
                      <a:r>
                        <a:t>series7_chrX_arm_measurements_per_nucleus.csv with p_fish_signal_count/q_fish_signal_count, population_summary.csv</a:t>
                      </a:r>
                    </a:p>
                  </a:txBody>
                  <a:tcPr marL="45720" marR="36576" marT="27432" marB="27432">
                    <a:solidFill>
                      <a:srgbClr val="FFFFFF"/>
                    </a:solidFill>
                  </a:tcPr>
                </a:tc>
                <a:tc>
                  <a:txBody>
                    <a:bodyPr/>
                    <a:lstStyle/>
                    <a:p>
                      <a:pPr algn="l">
                        <a:defRPr sz="919">
                          <a:solidFill>
                            <a:srgbClr val="1C2736"/>
                          </a:solidFill>
                          <a:latin typeface="Aptos"/>
                        </a:defRPr>
                      </a:pPr>
                      <a:r>
                        <a:t>Per-nucleus measurements, including FISH signal counts, and population summaries</a:t>
                      </a:r>
                    </a:p>
                  </a:txBody>
                  <a:tcPr marL="45720" marR="36576" marT="27432" marB="27432">
                    <a:solidFill>
                      <a:srgbClr val="FFFFFF"/>
                    </a:solidFill>
                  </a:tcPr>
                </a:tc>
                <a:extLst>
                  <a:ext uri="{0D108BD9-81ED-4DB2-BD59-A6C34878D82A}">
                    <a16:rowId xmlns:a16="http://schemas.microsoft.com/office/drawing/2014/main" val="10003"/>
                  </a:ext>
                </a:extLst>
              </a:tr>
              <a:tr h="672737">
                <a:tc>
                  <a:txBody>
                    <a:bodyPr/>
                    <a:lstStyle/>
                    <a:p>
                      <a:pPr algn="l">
                        <a:defRPr sz="919">
                          <a:solidFill>
                            <a:srgbClr val="1C2736"/>
                          </a:solidFill>
                          <a:latin typeface="Aptos"/>
                        </a:defRPr>
                      </a:pPr>
                      <a:r>
                        <a:t>QC images</a:t>
                      </a:r>
                    </a:p>
                  </a:txBody>
                  <a:tcPr marL="45720" marR="36576" marT="27432" marB="27432">
                    <a:solidFill>
                      <a:srgbClr val="EEF3F9"/>
                    </a:solidFill>
                  </a:tcPr>
                </a:tc>
                <a:tc>
                  <a:txBody>
                    <a:bodyPr/>
                    <a:lstStyle/>
                    <a:p>
                      <a:pPr algn="l">
                        <a:defRPr sz="919">
                          <a:solidFill>
                            <a:srgbClr val="1C2736"/>
                          </a:solidFill>
                          <a:latin typeface="Aptos"/>
                        </a:defRPr>
                      </a:pPr>
                      <a:r>
                        <a:t>qc_nuc_maxproj.tif, qc_p_maxproj.tif, qc_q_maxproj.tif</a:t>
                      </a:r>
                    </a:p>
                  </a:txBody>
                  <a:tcPr marL="45720" marR="36576" marT="27432" marB="27432">
                    <a:solidFill>
                      <a:srgbClr val="EEF3F9"/>
                    </a:solidFill>
                  </a:tcPr>
                </a:tc>
                <a:tc>
                  <a:txBody>
                    <a:bodyPr/>
                    <a:lstStyle/>
                    <a:p>
                      <a:pPr algn="l">
                        <a:defRPr sz="919">
                          <a:solidFill>
                            <a:srgbClr val="1C2736"/>
                          </a:solidFill>
                          <a:latin typeface="Aptos"/>
                        </a:defRPr>
                      </a:pPr>
                      <a:r>
                        <a:t>Quick visual validation</a:t>
                      </a:r>
                    </a:p>
                  </a:txBody>
                  <a:tcPr marL="45720" marR="36576" marT="27432" marB="27432">
                    <a:solidFill>
                      <a:srgbClr val="EEF3F9"/>
                    </a:solidFill>
                  </a:tcPr>
                </a:tc>
                <a:extLst>
                  <a:ext uri="{0D108BD9-81ED-4DB2-BD59-A6C34878D82A}">
                    <a16:rowId xmlns:a16="http://schemas.microsoft.com/office/drawing/2014/main" val="10004"/>
                  </a:ext>
                </a:extLst>
              </a:tr>
              <a:tr h="672737">
                <a:tc>
                  <a:txBody>
                    <a:bodyPr/>
                    <a:lstStyle/>
                    <a:p>
                      <a:pPr algn="l">
                        <a:defRPr sz="919">
                          <a:solidFill>
                            <a:srgbClr val="1C2736"/>
                          </a:solidFill>
                          <a:latin typeface="Aptos"/>
                        </a:defRPr>
                      </a:pPr>
                      <a:r>
                        <a:t>Configuration/provenance</a:t>
                      </a:r>
                    </a:p>
                  </a:txBody>
                  <a:tcPr marL="45720" marR="36576" marT="27432" marB="27432">
                    <a:solidFill>
                      <a:srgbClr val="FFFFFF"/>
                    </a:solidFill>
                  </a:tcPr>
                </a:tc>
                <a:tc>
                  <a:txBody>
                    <a:bodyPr/>
                    <a:lstStyle/>
                    <a:p>
                      <a:pPr algn="l">
                        <a:defRPr sz="919">
                          <a:solidFill>
                            <a:srgbClr val="1C2736"/>
                          </a:solidFill>
                          <a:latin typeface="Aptos"/>
                        </a:defRPr>
                      </a:pPr>
                      <a:r>
                        <a:t>analysis_parameters.json, pq_arm_analyzer_configuration.json</a:t>
                      </a:r>
                    </a:p>
                  </a:txBody>
                  <a:tcPr marL="45720" marR="36576" marT="27432" marB="27432">
                    <a:solidFill>
                      <a:srgbClr val="FFFFFF"/>
                    </a:solidFill>
                  </a:tcPr>
                </a:tc>
                <a:tc>
                  <a:txBody>
                    <a:bodyPr/>
                    <a:lstStyle/>
                    <a:p>
                      <a:pPr algn="l">
                        <a:defRPr sz="919">
                          <a:solidFill>
                            <a:srgbClr val="1C2736"/>
                          </a:solidFill>
                          <a:latin typeface="Aptos"/>
                        </a:defRPr>
                      </a:pPr>
                      <a:r>
                        <a:t>Reproducibility and audit trail</a:t>
                      </a:r>
                    </a:p>
                  </a:txBody>
                  <a:tcPr marL="45720" marR="36576" marT="27432" marB="27432">
                    <a:solidFill>
                      <a:srgbClr val="FFFFFF"/>
                    </a:solidFill>
                  </a:tcPr>
                </a:tc>
                <a:extLst>
                  <a:ext uri="{0D108BD9-81ED-4DB2-BD59-A6C34878D82A}">
                    <a16:rowId xmlns:a16="http://schemas.microsoft.com/office/drawing/2014/main" val="10005"/>
                  </a:ext>
                </a:extLst>
              </a:tr>
              <a:tr h="672738">
                <a:tc>
                  <a:txBody>
                    <a:bodyPr/>
                    <a:lstStyle/>
                    <a:p>
                      <a:pPr algn="l">
                        <a:defRPr sz="919">
                          <a:solidFill>
                            <a:srgbClr val="1C2736"/>
                          </a:solidFill>
                          <a:latin typeface="Aptos"/>
                        </a:defRPr>
                      </a:pPr>
                      <a:r>
                        <a:t>Plots</a:t>
                      </a:r>
                    </a:p>
                  </a:txBody>
                  <a:tcPr marL="45720" marR="36576" marT="27432" marB="27432">
                    <a:solidFill>
                      <a:srgbClr val="EEF3F9"/>
                    </a:solidFill>
                  </a:tcPr>
                </a:tc>
                <a:tc>
                  <a:txBody>
                    <a:bodyPr/>
                    <a:lstStyle/>
                    <a:p>
                      <a:pPr algn="l">
                        <a:defRPr sz="919">
                          <a:solidFill>
                            <a:srgbClr val="1C2736"/>
                          </a:solidFill>
                          <a:latin typeface="Aptos"/>
                        </a:defRPr>
                      </a:pPr>
                      <a:r>
                        <a:t>plots/*.png including fish_signal_count_distribution.png and plot_summary.txt</a:t>
                      </a:r>
                    </a:p>
                  </a:txBody>
                  <a:tcPr marL="45720" marR="36576" marT="27432" marB="27432">
                    <a:solidFill>
                      <a:srgbClr val="EEF3F9"/>
                    </a:solidFill>
                  </a:tcPr>
                </a:tc>
                <a:tc>
                  <a:txBody>
                    <a:bodyPr/>
                    <a:lstStyle/>
                    <a:p>
                      <a:pPr algn="l">
                        <a:defRPr sz="919">
                          <a:solidFill>
                            <a:srgbClr val="1C2736"/>
                          </a:solidFill>
                          <a:latin typeface="Aptos"/>
                        </a:defRPr>
                      </a:pPr>
                      <a:r>
                        <a:t>Summary figures for presentation/reporting, including FISH signal count distribution</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4321595" y="2240280"/>
            <a:ext cx="3609770" cy="544765"/>
          </a:xfrm>
          <a:prstGeom prst="rect">
            <a:avLst/>
          </a:prstGeom>
          <a:noFill/>
        </p:spPr>
        <p:txBody>
          <a:bodyPr wrap="none" lIns="18288" tIns="18288" rIns="18288" bIns="18288">
            <a:spAutoFit/>
          </a:bodyPr>
          <a:lstStyle/>
          <a:p>
            <a:pPr algn="ctr"/>
            <a:r>
              <a:rPr sz="3300" b="1" i="0" dirty="0">
                <a:solidFill>
                  <a:srgbClr val="FFFFFF"/>
                </a:solidFill>
                <a:latin typeface="Aptos"/>
              </a:rPr>
              <a:t>Example result set</a:t>
            </a:r>
          </a:p>
        </p:txBody>
      </p:sp>
      <p:sp>
        <p:nvSpPr>
          <p:cNvPr id="3" name="TextBox 2"/>
          <p:cNvSpPr txBox="1"/>
          <p:nvPr/>
        </p:nvSpPr>
        <p:spPr>
          <a:xfrm>
            <a:off x="1280160" y="2971800"/>
            <a:ext cx="9601200" cy="457200"/>
          </a:xfrm>
          <a:prstGeom prst="rect">
            <a:avLst/>
          </a:prstGeom>
          <a:noFill/>
        </p:spPr>
        <p:txBody>
          <a:bodyPr wrap="none" lIns="18288" tIns="18288" rIns="18288" bIns="18288">
            <a:spAutoFit/>
          </a:bodyPr>
          <a:lstStyle/>
          <a:p>
            <a:pPr algn="ctr"/>
            <a:r>
              <a:rPr sz="1550" b="0" i="0">
                <a:solidFill>
                  <a:srgbClr val="D2E6F5"/>
                </a:solidFill>
                <a:latin typeface="Aptos"/>
              </a:rPr>
              <a:t>Using the supplied test output folder, CSV files, plots, QC projections, and napari screenshot</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Example results</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RESULTS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Population summary from the supplied result set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85800" y="1234440"/>
          <a:ext cx="5029200" cy="438912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438912">
                <a:tc>
                  <a:txBody>
                    <a:bodyPr/>
                    <a:lstStyle/>
                    <a:p>
                      <a:pPr algn="l">
                        <a:defRPr sz="1130">
                          <a:solidFill>
                            <a:srgbClr val="FFFFFF"/>
                          </a:solidFill>
                          <a:latin typeface="Aptos"/>
                        </a:defRPr>
                      </a:pPr>
                      <a:r>
                        <a:t>Metric</a:t>
                      </a:r>
                    </a:p>
                  </a:txBody>
                  <a:tcPr marL="45720" marR="36576" marT="27432" marB="27432">
                    <a:solidFill>
                      <a:srgbClr val="081F3A"/>
                    </a:solidFill>
                  </a:tcPr>
                </a:tc>
                <a:tc>
                  <a:txBody>
                    <a:bodyPr/>
                    <a:lstStyle/>
                    <a:p>
                      <a:pPr algn="l">
                        <a:defRPr sz="1130">
                          <a:solidFill>
                            <a:srgbClr val="FFFFFF"/>
                          </a:solidFill>
                          <a:latin typeface="Aptos"/>
                        </a:defRPr>
                      </a:pPr>
                      <a:r>
                        <a:t>Value</a:t>
                      </a:r>
                    </a:p>
                  </a:txBody>
                  <a:tcPr marL="45720" marR="36576" marT="27432" marB="27432">
                    <a:solidFill>
                      <a:srgbClr val="081F3A"/>
                    </a:solidFill>
                  </a:tcPr>
                </a:tc>
                <a:extLst>
                  <a:ext uri="{0D108BD9-81ED-4DB2-BD59-A6C34878D82A}">
                    <a16:rowId xmlns:a16="http://schemas.microsoft.com/office/drawing/2014/main" val="10000"/>
                  </a:ext>
                </a:extLst>
              </a:tr>
              <a:tr h="438912">
                <a:tc>
                  <a:txBody>
                    <a:bodyPr/>
                    <a:lstStyle/>
                    <a:p>
                      <a:pPr algn="l">
                        <a:defRPr sz="1080">
                          <a:solidFill>
                            <a:srgbClr val="1C2736"/>
                          </a:solidFill>
                          <a:latin typeface="Aptos"/>
                        </a:defRPr>
                      </a:pPr>
                      <a:r>
                        <a:t>Number of nuclei</a:t>
                      </a:r>
                    </a:p>
                  </a:txBody>
                  <a:tcPr marL="45720" marR="36576" marT="27432" marB="27432">
                    <a:solidFill>
                      <a:srgbClr val="FFFFFF"/>
                    </a:solidFill>
                  </a:tcPr>
                </a:tc>
                <a:tc>
                  <a:txBody>
                    <a:bodyPr/>
                    <a:lstStyle/>
                    <a:p>
                      <a:pPr algn="l">
                        <a:defRPr sz="1080">
                          <a:solidFill>
                            <a:srgbClr val="1C2736"/>
                          </a:solidFill>
                          <a:latin typeface="Aptos"/>
                        </a:defRPr>
                      </a:pPr>
                      <a:r>
                        <a:t>526</a:t>
                      </a:r>
                    </a:p>
                  </a:txBody>
                  <a:tcPr marL="45720" marR="36576" marT="27432" marB="27432">
                    <a:solidFill>
                      <a:srgbClr val="FFFFFF"/>
                    </a:solidFill>
                  </a:tcPr>
                </a:tc>
                <a:extLst>
                  <a:ext uri="{0D108BD9-81ED-4DB2-BD59-A6C34878D82A}">
                    <a16:rowId xmlns:a16="http://schemas.microsoft.com/office/drawing/2014/main" val="10001"/>
                  </a:ext>
                </a:extLst>
              </a:tr>
              <a:tr h="438912">
                <a:tc>
                  <a:txBody>
                    <a:bodyPr/>
                    <a:lstStyle/>
                    <a:p>
                      <a:pPr algn="l">
                        <a:defRPr sz="1080">
                          <a:solidFill>
                            <a:srgbClr val="1C2736"/>
                          </a:solidFill>
                          <a:latin typeface="Aptos"/>
                        </a:defRPr>
                      </a:pPr>
                      <a:r>
                        <a:t>Arm detection method</a:t>
                      </a:r>
                    </a:p>
                  </a:txBody>
                  <a:tcPr marL="45720" marR="36576" marT="27432" marB="27432">
                    <a:solidFill>
                      <a:srgbClr val="EEF3F9"/>
                    </a:solidFill>
                  </a:tcPr>
                </a:tc>
                <a:tc>
                  <a:txBody>
                    <a:bodyPr/>
                    <a:lstStyle/>
                    <a:p>
                      <a:pPr algn="l">
                        <a:defRPr sz="1080">
                          <a:solidFill>
                            <a:srgbClr val="1C2736"/>
                          </a:solidFill>
                          <a:latin typeface="Aptos"/>
                        </a:defRPr>
                      </a:pPr>
                      <a:r>
                        <a:t>Upgraded 1D GMM + gate + scoring</a:t>
                      </a:r>
                    </a:p>
                  </a:txBody>
                  <a:tcPr marL="45720" marR="36576" marT="27432" marB="27432">
                    <a:solidFill>
                      <a:srgbClr val="EEF3F9"/>
                    </a:solidFill>
                  </a:tcPr>
                </a:tc>
                <a:extLst>
                  <a:ext uri="{0D108BD9-81ED-4DB2-BD59-A6C34878D82A}">
                    <a16:rowId xmlns:a16="http://schemas.microsoft.com/office/drawing/2014/main" val="10002"/>
                  </a:ext>
                </a:extLst>
              </a:tr>
              <a:tr h="438912">
                <a:tc>
                  <a:txBody>
                    <a:bodyPr/>
                    <a:lstStyle/>
                    <a:p>
                      <a:pPr algn="l">
                        <a:defRPr sz="1080">
                          <a:solidFill>
                            <a:srgbClr val="1C2736"/>
                          </a:solidFill>
                          <a:latin typeface="Aptos"/>
                        </a:defRPr>
                      </a:pPr>
                      <a:r>
                        <a:t>Mean nucleus volume</a:t>
                      </a:r>
                    </a:p>
                  </a:txBody>
                  <a:tcPr marL="45720" marR="36576" marT="27432" marB="27432">
                    <a:solidFill>
                      <a:srgbClr val="FFFFFF"/>
                    </a:solidFill>
                  </a:tcPr>
                </a:tc>
                <a:tc>
                  <a:txBody>
                    <a:bodyPr/>
                    <a:lstStyle/>
                    <a:p>
                      <a:pPr algn="l">
                        <a:defRPr sz="1080">
                          <a:solidFill>
                            <a:srgbClr val="1C2736"/>
                          </a:solidFill>
                          <a:latin typeface="Aptos"/>
                        </a:defRPr>
                      </a:pPr>
                      <a:r>
                        <a:t>71.50 µm³</a:t>
                      </a:r>
                    </a:p>
                  </a:txBody>
                  <a:tcPr marL="45720" marR="36576" marT="27432" marB="27432">
                    <a:solidFill>
                      <a:srgbClr val="FFFFFF"/>
                    </a:solidFill>
                  </a:tcPr>
                </a:tc>
                <a:extLst>
                  <a:ext uri="{0D108BD9-81ED-4DB2-BD59-A6C34878D82A}">
                    <a16:rowId xmlns:a16="http://schemas.microsoft.com/office/drawing/2014/main" val="10003"/>
                  </a:ext>
                </a:extLst>
              </a:tr>
              <a:tr h="438912">
                <a:tc>
                  <a:txBody>
                    <a:bodyPr/>
                    <a:lstStyle/>
                    <a:p>
                      <a:pPr algn="l">
                        <a:defRPr sz="1080">
                          <a:solidFill>
                            <a:srgbClr val="1C2736"/>
                          </a:solidFill>
                          <a:latin typeface="Aptos"/>
                        </a:defRPr>
                      </a:pPr>
                      <a:r>
                        <a:t>Mean P fraction of nucleus</a:t>
                      </a:r>
                    </a:p>
                  </a:txBody>
                  <a:tcPr marL="45720" marR="36576" marT="27432" marB="27432">
                    <a:solidFill>
                      <a:srgbClr val="EEF3F9"/>
                    </a:solidFill>
                  </a:tcPr>
                </a:tc>
                <a:tc>
                  <a:txBody>
                    <a:bodyPr/>
                    <a:lstStyle/>
                    <a:p>
                      <a:pPr algn="l">
                        <a:defRPr sz="1080">
                          <a:solidFill>
                            <a:srgbClr val="1C2736"/>
                          </a:solidFill>
                          <a:latin typeface="Aptos"/>
                        </a:defRPr>
                      </a:pPr>
                      <a:r>
                        <a:t>0.0428</a:t>
                      </a:r>
                    </a:p>
                  </a:txBody>
                  <a:tcPr marL="45720" marR="36576" marT="27432" marB="27432">
                    <a:solidFill>
                      <a:srgbClr val="EEF3F9"/>
                    </a:solidFill>
                  </a:tcPr>
                </a:tc>
                <a:extLst>
                  <a:ext uri="{0D108BD9-81ED-4DB2-BD59-A6C34878D82A}">
                    <a16:rowId xmlns:a16="http://schemas.microsoft.com/office/drawing/2014/main" val="10004"/>
                  </a:ext>
                </a:extLst>
              </a:tr>
              <a:tr h="438912">
                <a:tc>
                  <a:txBody>
                    <a:bodyPr/>
                    <a:lstStyle/>
                    <a:p>
                      <a:pPr algn="l">
                        <a:defRPr sz="1080">
                          <a:solidFill>
                            <a:srgbClr val="1C2736"/>
                          </a:solidFill>
                          <a:latin typeface="Aptos"/>
                        </a:defRPr>
                      </a:pPr>
                      <a:r>
                        <a:t>Mean Q fraction of nucleus</a:t>
                      </a:r>
                    </a:p>
                  </a:txBody>
                  <a:tcPr marL="45720" marR="36576" marT="27432" marB="27432">
                    <a:solidFill>
                      <a:srgbClr val="FFFFFF"/>
                    </a:solidFill>
                  </a:tcPr>
                </a:tc>
                <a:tc>
                  <a:txBody>
                    <a:bodyPr/>
                    <a:lstStyle/>
                    <a:p>
                      <a:pPr algn="l">
                        <a:defRPr sz="1080">
                          <a:solidFill>
                            <a:srgbClr val="1C2736"/>
                          </a:solidFill>
                          <a:latin typeface="Aptos"/>
                        </a:defRPr>
                      </a:pPr>
                      <a:r>
                        <a:t>0.0397</a:t>
                      </a:r>
                    </a:p>
                  </a:txBody>
                  <a:tcPr marL="45720" marR="36576" marT="27432" marB="27432">
                    <a:solidFill>
                      <a:srgbClr val="FFFFFF"/>
                    </a:solidFill>
                  </a:tcPr>
                </a:tc>
                <a:extLst>
                  <a:ext uri="{0D108BD9-81ED-4DB2-BD59-A6C34878D82A}">
                    <a16:rowId xmlns:a16="http://schemas.microsoft.com/office/drawing/2014/main" val="10005"/>
                  </a:ext>
                </a:extLst>
              </a:tr>
              <a:tr h="438912">
                <a:tc>
                  <a:txBody>
                    <a:bodyPr/>
                    <a:lstStyle/>
                    <a:p>
                      <a:pPr algn="l">
                        <a:defRPr sz="1080">
                          <a:solidFill>
                            <a:srgbClr val="1C2736"/>
                          </a:solidFill>
                          <a:latin typeface="Aptos"/>
                        </a:defRPr>
                      </a:pPr>
                      <a:r>
                        <a:t>Mean overlap / P</a:t>
                      </a:r>
                    </a:p>
                  </a:txBody>
                  <a:tcPr marL="45720" marR="36576" marT="27432" marB="27432">
                    <a:solidFill>
                      <a:srgbClr val="EEF3F9"/>
                    </a:solidFill>
                  </a:tcPr>
                </a:tc>
                <a:tc>
                  <a:txBody>
                    <a:bodyPr/>
                    <a:lstStyle/>
                    <a:p>
                      <a:pPr algn="l">
                        <a:defRPr sz="1080">
                          <a:solidFill>
                            <a:srgbClr val="1C2736"/>
                          </a:solidFill>
                          <a:latin typeface="Aptos"/>
                        </a:defRPr>
                      </a:pPr>
                      <a:r>
                        <a:t>0.3286</a:t>
                      </a:r>
                    </a:p>
                  </a:txBody>
                  <a:tcPr marL="45720" marR="36576" marT="27432" marB="27432">
                    <a:solidFill>
                      <a:srgbClr val="EEF3F9"/>
                    </a:solidFill>
                  </a:tcPr>
                </a:tc>
                <a:extLst>
                  <a:ext uri="{0D108BD9-81ED-4DB2-BD59-A6C34878D82A}">
                    <a16:rowId xmlns:a16="http://schemas.microsoft.com/office/drawing/2014/main" val="10006"/>
                  </a:ext>
                </a:extLst>
              </a:tr>
              <a:tr h="438912">
                <a:tc>
                  <a:txBody>
                    <a:bodyPr/>
                    <a:lstStyle/>
                    <a:p>
                      <a:pPr algn="l">
                        <a:defRPr sz="1080">
                          <a:solidFill>
                            <a:srgbClr val="1C2736"/>
                          </a:solidFill>
                          <a:latin typeface="Aptos"/>
                        </a:defRPr>
                      </a:pPr>
                      <a:r>
                        <a:t>Mean overlap / Q</a:t>
                      </a:r>
                    </a:p>
                  </a:txBody>
                  <a:tcPr marL="45720" marR="36576" marT="27432" marB="27432">
                    <a:solidFill>
                      <a:srgbClr val="FFFFFF"/>
                    </a:solidFill>
                  </a:tcPr>
                </a:tc>
                <a:tc>
                  <a:txBody>
                    <a:bodyPr/>
                    <a:lstStyle/>
                    <a:p>
                      <a:pPr algn="l">
                        <a:defRPr sz="1080">
                          <a:solidFill>
                            <a:srgbClr val="1C2736"/>
                          </a:solidFill>
                          <a:latin typeface="Aptos"/>
                        </a:defRPr>
                      </a:pPr>
                      <a:r>
                        <a:t>0.3546</a:t>
                      </a:r>
                    </a:p>
                  </a:txBody>
                  <a:tcPr marL="45720" marR="36576" marT="27432" marB="27432">
                    <a:solidFill>
                      <a:srgbClr val="FFFFFF"/>
                    </a:solidFill>
                  </a:tcPr>
                </a:tc>
                <a:extLst>
                  <a:ext uri="{0D108BD9-81ED-4DB2-BD59-A6C34878D82A}">
                    <a16:rowId xmlns:a16="http://schemas.microsoft.com/office/drawing/2014/main" val="10007"/>
                  </a:ext>
                </a:extLst>
              </a:tr>
              <a:tr h="438912">
                <a:tc>
                  <a:txBody>
                    <a:bodyPr/>
                    <a:lstStyle/>
                    <a:p>
                      <a:pPr algn="l">
                        <a:defRPr sz="1080">
                          <a:solidFill>
                            <a:srgbClr val="1C2736"/>
                          </a:solidFill>
                          <a:latin typeface="Aptos"/>
                        </a:defRPr>
                      </a:pPr>
                      <a:r>
                        <a:t>P/Q contact frequency</a:t>
                      </a:r>
                    </a:p>
                  </a:txBody>
                  <a:tcPr marL="45720" marR="36576" marT="27432" marB="27432">
                    <a:solidFill>
                      <a:srgbClr val="EEF3F9"/>
                    </a:solidFill>
                  </a:tcPr>
                </a:tc>
                <a:tc>
                  <a:txBody>
                    <a:bodyPr/>
                    <a:lstStyle/>
                    <a:p>
                      <a:pPr algn="l">
                        <a:defRPr sz="1080">
                          <a:solidFill>
                            <a:srgbClr val="1C2736"/>
                          </a:solidFill>
                          <a:latin typeface="Aptos"/>
                        </a:defRPr>
                      </a:pPr>
                      <a:r>
                        <a:t>0.5894</a:t>
                      </a:r>
                    </a:p>
                  </a:txBody>
                  <a:tcPr marL="45720" marR="36576" marT="27432" marB="27432">
                    <a:solidFill>
                      <a:srgbClr val="EEF3F9"/>
                    </a:solidFill>
                  </a:tcPr>
                </a:tc>
                <a:extLst>
                  <a:ext uri="{0D108BD9-81ED-4DB2-BD59-A6C34878D82A}">
                    <a16:rowId xmlns:a16="http://schemas.microsoft.com/office/drawing/2014/main" val="10008"/>
                  </a:ext>
                </a:extLst>
              </a:tr>
              <a:tr h="438912">
                <a:tc>
                  <a:txBody>
                    <a:bodyPr/>
                    <a:lstStyle/>
                    <a:p>
                      <a:pPr algn="l">
                        <a:defRPr sz="1080">
                          <a:solidFill>
                            <a:srgbClr val="1C2736"/>
                          </a:solidFill>
                          <a:latin typeface="Aptos"/>
                        </a:defRPr>
                      </a:pPr>
                      <a:r>
                        <a:t>Mean minimum edge distance</a:t>
                      </a:r>
                    </a:p>
                  </a:txBody>
                  <a:tcPr marL="45720" marR="36576" marT="27432" marB="27432">
                    <a:solidFill>
                      <a:srgbClr val="FFFFFF"/>
                    </a:solidFill>
                  </a:tcPr>
                </a:tc>
                <a:tc>
                  <a:txBody>
                    <a:bodyPr/>
                    <a:lstStyle/>
                    <a:p>
                      <a:pPr algn="l">
                        <a:defRPr sz="1080">
                          <a:solidFill>
                            <a:srgbClr val="1C2736"/>
                          </a:solidFill>
                          <a:latin typeface="Aptos"/>
                        </a:defRPr>
                      </a:pPr>
                      <a:r>
                        <a:t>0.3547 µm</a:t>
                      </a:r>
                    </a:p>
                  </a:txBody>
                  <a:tcPr marL="45720" marR="36576" marT="27432" marB="27432">
                    <a:solidFill>
                      <a:srgbClr val="FFFFFF"/>
                    </a:solidFill>
                  </a:tcPr>
                </a:tc>
                <a:extLst>
                  <a:ext uri="{0D108BD9-81ED-4DB2-BD59-A6C34878D82A}">
                    <a16:rowId xmlns:a16="http://schemas.microsoft.com/office/drawing/2014/main" val="10009"/>
                  </a:ext>
                </a:extLst>
              </a:tr>
            </a:tbl>
          </a:graphicData>
        </a:graphic>
      </p:graphicFrame>
      <p:pic>
        <p:nvPicPr>
          <p:cNvPr id="6" name="Picture 5" descr="plugin_screenshot.png"/>
          <p:cNvPicPr>
            <a:picLocks noChangeAspect="1"/>
          </p:cNvPicPr>
          <p:nvPr/>
        </p:nvPicPr>
        <p:blipFill>
          <a:blip r:embed="rId2"/>
          <a:stretch>
            <a:fillRect/>
          </a:stretch>
        </p:blipFill>
        <p:spPr>
          <a:xfrm>
            <a:off x="6126480" y="1234987"/>
            <a:ext cx="5120640" cy="2879265"/>
          </a:xfrm>
          <a:prstGeom prst="rect">
            <a:avLst/>
          </a:prstGeom>
        </p:spPr>
      </p:pic>
      <p:sp>
        <p:nvSpPr>
          <p:cNvPr id="7" name="Rectangle 6"/>
          <p:cNvSpPr/>
          <p:nvPr/>
        </p:nvSpPr>
        <p:spPr>
          <a:xfrm>
            <a:off x="6126480" y="1234987"/>
            <a:ext cx="5120640" cy="2879265"/>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36</a:t>
            </a:r>
          </a:p>
        </p:txBody>
      </p:sp>
      <p:sp>
        <p:nvSpPr>
          <p:cNvPr id="11" name="Rounded Rectangle 10"/>
          <p:cNvSpPr/>
          <p:nvPr/>
        </p:nvSpPr>
        <p:spPr>
          <a:xfrm>
            <a:off x="6144768" y="4315968"/>
            <a:ext cx="5102352" cy="1170432"/>
          </a:xfrm>
          <a:prstGeom prst="roundRect">
            <a:avLst/>
          </a:prstGeom>
          <a:solidFill>
            <a:srgbClr val="F6F8FC"/>
          </a:solidFill>
          <a:ln w="9525">
            <a:solidFill>
              <a:srgbClr val="7A899E"/>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ctr"/>
            <a:r>
              <a:rPr sz="1250">
                <a:solidFill>
                  <a:srgbClr val="2D3746"/>
                </a:solidFill>
                <a:latin typeface="Aptos"/>
              </a:rPr>
              <a:t>New in v0.3.7: after rerunning analysis, the per-nucleus CSV includes p_fish_signal_count and q_fish_signal_count. The population summary also reports total, mean, and median P/Q signal counts and fractions of nuclei with P, Q, or both signals.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EXAMPLE VISUALIZATION</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Example napari visualization after previewing nuclei and P/Q masks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lugin_screenshot.png"/>
          <p:cNvPicPr>
            <a:picLocks noChangeAspect="1"/>
          </p:cNvPicPr>
          <p:nvPr/>
        </p:nvPicPr>
        <p:blipFill>
          <a:blip r:embed="rId2"/>
          <a:stretch>
            <a:fillRect/>
          </a:stretch>
        </p:blipFill>
        <p:spPr>
          <a:xfrm>
            <a:off x="1405383" y="1051560"/>
            <a:ext cx="9350752" cy="5257800"/>
          </a:xfrm>
          <a:prstGeom prst="rect">
            <a:avLst/>
          </a:prstGeom>
        </p:spPr>
      </p:pic>
      <p:sp>
        <p:nvSpPr>
          <p:cNvPr id="6" name="Rectangle 5"/>
          <p:cNvSpPr/>
          <p:nvPr/>
        </p:nvSpPr>
        <p:spPr>
          <a:xfrm>
            <a:off x="1405383" y="1051560"/>
            <a:ext cx="9350752" cy="525780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QC OUTPUTS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Saved QC projections and mask projections</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These files help confirm that saved outputs match the napari preview.</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qc_and_mask_montage.png"/>
          <p:cNvPicPr>
            <a:picLocks noChangeAspect="1"/>
          </p:cNvPicPr>
          <p:nvPr/>
        </p:nvPicPr>
        <p:blipFill>
          <a:blip r:embed="rId2"/>
          <a:stretch>
            <a:fillRect/>
          </a:stretch>
        </p:blipFill>
        <p:spPr>
          <a:xfrm>
            <a:off x="2461669" y="1143000"/>
            <a:ext cx="3123381" cy="5349240"/>
          </a:xfrm>
          <a:prstGeom prst="rect">
            <a:avLst/>
          </a:prstGeom>
        </p:spPr>
      </p:pic>
      <p:sp>
        <p:nvSpPr>
          <p:cNvPr id="7" name="Rectangle 6"/>
          <p:cNvSpPr/>
          <p:nvPr/>
        </p:nvSpPr>
        <p:spPr>
          <a:xfrm>
            <a:off x="2461669" y="1143000"/>
            <a:ext cx="3123381" cy="5349240"/>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35240" y="1325880"/>
            <a:ext cx="4023360" cy="2560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QC projections summarize 3D stacks into quick 2D review images.</a:t>
            </a:r>
          </a:p>
          <a:p>
            <a:pPr>
              <a:lnSpc>
                <a:spcPct val="105000"/>
              </a:lnSpc>
              <a:spcAft>
                <a:spcPts val="156"/>
              </a:spcAft>
              <a:defRPr sz="1400">
                <a:solidFill>
                  <a:srgbClr val="1C2736"/>
                </a:solidFill>
                <a:latin typeface="Aptos"/>
              </a:defRPr>
            </a:pPr>
            <a:r>
              <a:t>• Nuclei labels can be inspected for over-splitting, merging, or missing objects.</a:t>
            </a:r>
          </a:p>
          <a:p>
            <a:pPr>
              <a:lnSpc>
                <a:spcPct val="105000"/>
              </a:lnSpc>
              <a:spcAft>
                <a:spcPts val="156"/>
              </a:spcAft>
              <a:defRPr sz="1400">
                <a:solidFill>
                  <a:srgbClr val="1C2736"/>
                </a:solidFill>
                <a:latin typeface="Aptos"/>
              </a:defRPr>
            </a:pPr>
            <a:r>
              <a:t>• P/Q/overlap mask projections confirm where the saved masks appear in the field.</a:t>
            </a:r>
          </a:p>
          <a:p>
            <a:pPr>
              <a:lnSpc>
                <a:spcPct val="105000"/>
              </a:lnSpc>
              <a:spcAft>
                <a:spcPts val="156"/>
              </a:spcAft>
              <a:defRPr sz="1400">
                <a:solidFill>
                  <a:srgbClr val="1C2736"/>
                </a:solidFill>
                <a:latin typeface="Aptos"/>
              </a:defRPr>
            </a:pPr>
            <a:r>
              <a:t>• For final validation, also scroll through the 3D masks in napari or another 3D viewer.</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 P and Q arm volumes as fractions of nuclear volume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c_like_arm_fraction_boxplot.png"/>
          <p:cNvPicPr>
            <a:picLocks noChangeAspect="1"/>
          </p:cNvPicPr>
          <p:nvPr/>
        </p:nvPicPr>
        <p:blipFill>
          <a:blip r:embed="rId2"/>
          <a:stretch>
            <a:fillRect/>
          </a:stretch>
        </p:blipFill>
        <p:spPr>
          <a:xfrm>
            <a:off x="731520" y="1291590"/>
            <a:ext cx="4937760" cy="4091939"/>
          </a:xfrm>
          <a:prstGeom prst="rect">
            <a:avLst/>
          </a:prstGeom>
        </p:spPr>
      </p:pic>
      <p:sp>
        <p:nvSpPr>
          <p:cNvPr id="6" name="TextBox 5"/>
          <p:cNvSpPr txBox="1"/>
          <p:nvPr/>
        </p:nvSpPr>
        <p:spPr>
          <a:xfrm>
            <a:off x="6217920" y="1325880"/>
            <a:ext cx="5120640" cy="265176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Each nucleus contributes P volume / nucleus volume and Q volume / nucleus volume.</a:t>
            </a:r>
          </a:p>
          <a:p>
            <a:pPr>
              <a:lnSpc>
                <a:spcPct val="105000"/>
              </a:lnSpc>
              <a:spcAft>
                <a:spcPts val="156"/>
              </a:spcAft>
              <a:defRPr sz="1420">
                <a:solidFill>
                  <a:srgbClr val="1C2736"/>
                </a:solidFill>
                <a:latin typeface="Aptos"/>
              </a:defRPr>
            </a:pPr>
            <a:r>
              <a:t>• Boxplots summarize the population distribution while suppressing individual outlier points.</a:t>
            </a:r>
          </a:p>
          <a:p>
            <a:pPr>
              <a:lnSpc>
                <a:spcPct val="105000"/>
              </a:lnSpc>
              <a:spcAft>
                <a:spcPts val="156"/>
              </a:spcAft>
              <a:defRPr sz="1420">
                <a:solidFill>
                  <a:srgbClr val="1C2736"/>
                </a:solidFill>
                <a:latin typeface="Aptos"/>
              </a:defRPr>
            </a:pPr>
            <a:r>
              <a:t>• This plot is useful for comparing how much of the nuclear volume each arm mask occupies.</a:t>
            </a:r>
          </a:p>
          <a:p>
            <a:pPr>
              <a:lnSpc>
                <a:spcPct val="105000"/>
              </a:lnSpc>
              <a:spcAft>
                <a:spcPts val="156"/>
              </a:spcAft>
              <a:defRPr sz="1420">
                <a:solidFill>
                  <a:srgbClr val="1C2736"/>
                </a:solidFill>
                <a:latin typeface="Aptos"/>
              </a:defRPr>
            </a:pPr>
            <a:r>
              <a:t>• If values are unexpectedly high, inspect probability threshold, maximum signal fraction, and component selection.</a:t>
            </a:r>
          </a:p>
        </p:txBody>
      </p:sp>
      <p:pic>
        <p:nvPicPr>
          <p:cNvPr id="7" name="Picture 6" descr="volume.png"/>
          <p:cNvPicPr>
            <a:picLocks noChangeAspect="1"/>
          </p:cNvPicPr>
          <p:nvPr/>
        </p:nvPicPr>
        <p:blipFill>
          <a:blip r:embed="rId3"/>
          <a:stretch>
            <a:fillRect/>
          </a:stretch>
        </p:blipFill>
        <p:spPr>
          <a:xfrm>
            <a:off x="6433185" y="4343400"/>
            <a:ext cx="4507230" cy="594360"/>
          </a:xfrm>
          <a:prstGeom prst="rect">
            <a:avLst/>
          </a:prstGeom>
        </p:spPr>
      </p:pic>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P/Q overlap normalized to each arm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d_like_overlap_boxplot.png"/>
          <p:cNvPicPr>
            <a:picLocks noChangeAspect="1"/>
          </p:cNvPicPr>
          <p:nvPr/>
        </p:nvPicPr>
        <p:blipFill>
          <a:blip r:embed="rId2"/>
          <a:stretch>
            <a:fillRect/>
          </a:stretch>
        </p:blipFill>
        <p:spPr>
          <a:xfrm>
            <a:off x="45720" y="1297940"/>
            <a:ext cx="3749039" cy="3106843"/>
          </a:xfrm>
          <a:prstGeom prst="rect">
            <a:avLst/>
          </a:prstGeom>
        </p:spPr>
      </p:pic>
      <p:pic>
        <p:nvPicPr>
          <p:cNvPr id="6" name="Picture 5" descr="overlap_histograms.png"/>
          <p:cNvPicPr>
            <a:picLocks noChangeAspect="1"/>
          </p:cNvPicPr>
          <p:nvPr/>
        </p:nvPicPr>
        <p:blipFill>
          <a:blip r:embed="rId3"/>
          <a:stretch>
            <a:fillRect/>
          </a:stretch>
        </p:blipFill>
        <p:spPr>
          <a:xfrm>
            <a:off x="4087947" y="1405589"/>
            <a:ext cx="4031345" cy="2650236"/>
          </a:xfrm>
          <a:prstGeom prst="rect">
            <a:avLst/>
          </a:prstGeom>
        </p:spPr>
      </p:pic>
      <p:pic>
        <p:nvPicPr>
          <p:cNvPr id="7" name="Picture 6" descr="overlap.png"/>
          <p:cNvPicPr>
            <a:picLocks noChangeAspect="1"/>
          </p:cNvPicPr>
          <p:nvPr/>
        </p:nvPicPr>
        <p:blipFill>
          <a:blip r:embed="rId4"/>
          <a:stretch>
            <a:fillRect/>
          </a:stretch>
        </p:blipFill>
        <p:spPr>
          <a:xfrm>
            <a:off x="4430846" y="4236419"/>
            <a:ext cx="3749039" cy="494378"/>
          </a:xfrm>
          <a:prstGeom prst="rect">
            <a:avLst/>
          </a:prstGeom>
        </p:spPr>
      </p:pic>
      <p:sp>
        <p:nvSpPr>
          <p:cNvPr id="8" name="TextBox 7"/>
          <p:cNvSpPr txBox="1"/>
          <p:nvPr/>
        </p:nvSpPr>
        <p:spPr>
          <a:xfrm>
            <a:off x="8412479" y="1417320"/>
            <a:ext cx="3378467" cy="1801134"/>
          </a:xfrm>
          <a:prstGeom prst="rect">
            <a:avLst/>
          </a:prstGeom>
          <a:noFill/>
        </p:spPr>
        <p:txBody>
          <a:bodyPr wrap="square" lIns="73152" tIns="18288" rIns="45720" bIns="18288">
            <a:spAutoFit/>
          </a:bodyPr>
          <a:lstStyle/>
          <a:p>
            <a:pPr>
              <a:lnSpc>
                <a:spcPct val="105000"/>
              </a:lnSpc>
              <a:spcAft>
                <a:spcPts val="156"/>
              </a:spcAft>
              <a:defRPr sz="1330">
                <a:solidFill>
                  <a:srgbClr val="1C2736"/>
                </a:solidFill>
                <a:latin typeface="Aptos"/>
              </a:defRPr>
            </a:pPr>
            <a:r>
              <a:rPr dirty="0"/>
              <a:t>• Overlap/P and Overlap/Q are different when P and Q volumes differ.</a:t>
            </a:r>
          </a:p>
          <a:p>
            <a:pPr>
              <a:lnSpc>
                <a:spcPct val="105000"/>
              </a:lnSpc>
              <a:spcAft>
                <a:spcPts val="156"/>
              </a:spcAft>
              <a:defRPr sz="1330">
                <a:solidFill>
                  <a:srgbClr val="1C2736"/>
                </a:solidFill>
                <a:latin typeface="Aptos"/>
              </a:defRPr>
            </a:pPr>
            <a:r>
              <a:rPr dirty="0"/>
              <a:t>• Histogram shape shows whether the population is concentrated or heterogeneous.</a:t>
            </a:r>
          </a:p>
          <a:p>
            <a:pPr>
              <a:lnSpc>
                <a:spcPct val="105000"/>
              </a:lnSpc>
              <a:spcAft>
                <a:spcPts val="156"/>
              </a:spcAft>
              <a:defRPr sz="1330">
                <a:solidFill>
                  <a:srgbClr val="1C2736"/>
                </a:solidFill>
                <a:latin typeface="Aptos"/>
              </a:defRPr>
            </a:pPr>
            <a:r>
              <a:rPr dirty="0"/>
              <a:t>• High overlap values may reflect true colocalization or over-inclusive segmentation; validate with overlays.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contact frequency and P/Q separation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2e_like_contact_frequency.png"/>
          <p:cNvPicPr>
            <a:picLocks noChangeAspect="1"/>
          </p:cNvPicPr>
          <p:nvPr/>
        </p:nvPicPr>
        <p:blipFill>
          <a:blip r:embed="rId2"/>
          <a:stretch>
            <a:fillRect/>
          </a:stretch>
        </p:blipFill>
        <p:spPr>
          <a:xfrm>
            <a:off x="502919" y="1170533"/>
            <a:ext cx="2926080" cy="2322372"/>
          </a:xfrm>
          <a:prstGeom prst="rect">
            <a:avLst/>
          </a:prstGeom>
        </p:spPr>
      </p:pic>
      <p:pic>
        <p:nvPicPr>
          <p:cNvPr id="6" name="Picture 5" descr="edge_distance_histogram.png"/>
          <p:cNvPicPr>
            <a:picLocks noChangeAspect="1"/>
          </p:cNvPicPr>
          <p:nvPr/>
        </p:nvPicPr>
        <p:blipFill>
          <a:blip r:embed="rId3"/>
          <a:stretch>
            <a:fillRect/>
          </a:stretch>
        </p:blipFill>
        <p:spPr>
          <a:xfrm>
            <a:off x="3689153" y="1143000"/>
            <a:ext cx="3685933" cy="2423160"/>
          </a:xfrm>
          <a:prstGeom prst="rect">
            <a:avLst/>
          </a:prstGeom>
        </p:spPr>
      </p:pic>
      <p:pic>
        <p:nvPicPr>
          <p:cNvPr id="7" name="Picture 6" descr="centroid_distance_histogram.png"/>
          <p:cNvPicPr>
            <a:picLocks noChangeAspect="1"/>
          </p:cNvPicPr>
          <p:nvPr/>
        </p:nvPicPr>
        <p:blipFill>
          <a:blip r:embed="rId4"/>
          <a:stretch>
            <a:fillRect/>
          </a:stretch>
        </p:blipFill>
        <p:spPr>
          <a:xfrm>
            <a:off x="7621073" y="1143000"/>
            <a:ext cx="3685933" cy="2423160"/>
          </a:xfrm>
          <a:prstGeom prst="rect">
            <a:avLst/>
          </a:prstGeom>
        </p:spPr>
      </p:pic>
      <p:sp>
        <p:nvSpPr>
          <p:cNvPr id="8" name="TextBox 7"/>
          <p:cNvSpPr txBox="1"/>
          <p:nvPr/>
        </p:nvSpPr>
        <p:spPr>
          <a:xfrm>
            <a:off x="822960" y="4160520"/>
            <a:ext cx="10607040" cy="141732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Contact is a binary call per nucleus; contact frequency is the population mean.</a:t>
            </a:r>
          </a:p>
          <a:p>
            <a:pPr>
              <a:lnSpc>
                <a:spcPct val="105000"/>
              </a:lnSpc>
              <a:spcAft>
                <a:spcPts val="156"/>
              </a:spcAft>
              <a:defRPr sz="1400">
                <a:solidFill>
                  <a:srgbClr val="1C2736"/>
                </a:solidFill>
                <a:latin typeface="Aptos"/>
              </a:defRPr>
            </a:pPr>
            <a:r>
              <a:t>• Minimum edge distance is zero when masks overlap/touch; positive when separated.</a:t>
            </a:r>
          </a:p>
          <a:p>
            <a:pPr>
              <a:lnSpc>
                <a:spcPct val="105000"/>
              </a:lnSpc>
              <a:spcAft>
                <a:spcPts val="156"/>
              </a:spcAft>
              <a:defRPr sz="1400">
                <a:solidFill>
                  <a:srgbClr val="1C2736"/>
                </a:solidFill>
                <a:latin typeface="Aptos"/>
              </a:defRPr>
            </a:pPr>
            <a:r>
              <a:t>• Centroid separation measures territory-center distance, not boundary distance.</a:t>
            </a:r>
          </a:p>
          <a:p>
            <a:pPr>
              <a:lnSpc>
                <a:spcPct val="105000"/>
              </a:lnSpc>
              <a:spcAft>
                <a:spcPts val="156"/>
              </a:spcAft>
              <a:defRPr sz="1400">
                <a:solidFill>
                  <a:srgbClr val="1C2736"/>
                </a:solidFill>
                <a:latin typeface="Aptos"/>
              </a:defRPr>
            </a:pPr>
            <a:r>
              <a:t>• Use edge distance and centroid distance together because they capture different spatial relationships.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shape and radial position summaries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t_sphericity_boxplot.png"/>
          <p:cNvPicPr>
            <a:picLocks noChangeAspect="1"/>
          </p:cNvPicPr>
          <p:nvPr/>
        </p:nvPicPr>
        <p:blipFill>
          <a:blip r:embed="rId2"/>
          <a:stretch>
            <a:fillRect/>
          </a:stretch>
        </p:blipFill>
        <p:spPr>
          <a:xfrm>
            <a:off x="579673" y="1143000"/>
            <a:ext cx="3641253" cy="3017520"/>
          </a:xfrm>
          <a:prstGeom prst="rect">
            <a:avLst/>
          </a:prstGeom>
        </p:spPr>
      </p:pic>
      <p:pic>
        <p:nvPicPr>
          <p:cNvPr id="6" name="Picture 5" descr="nucleus_sphericity_histogram.png"/>
          <p:cNvPicPr>
            <a:picLocks noChangeAspect="1"/>
          </p:cNvPicPr>
          <p:nvPr/>
        </p:nvPicPr>
        <p:blipFill>
          <a:blip r:embed="rId3"/>
          <a:stretch>
            <a:fillRect/>
          </a:stretch>
        </p:blipFill>
        <p:spPr>
          <a:xfrm>
            <a:off x="4467359" y="1143000"/>
            <a:ext cx="3546841" cy="2331720"/>
          </a:xfrm>
          <a:prstGeom prst="rect">
            <a:avLst/>
          </a:prstGeom>
        </p:spPr>
      </p:pic>
      <p:pic>
        <p:nvPicPr>
          <p:cNvPr id="7" name="Picture 6" descr="ct_centroid_radial_position_boxplot.png"/>
          <p:cNvPicPr>
            <a:picLocks noChangeAspect="1"/>
          </p:cNvPicPr>
          <p:nvPr/>
        </p:nvPicPr>
        <p:blipFill>
          <a:blip r:embed="rId4"/>
          <a:stretch>
            <a:fillRect/>
          </a:stretch>
        </p:blipFill>
        <p:spPr>
          <a:xfrm>
            <a:off x="7986313" y="1143000"/>
            <a:ext cx="3641253" cy="3017520"/>
          </a:xfrm>
          <a:prstGeom prst="rect">
            <a:avLst/>
          </a:prstGeom>
        </p:spPr>
      </p:pic>
      <p:sp>
        <p:nvSpPr>
          <p:cNvPr id="8" name="TextBox 7"/>
          <p:cNvSpPr txBox="1"/>
          <p:nvPr/>
        </p:nvSpPr>
        <p:spPr>
          <a:xfrm>
            <a:off x="1005840" y="4709160"/>
            <a:ext cx="10058400" cy="914400"/>
          </a:xfrm>
          <a:prstGeom prst="rect">
            <a:avLst/>
          </a:prstGeom>
          <a:noFill/>
        </p:spPr>
        <p:txBody>
          <a:bodyPr wrap="square" lIns="73152" tIns="18288" rIns="45720" bIns="18288">
            <a:spAutoFit/>
          </a:bodyPr>
          <a:lstStyle/>
          <a:p>
            <a:pPr>
              <a:lnSpc>
                <a:spcPct val="105000"/>
              </a:lnSpc>
              <a:spcAft>
                <a:spcPts val="156"/>
              </a:spcAft>
              <a:defRPr sz="1430">
                <a:solidFill>
                  <a:srgbClr val="1C2736"/>
                </a:solidFill>
                <a:latin typeface="Aptos"/>
              </a:defRPr>
            </a:pPr>
            <a:r>
              <a:t>• Sphericity/compactness help identify fragmented, rough, or over-smoothed masks.</a:t>
            </a:r>
          </a:p>
          <a:p>
            <a:pPr>
              <a:lnSpc>
                <a:spcPct val="105000"/>
              </a:lnSpc>
              <a:spcAft>
                <a:spcPts val="156"/>
              </a:spcAft>
              <a:defRPr sz="1430">
                <a:solidFill>
                  <a:srgbClr val="1C2736"/>
                </a:solidFill>
                <a:latin typeface="Aptos"/>
              </a:defRPr>
            </a:pPr>
            <a:r>
              <a:t>• Radial centroid values summarize center-to-surface position on a 0-to-1 scale.</a:t>
            </a:r>
          </a:p>
          <a:p>
            <a:pPr>
              <a:lnSpc>
                <a:spcPct val="105000"/>
              </a:lnSpc>
              <a:spcAft>
                <a:spcPts val="156"/>
              </a:spcAft>
              <a:defRPr sz="1430">
                <a:solidFill>
                  <a:srgbClr val="1C2736"/>
                </a:solidFill>
                <a:latin typeface="Aptos"/>
              </a:defRPr>
            </a:pPr>
            <a:r>
              <a:t>• Use these plots as QC as well as biological/structural summaries.</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RESULT PLOTS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Plots: relationships between P volume, Q volume, and overlap</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p_vs_q_volume_scatter.png"/>
          <p:cNvPicPr>
            <a:picLocks noChangeAspect="1"/>
          </p:cNvPicPr>
          <p:nvPr/>
        </p:nvPicPr>
        <p:blipFill>
          <a:blip r:embed="rId2"/>
          <a:stretch>
            <a:fillRect/>
          </a:stretch>
        </p:blipFill>
        <p:spPr>
          <a:xfrm>
            <a:off x="731520" y="1248433"/>
            <a:ext cx="4572000" cy="4132532"/>
          </a:xfrm>
          <a:prstGeom prst="rect">
            <a:avLst/>
          </a:prstGeom>
        </p:spPr>
      </p:pic>
      <p:pic>
        <p:nvPicPr>
          <p:cNvPr id="6" name="Picture 5" descr="mean_arm_volume_vs_overlap_scatter.png"/>
          <p:cNvPicPr>
            <a:picLocks noChangeAspect="1"/>
          </p:cNvPicPr>
          <p:nvPr/>
        </p:nvPicPr>
        <p:blipFill>
          <a:blip r:embed="rId3"/>
          <a:stretch>
            <a:fillRect/>
          </a:stretch>
        </p:blipFill>
        <p:spPr>
          <a:xfrm>
            <a:off x="6309360" y="1248433"/>
            <a:ext cx="4572000" cy="4132532"/>
          </a:xfrm>
          <a:prstGeom prst="rect">
            <a:avLst/>
          </a:prstGeom>
        </p:spPr>
      </p:pic>
      <p:sp>
        <p:nvSpPr>
          <p:cNvPr id="7" name="TextBox 6"/>
          <p:cNvSpPr txBox="1"/>
          <p:nvPr/>
        </p:nvSpPr>
        <p:spPr>
          <a:xfrm>
            <a:off x="914400" y="5541745"/>
            <a:ext cx="10332720" cy="822960"/>
          </a:xfrm>
          <a:prstGeom prst="rect">
            <a:avLst/>
          </a:prstGeom>
          <a:noFill/>
        </p:spPr>
        <p:txBody>
          <a:bodyPr wrap="square" lIns="73152" tIns="18288" rIns="45720" bIns="18288">
            <a:spAutoFit/>
          </a:bodyPr>
          <a:lstStyle/>
          <a:p>
            <a:pPr>
              <a:lnSpc>
                <a:spcPct val="105000"/>
              </a:lnSpc>
              <a:spcAft>
                <a:spcPts val="156"/>
              </a:spcAft>
              <a:defRPr sz="1300">
                <a:solidFill>
                  <a:srgbClr val="1C2736"/>
                </a:solidFill>
                <a:latin typeface="Aptos"/>
              </a:defRPr>
            </a:pPr>
            <a:r>
              <a:t>• P vs Q volume shows whether large P territories tend to occur with large Q territories.</a:t>
            </a:r>
          </a:p>
          <a:p>
            <a:pPr>
              <a:lnSpc>
                <a:spcPct val="105000"/>
              </a:lnSpc>
              <a:spcAft>
                <a:spcPts val="156"/>
              </a:spcAft>
              <a:defRPr sz="1300">
                <a:solidFill>
                  <a:srgbClr val="1C2736"/>
                </a:solidFill>
                <a:latin typeface="Aptos"/>
              </a:defRPr>
            </a:pPr>
            <a:r>
              <a:t>• Mean arm volume vs overlap helps determine whether overlap increases mainly because arms are larger.</a:t>
            </a:r>
          </a:p>
          <a:p>
            <a:pPr>
              <a:lnSpc>
                <a:spcPct val="105000"/>
              </a:lnSpc>
              <a:spcAft>
                <a:spcPts val="156"/>
              </a:spcAft>
              <a:defRPr sz="1300">
                <a:solidFill>
                  <a:srgbClr val="1C2736"/>
                </a:solidFill>
                <a:latin typeface="Aptos"/>
              </a:defRPr>
            </a:pPr>
            <a:r>
              <a:t>• Outliers should be inspected in the mask layers because they may represent segmentation errors or unusual objects.</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500" b="1" i="0">
                <a:solidFill>
                  <a:srgbClr val="FFFFFF"/>
                </a:solidFill>
                <a:latin typeface="Aptos"/>
              </a:rPr>
              <a:t>Practical parameter tuning guide</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Section: Tuning</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45</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Recommended tuning order</a:t>
            </a:r>
          </a:p>
        </p:txBody>
      </p:sp>
      <p:sp>
        <p:nvSpPr>
          <p:cNvPr id="4" name="TextBox 3"/>
          <p:cNvSpPr txBox="1"/>
          <p:nvPr/>
        </p:nvSpPr>
        <p:spPr>
          <a:xfrm>
            <a:off x="521207" y="932688"/>
            <a:ext cx="10698480" cy="320040"/>
          </a:xfrm>
          <a:prstGeom prst="rect">
            <a:avLst/>
          </a:prstGeom>
          <a:noFill/>
        </p:spPr>
        <p:txBody>
          <a:bodyPr wrap="none" lIns="18288" tIns="18288" rIns="18288" bIns="18288">
            <a:spAutoFit/>
          </a:bodyPr>
          <a:lstStyle/>
          <a:p>
            <a:r>
              <a:rPr sz="1200" b="0" i="0">
                <a:solidFill>
                  <a:srgbClr val="586069"/>
                </a:solidFill>
                <a:latin typeface="Aptos"/>
              </a:rPr>
              <a:t>Changing parameters out of order can hide the real problem.</a:t>
            </a:r>
          </a:p>
        </p:txBody>
      </p:sp>
      <p:sp>
        <p:nvSpPr>
          <p:cNvPr id="5" name="Rectangle 4"/>
          <p:cNvSpPr/>
          <p:nvPr/>
        </p:nvSpPr>
        <p:spPr>
          <a:xfrm>
            <a:off x="502920" y="1143000"/>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0292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Scene + channels</a:t>
            </a:r>
          </a:p>
        </p:txBody>
      </p:sp>
      <p:sp>
        <p:nvSpPr>
          <p:cNvPr id="8" name="Right Arrow 7"/>
          <p:cNvSpPr/>
          <p:nvPr/>
        </p:nvSpPr>
        <p:spPr>
          <a:xfrm>
            <a:off x="198424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2112263"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57983"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Nuclei</a:t>
            </a:r>
          </a:p>
        </p:txBody>
      </p:sp>
      <p:sp>
        <p:nvSpPr>
          <p:cNvPr id="11" name="Right Arrow 10"/>
          <p:cNvSpPr/>
          <p:nvPr/>
        </p:nvSpPr>
        <p:spPr>
          <a:xfrm>
            <a:off x="3593591"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21607" y="1280160"/>
            <a:ext cx="1499616" cy="64008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67327" y="1404761"/>
            <a:ext cx="1435609" cy="390876"/>
          </a:xfrm>
          <a:prstGeom prst="rect">
            <a:avLst/>
          </a:prstGeom>
          <a:noFill/>
        </p:spPr>
        <p:txBody>
          <a:bodyPr wrap="square" lIns="18288" tIns="18288" rIns="18288" bIns="18288" anchor="ctr">
            <a:spAutoFit/>
          </a:bodyPr>
          <a:lstStyle/>
          <a:p>
            <a:pPr algn="ctr"/>
            <a:r>
              <a:rPr sz="1150" b="1" i="0" dirty="0">
                <a:solidFill>
                  <a:srgbClr val="FFFFFF"/>
                </a:solidFill>
                <a:latin typeface="Aptos"/>
              </a:rPr>
              <a:t>GMM class + threshold</a:t>
            </a:r>
          </a:p>
        </p:txBody>
      </p:sp>
      <p:sp>
        <p:nvSpPr>
          <p:cNvPr id="14" name="Right Arrow 13"/>
          <p:cNvSpPr/>
          <p:nvPr/>
        </p:nvSpPr>
        <p:spPr>
          <a:xfrm>
            <a:off x="5202936"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330951" y="1280160"/>
            <a:ext cx="1499616" cy="640080"/>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376671"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Presence gate</a:t>
            </a:r>
          </a:p>
        </p:txBody>
      </p:sp>
      <p:sp>
        <p:nvSpPr>
          <p:cNvPr id="17" name="Right Arrow 16"/>
          <p:cNvSpPr/>
          <p:nvPr/>
        </p:nvSpPr>
        <p:spPr>
          <a:xfrm>
            <a:off x="6812279"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940295" y="1280160"/>
            <a:ext cx="1499616" cy="640080"/>
          </a:xfrm>
          <a:prstGeom prst="round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86015"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Component selection</a:t>
            </a:r>
          </a:p>
        </p:txBody>
      </p:sp>
      <p:sp>
        <p:nvSpPr>
          <p:cNvPr id="20" name="Right Arrow 19"/>
          <p:cNvSpPr/>
          <p:nvPr/>
        </p:nvSpPr>
        <p:spPr>
          <a:xfrm>
            <a:off x="8421624"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549640" y="1280160"/>
            <a:ext cx="1499616" cy="640080"/>
          </a:xfrm>
          <a:prstGeom prst="round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95360"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MRF/CRF</a:t>
            </a:r>
          </a:p>
        </p:txBody>
      </p:sp>
      <p:sp>
        <p:nvSpPr>
          <p:cNvPr id="23" name="Right Arrow 22"/>
          <p:cNvSpPr/>
          <p:nvPr/>
        </p:nvSpPr>
        <p:spPr>
          <a:xfrm>
            <a:off x="10030968" y="1490472"/>
            <a:ext cx="146304" cy="219456"/>
          </a:xfrm>
          <a:prstGeom prst="rightArrow">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0158984" y="1280160"/>
            <a:ext cx="1499616" cy="640080"/>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204704" y="1371600"/>
            <a:ext cx="1408175" cy="457199"/>
          </a:xfrm>
          <a:prstGeom prst="rect">
            <a:avLst/>
          </a:prstGeom>
          <a:noFill/>
        </p:spPr>
        <p:txBody>
          <a:bodyPr wrap="none" lIns="18288" tIns="18288" rIns="18288" bIns="18288" anchor="ctr">
            <a:spAutoFit/>
          </a:bodyPr>
          <a:lstStyle/>
          <a:p>
            <a:pPr algn="ctr"/>
            <a:r>
              <a:rPr sz="1150" b="1" i="0">
                <a:solidFill>
                  <a:srgbClr val="FFFFFF"/>
                </a:solidFill>
                <a:latin typeface="Aptos"/>
              </a:rPr>
              <a:t>Save config</a:t>
            </a:r>
          </a:p>
        </p:txBody>
      </p:sp>
      <p:sp>
        <p:nvSpPr>
          <p:cNvPr id="26" name="TextBox 25"/>
          <p:cNvSpPr txBox="1"/>
          <p:nvPr/>
        </p:nvSpPr>
        <p:spPr>
          <a:xfrm>
            <a:off x="914400" y="2423160"/>
            <a:ext cx="4937760" cy="2292422"/>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rPr dirty="0"/>
              <a:t>1. Confirm the correct scene and raw channels first.</a:t>
            </a:r>
          </a:p>
          <a:p>
            <a:pPr>
              <a:lnSpc>
                <a:spcPct val="105000"/>
              </a:lnSpc>
              <a:spcAft>
                <a:spcPts val="156"/>
              </a:spcAft>
              <a:defRPr sz="1450">
                <a:solidFill>
                  <a:srgbClr val="1C2736"/>
                </a:solidFill>
                <a:latin typeface="Aptos"/>
              </a:defRPr>
            </a:pPr>
            <a:r>
              <a:rPr dirty="0"/>
              <a:t>2. Tune nuclei until boundaries are reliable.</a:t>
            </a:r>
          </a:p>
          <a:p>
            <a:pPr>
              <a:lnSpc>
                <a:spcPct val="105000"/>
              </a:lnSpc>
              <a:spcAft>
                <a:spcPts val="156"/>
              </a:spcAft>
              <a:defRPr sz="1450">
                <a:solidFill>
                  <a:srgbClr val="1C2736"/>
                </a:solidFill>
                <a:latin typeface="Aptos"/>
              </a:defRPr>
            </a:pPr>
            <a:r>
              <a:rPr dirty="0"/>
              <a:t>3. Tune GMM classes and probability threshold to get the approximate P/Q signal.</a:t>
            </a:r>
          </a:p>
          <a:p>
            <a:pPr>
              <a:lnSpc>
                <a:spcPct val="105000"/>
              </a:lnSpc>
              <a:spcAft>
                <a:spcPts val="156"/>
              </a:spcAft>
              <a:defRPr sz="1450">
                <a:solidFill>
                  <a:srgbClr val="1C2736"/>
                </a:solidFill>
                <a:latin typeface="Aptos"/>
              </a:defRPr>
            </a:pPr>
            <a:r>
              <a:rPr dirty="0"/>
              <a:t>4. Tune the presence gate to reject no-signal/noise nuclei.</a:t>
            </a:r>
          </a:p>
          <a:p>
            <a:pPr>
              <a:lnSpc>
                <a:spcPct val="105000"/>
              </a:lnSpc>
              <a:spcAft>
                <a:spcPts val="156"/>
              </a:spcAft>
              <a:defRPr sz="1450">
                <a:solidFill>
                  <a:srgbClr val="1C2736"/>
                </a:solidFill>
                <a:latin typeface="Aptos"/>
              </a:defRPr>
            </a:pPr>
            <a:r>
              <a:rPr dirty="0"/>
              <a:t>5. Tune component selection to keep plausible objects.</a:t>
            </a:r>
          </a:p>
          <a:p>
            <a:pPr>
              <a:lnSpc>
                <a:spcPct val="105000"/>
              </a:lnSpc>
              <a:spcAft>
                <a:spcPts val="156"/>
              </a:spcAft>
              <a:defRPr sz="1450">
                <a:solidFill>
                  <a:srgbClr val="1C2736"/>
                </a:solidFill>
                <a:latin typeface="Aptos"/>
              </a:defRPr>
            </a:pPr>
            <a:r>
              <a:rPr dirty="0"/>
              <a:t>6. Add MRF/CRF only when boundary quality needs improvement.</a:t>
            </a:r>
          </a:p>
          <a:p>
            <a:pPr>
              <a:lnSpc>
                <a:spcPct val="105000"/>
              </a:lnSpc>
              <a:spcAft>
                <a:spcPts val="156"/>
              </a:spcAft>
              <a:defRPr sz="1450">
                <a:solidFill>
                  <a:srgbClr val="1C2736"/>
                </a:solidFill>
                <a:latin typeface="Aptos"/>
              </a:defRPr>
            </a:pPr>
            <a:r>
              <a:rPr dirty="0"/>
              <a:t>7. Save configuration before final/batch analysis.</a:t>
            </a:r>
          </a:p>
        </p:txBody>
      </p:sp>
      <p:sp>
        <p:nvSpPr>
          <p:cNvPr id="27" name="Rounded Rectangle 26"/>
          <p:cNvSpPr/>
          <p:nvPr/>
        </p:nvSpPr>
        <p:spPr>
          <a:xfrm>
            <a:off x="6400800" y="2423160"/>
            <a:ext cx="4937760" cy="18288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00800" y="2423160"/>
            <a:ext cx="73152" cy="182880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47104" y="2532888"/>
            <a:ext cx="4709160" cy="320040"/>
          </a:xfrm>
          <a:prstGeom prst="rect">
            <a:avLst/>
          </a:prstGeom>
          <a:noFill/>
        </p:spPr>
        <p:txBody>
          <a:bodyPr wrap="none" lIns="18288" tIns="18288" rIns="18288" bIns="18288">
            <a:spAutoFit/>
          </a:bodyPr>
          <a:lstStyle/>
          <a:p>
            <a:r>
              <a:rPr sz="1500" b="1" i="0">
                <a:solidFill>
                  <a:srgbClr val="081F3A"/>
                </a:solidFill>
                <a:latin typeface="Aptos"/>
              </a:rPr>
              <a:t>Most common mistake</a:t>
            </a:r>
          </a:p>
        </p:txBody>
      </p:sp>
      <p:sp>
        <p:nvSpPr>
          <p:cNvPr id="30" name="TextBox 29"/>
          <p:cNvSpPr txBox="1"/>
          <p:nvPr/>
        </p:nvSpPr>
        <p:spPr>
          <a:xfrm>
            <a:off x="6547104" y="2898648"/>
            <a:ext cx="4672583" cy="614014"/>
          </a:xfrm>
          <a:prstGeom prst="rect">
            <a:avLst/>
          </a:prstGeom>
          <a:noFill/>
        </p:spPr>
        <p:txBody>
          <a:bodyPr wrap="square" lIns="18288" tIns="18288" rIns="18288" bIns="18288">
            <a:spAutoFit/>
          </a:bodyPr>
          <a:lstStyle/>
          <a:p>
            <a:r>
              <a:rPr sz="1250" b="0" i="0" dirty="0">
                <a:solidFill>
                  <a:srgbClr val="1C2736"/>
                </a:solidFill>
                <a:latin typeface="Aptos"/>
              </a:rPr>
              <a:t>Trying to fix a wrong channel, poor nucleus mask, or bad probability threshold using MRF/CRF. MRF/CRF is a refinement step; it cannot recover a fundamentally wrong starting segmentation.</a:t>
            </a:r>
          </a:p>
        </p:txBody>
      </p:sp>
      <p:sp>
        <p:nvSpPr>
          <p:cNvPr id="31" name="TextBox 3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2" name="TextBox 3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46</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TUNING</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Troubleshooting by visual failure mode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02920" y="1188720"/>
          <a:ext cx="11201400" cy="48463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692331">
                <a:tc>
                  <a:txBody>
                    <a:bodyPr/>
                    <a:lstStyle/>
                    <a:p>
                      <a:pPr algn="l">
                        <a:defRPr sz="1000">
                          <a:solidFill>
                            <a:srgbClr val="FFFFFF"/>
                          </a:solidFill>
                          <a:latin typeface="Aptos"/>
                        </a:defRPr>
                      </a:pPr>
                      <a:r>
                        <a:t>Problem in preview</a:t>
                      </a:r>
                    </a:p>
                  </a:txBody>
                  <a:tcPr marL="45720" marR="36576" marT="27432" marB="27432">
                    <a:solidFill>
                      <a:srgbClr val="081F3A"/>
                    </a:solidFill>
                  </a:tcPr>
                </a:tc>
                <a:tc>
                  <a:txBody>
                    <a:bodyPr/>
                    <a:lstStyle/>
                    <a:p>
                      <a:pPr algn="l">
                        <a:defRPr sz="1000">
                          <a:solidFill>
                            <a:srgbClr val="FFFFFF"/>
                          </a:solidFill>
                          <a:latin typeface="Aptos"/>
                        </a:defRPr>
                      </a:pPr>
                      <a:r>
                        <a:t>Likely cause</a:t>
                      </a:r>
                    </a:p>
                  </a:txBody>
                  <a:tcPr marL="45720" marR="36576" marT="27432" marB="27432">
                    <a:solidFill>
                      <a:srgbClr val="081F3A"/>
                    </a:solidFill>
                  </a:tcPr>
                </a:tc>
                <a:tc>
                  <a:txBody>
                    <a:bodyPr/>
                    <a:lstStyle/>
                    <a:p>
                      <a:pPr algn="l">
                        <a:defRPr sz="1000">
                          <a:solidFill>
                            <a:srgbClr val="FFFFFF"/>
                          </a:solidFill>
                          <a:latin typeface="Aptos"/>
                        </a:defRPr>
                      </a:pPr>
                      <a:r>
                        <a:t>Try these changes</a:t>
                      </a:r>
                    </a:p>
                  </a:txBody>
                  <a:tcPr marL="45720" marR="36576" marT="27432" marB="27432">
                    <a:solidFill>
                      <a:srgbClr val="081F3A"/>
                    </a:solidFill>
                  </a:tcPr>
                </a:tc>
                <a:extLst>
                  <a:ext uri="{0D108BD9-81ED-4DB2-BD59-A6C34878D82A}">
                    <a16:rowId xmlns:a16="http://schemas.microsoft.com/office/drawing/2014/main" val="10000"/>
                  </a:ext>
                </a:extLst>
              </a:tr>
              <a:tr h="692331">
                <a:tc>
                  <a:txBody>
                    <a:bodyPr/>
                    <a:lstStyle/>
                    <a:p>
                      <a:pPr algn="l">
                        <a:defRPr sz="950">
                          <a:solidFill>
                            <a:srgbClr val="1C2736"/>
                          </a:solidFill>
                          <a:latin typeface="Aptos"/>
                        </a:defRPr>
                      </a:pPr>
                      <a:r>
                        <a:t>Noisy specks segmented</a:t>
                      </a:r>
                    </a:p>
                  </a:txBody>
                  <a:tcPr marL="45720" marR="36576" marT="27432" marB="27432">
                    <a:solidFill>
                      <a:srgbClr val="FFFFFF"/>
                    </a:solidFill>
                  </a:tcPr>
                </a:tc>
                <a:tc>
                  <a:txBody>
                    <a:bodyPr/>
                    <a:lstStyle/>
                    <a:p>
                      <a:pPr algn="l">
                        <a:defRPr sz="950">
                          <a:solidFill>
                            <a:srgbClr val="1C2736"/>
                          </a:solidFill>
                          <a:latin typeface="Aptos"/>
                        </a:defRPr>
                      </a:pPr>
                      <a:r>
                        <a:t>Gate too permissive; components too small</a:t>
                      </a:r>
                    </a:p>
                  </a:txBody>
                  <a:tcPr marL="45720" marR="36576" marT="27432" marB="27432">
                    <a:solidFill>
                      <a:srgbClr val="FFFFFF"/>
                    </a:solidFill>
                  </a:tcPr>
                </a:tc>
                <a:tc>
                  <a:txBody>
                    <a:bodyPr/>
                    <a:lstStyle/>
                    <a:p>
                      <a:pPr algn="l">
                        <a:defRPr sz="950">
                          <a:solidFill>
                            <a:srgbClr val="1C2736"/>
                          </a:solidFill>
                          <a:latin typeface="Aptos"/>
                        </a:defRPr>
                      </a:pPr>
                      <a:r>
                        <a:t>Increase min SNR, Delta BIC, min arm volume, component score threshold</a:t>
                      </a:r>
                    </a:p>
                  </a:txBody>
                  <a:tcPr marL="45720" marR="36576" marT="27432" marB="27432">
                    <a:solidFill>
                      <a:srgbClr val="FFFFFF"/>
                    </a:solidFill>
                  </a:tcPr>
                </a:tc>
                <a:extLst>
                  <a:ext uri="{0D108BD9-81ED-4DB2-BD59-A6C34878D82A}">
                    <a16:rowId xmlns:a16="http://schemas.microsoft.com/office/drawing/2014/main" val="10001"/>
                  </a:ext>
                </a:extLst>
              </a:tr>
              <a:tr h="692331">
                <a:tc>
                  <a:txBody>
                    <a:bodyPr/>
                    <a:lstStyle/>
                    <a:p>
                      <a:pPr algn="l">
                        <a:defRPr sz="950">
                          <a:solidFill>
                            <a:srgbClr val="1C2736"/>
                          </a:solidFill>
                          <a:latin typeface="Aptos"/>
                        </a:defRPr>
                      </a:pPr>
                      <a:r>
                        <a:t>True signal missed</a:t>
                      </a:r>
                    </a:p>
                  </a:txBody>
                  <a:tcPr marL="45720" marR="36576" marT="27432" marB="27432">
                    <a:solidFill>
                      <a:srgbClr val="EEF3F9"/>
                    </a:solidFill>
                  </a:tcPr>
                </a:tc>
                <a:tc>
                  <a:txBody>
                    <a:bodyPr/>
                    <a:lstStyle/>
                    <a:p>
                      <a:pPr algn="l">
                        <a:defRPr sz="950">
                          <a:solidFill>
                            <a:srgbClr val="1C2736"/>
                          </a:solidFill>
                          <a:latin typeface="Aptos"/>
                        </a:defRPr>
                      </a:pPr>
                      <a:r>
                        <a:t>Threshold/gate too strict</a:t>
                      </a:r>
                    </a:p>
                  </a:txBody>
                  <a:tcPr marL="45720" marR="36576" marT="27432" marB="27432">
                    <a:solidFill>
                      <a:srgbClr val="EEF3F9"/>
                    </a:solidFill>
                  </a:tcPr>
                </a:tc>
                <a:tc>
                  <a:txBody>
                    <a:bodyPr/>
                    <a:lstStyle/>
                    <a:p>
                      <a:pPr algn="l">
                        <a:defRPr sz="950">
                          <a:solidFill>
                            <a:srgbClr val="1C2736"/>
                          </a:solidFill>
                          <a:latin typeface="Aptos"/>
                        </a:defRPr>
                      </a:pPr>
                      <a:r>
                        <a:t>Lower probability threshold, SNR, Delta BIC, min mean posterior</a:t>
                      </a:r>
                    </a:p>
                  </a:txBody>
                  <a:tcPr marL="45720" marR="36576" marT="27432" marB="27432">
                    <a:solidFill>
                      <a:srgbClr val="EEF3F9"/>
                    </a:solidFill>
                  </a:tcPr>
                </a:tc>
                <a:extLst>
                  <a:ext uri="{0D108BD9-81ED-4DB2-BD59-A6C34878D82A}">
                    <a16:rowId xmlns:a16="http://schemas.microsoft.com/office/drawing/2014/main" val="10002"/>
                  </a:ext>
                </a:extLst>
              </a:tr>
              <a:tr h="692331">
                <a:tc>
                  <a:txBody>
                    <a:bodyPr/>
                    <a:lstStyle/>
                    <a:p>
                      <a:pPr algn="l">
                        <a:defRPr sz="950">
                          <a:solidFill>
                            <a:srgbClr val="1C2736"/>
                          </a:solidFill>
                          <a:latin typeface="Aptos"/>
                        </a:defRPr>
                      </a:pPr>
                      <a:r>
                        <a:t>Masks too large</a:t>
                      </a:r>
                    </a:p>
                  </a:txBody>
                  <a:tcPr marL="45720" marR="36576" marT="27432" marB="27432">
                    <a:solidFill>
                      <a:srgbClr val="FFFFFF"/>
                    </a:solidFill>
                  </a:tcPr>
                </a:tc>
                <a:tc>
                  <a:txBody>
                    <a:bodyPr/>
                    <a:lstStyle/>
                    <a:p>
                      <a:pPr algn="l">
                        <a:defRPr sz="950">
                          <a:solidFill>
                            <a:srgbClr val="1C2736"/>
                          </a:solidFill>
                          <a:latin typeface="Aptos"/>
                        </a:defRPr>
                      </a:pPr>
                      <a:r>
                        <a:t>Bright class too inclusive or threshold too low</a:t>
                      </a:r>
                    </a:p>
                  </a:txBody>
                  <a:tcPr marL="45720" marR="36576" marT="27432" marB="27432">
                    <a:solidFill>
                      <a:srgbClr val="FFFFFF"/>
                    </a:solidFill>
                  </a:tcPr>
                </a:tc>
                <a:tc>
                  <a:txBody>
                    <a:bodyPr/>
                    <a:lstStyle/>
                    <a:p>
                      <a:pPr algn="l">
                        <a:defRPr sz="950">
                          <a:solidFill>
                            <a:srgbClr val="1C2736"/>
                          </a:solidFill>
                          <a:latin typeface="Aptos"/>
                        </a:defRPr>
                      </a:pPr>
                      <a:r>
                        <a:t>Increase class index, probability threshold, or lower max signal fraction</a:t>
                      </a:r>
                    </a:p>
                  </a:txBody>
                  <a:tcPr marL="45720" marR="36576" marT="27432" marB="27432">
                    <a:solidFill>
                      <a:srgbClr val="FFFFFF"/>
                    </a:solidFill>
                  </a:tcPr>
                </a:tc>
                <a:extLst>
                  <a:ext uri="{0D108BD9-81ED-4DB2-BD59-A6C34878D82A}">
                    <a16:rowId xmlns:a16="http://schemas.microsoft.com/office/drawing/2014/main" val="10003"/>
                  </a:ext>
                </a:extLst>
              </a:tr>
              <a:tr h="692331">
                <a:tc>
                  <a:txBody>
                    <a:bodyPr/>
                    <a:lstStyle/>
                    <a:p>
                      <a:pPr algn="l">
                        <a:defRPr sz="950">
                          <a:solidFill>
                            <a:srgbClr val="1C2736"/>
                          </a:solidFill>
                          <a:latin typeface="Aptos"/>
                        </a:defRPr>
                      </a:pPr>
                      <a:r>
                        <a:t>Boundary ragged</a:t>
                      </a:r>
                    </a:p>
                  </a:txBody>
                  <a:tcPr marL="45720" marR="36576" marT="27432" marB="27432">
                    <a:solidFill>
                      <a:srgbClr val="EEF3F9"/>
                    </a:solidFill>
                  </a:tcPr>
                </a:tc>
                <a:tc>
                  <a:txBody>
                    <a:bodyPr/>
                    <a:lstStyle/>
                    <a:p>
                      <a:pPr algn="l">
                        <a:defRPr sz="950">
                          <a:solidFill>
                            <a:srgbClr val="1C2736"/>
                          </a:solidFill>
                          <a:latin typeface="Aptos"/>
                        </a:defRPr>
                      </a:pPr>
                      <a:r>
                        <a:t>Voxel-level noise around the correct region</a:t>
                      </a:r>
                    </a:p>
                  </a:txBody>
                  <a:tcPr marL="45720" marR="36576" marT="27432" marB="27432">
                    <a:solidFill>
                      <a:srgbClr val="EEF3F9"/>
                    </a:solidFill>
                  </a:tcPr>
                </a:tc>
                <a:tc>
                  <a:txBody>
                    <a:bodyPr/>
                    <a:lstStyle/>
                    <a:p>
                      <a:pPr algn="l">
                        <a:defRPr sz="950">
                          <a:solidFill>
                            <a:srgbClr val="1C2736"/>
                          </a:solidFill>
                          <a:latin typeface="Aptos"/>
                        </a:defRPr>
                      </a:pPr>
                      <a:r>
                        <a:t>Use MRF/CRF; raise lambda/iterations gently</a:t>
                      </a:r>
                    </a:p>
                  </a:txBody>
                  <a:tcPr marL="45720" marR="36576" marT="27432" marB="27432">
                    <a:solidFill>
                      <a:srgbClr val="EEF3F9"/>
                    </a:solidFill>
                  </a:tcPr>
                </a:tc>
                <a:extLst>
                  <a:ext uri="{0D108BD9-81ED-4DB2-BD59-A6C34878D82A}">
                    <a16:rowId xmlns:a16="http://schemas.microsoft.com/office/drawing/2014/main" val="10004"/>
                  </a:ext>
                </a:extLst>
              </a:tr>
              <a:tr h="692331">
                <a:tc>
                  <a:txBody>
                    <a:bodyPr/>
                    <a:lstStyle/>
                    <a:p>
                      <a:pPr algn="l">
                        <a:defRPr sz="950">
                          <a:solidFill>
                            <a:srgbClr val="1C2736"/>
                          </a:solidFill>
                          <a:latin typeface="Aptos"/>
                        </a:defRPr>
                      </a:pPr>
                      <a:r>
                        <a:t>Background attached near arm</a:t>
                      </a:r>
                    </a:p>
                  </a:txBody>
                  <a:tcPr marL="45720" marR="36576" marT="27432" marB="27432">
                    <a:solidFill>
                      <a:srgbClr val="FFFFFF"/>
                    </a:solidFill>
                  </a:tcPr>
                </a:tc>
                <a:tc>
                  <a:txBody>
                    <a:bodyPr/>
                    <a:lstStyle/>
                    <a:p>
                      <a:pPr algn="l">
                        <a:defRPr sz="950">
                          <a:solidFill>
                            <a:srgbClr val="1C2736"/>
                          </a:solidFill>
                          <a:latin typeface="Aptos"/>
                        </a:defRPr>
                      </a:pPr>
                      <a:r>
                        <a:t>Closing or smoothing too permissive</a:t>
                      </a:r>
                    </a:p>
                  </a:txBody>
                  <a:tcPr marL="45720" marR="36576" marT="27432" marB="27432">
                    <a:solidFill>
                      <a:srgbClr val="FFFFFF"/>
                    </a:solidFill>
                  </a:tcPr>
                </a:tc>
                <a:tc>
                  <a:txBody>
                    <a:bodyPr/>
                    <a:lstStyle/>
                    <a:p>
                      <a:pPr algn="l">
                        <a:defRPr sz="950">
                          <a:solidFill>
                            <a:srgbClr val="1C2736"/>
                          </a:solidFill>
                          <a:latin typeface="Aptos"/>
                        </a:defRPr>
                      </a:pPr>
                      <a:r>
                        <a:t>Turn off closing; lower MRF lambda/edge sigma; raise contrast weight</a:t>
                      </a:r>
                    </a:p>
                  </a:txBody>
                  <a:tcPr marL="45720" marR="36576" marT="27432" marB="27432">
                    <a:solidFill>
                      <a:srgbClr val="FFFFFF"/>
                    </a:solidFill>
                  </a:tcPr>
                </a:tc>
                <a:extLst>
                  <a:ext uri="{0D108BD9-81ED-4DB2-BD59-A6C34878D82A}">
                    <a16:rowId xmlns:a16="http://schemas.microsoft.com/office/drawing/2014/main" val="10005"/>
                  </a:ext>
                </a:extLst>
              </a:tr>
              <a:tr h="692334">
                <a:tc>
                  <a:txBody>
                    <a:bodyPr/>
                    <a:lstStyle/>
                    <a:p>
                      <a:pPr algn="l">
                        <a:defRPr sz="950">
                          <a:solidFill>
                            <a:srgbClr val="1C2736"/>
                          </a:solidFill>
                          <a:latin typeface="Aptos"/>
                        </a:defRPr>
                      </a:pPr>
                      <a:r>
                        <a:t>True arm split into pieces</a:t>
                      </a:r>
                    </a:p>
                  </a:txBody>
                  <a:tcPr marL="45720" marR="36576" marT="27432" marB="27432">
                    <a:solidFill>
                      <a:srgbClr val="EEF3F9"/>
                    </a:solidFill>
                  </a:tcPr>
                </a:tc>
                <a:tc>
                  <a:txBody>
                    <a:bodyPr/>
                    <a:lstStyle/>
                    <a:p>
                      <a:pPr algn="l">
                        <a:defRPr sz="950">
                          <a:solidFill>
                            <a:srgbClr val="1C2736"/>
                          </a:solidFill>
                          <a:latin typeface="Aptos"/>
                        </a:defRPr>
                      </a:pPr>
                      <a:r>
                        <a:t>Component mode too restrictive</a:t>
                      </a:r>
                    </a:p>
                  </a:txBody>
                  <a:tcPr marL="45720" marR="36576" marT="27432" marB="27432">
                    <a:solidFill>
                      <a:srgbClr val="EEF3F9"/>
                    </a:solidFill>
                  </a:tcPr>
                </a:tc>
                <a:tc>
                  <a:txBody>
                    <a:bodyPr/>
                    <a:lstStyle/>
                    <a:p>
                      <a:pPr algn="l">
                        <a:defRPr sz="950">
                          <a:solidFill>
                            <a:srgbClr val="1C2736"/>
                          </a:solidFill>
                          <a:latin typeface="Aptos"/>
                        </a:defRPr>
                      </a:pPr>
                      <a:r>
                        <a:t>Use all_passing_score; lower score threshold/min volume; mild MRF</a:t>
                      </a:r>
                    </a:p>
                  </a:txBody>
                  <a:tcPr marL="45720" marR="36576" marT="27432" marB="27432">
                    <a:solidFill>
                      <a:srgbClr val="EEF3F9"/>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PRESENTATION SCRIPT</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Suggested live-demo script for the user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234440"/>
            <a:ext cx="6400800" cy="4297680"/>
          </a:xfrm>
          <a:prstGeom prst="rect">
            <a:avLst/>
          </a:prstGeom>
          <a:noFill/>
        </p:spPr>
        <p:txBody>
          <a:bodyPr wrap="square" lIns="73152" tIns="18288" rIns="45720" bIns="18288">
            <a:spAutoFit/>
          </a:bodyPr>
          <a:lstStyle/>
          <a:p>
            <a:pPr>
              <a:lnSpc>
                <a:spcPct val="105000"/>
              </a:lnSpc>
              <a:spcAft>
                <a:spcPts val="156"/>
              </a:spcAft>
              <a:defRPr sz="1450">
                <a:solidFill>
                  <a:srgbClr val="1C2736"/>
                </a:solidFill>
                <a:latin typeface="Aptos"/>
              </a:defRPr>
            </a:pPr>
            <a:r>
              <a:t>• Show the raw nucleus/P/Q channels and explain channel selection.</a:t>
            </a:r>
          </a:p>
          <a:p>
            <a:pPr>
              <a:lnSpc>
                <a:spcPct val="105000"/>
              </a:lnSpc>
              <a:spcAft>
                <a:spcPts val="156"/>
              </a:spcAft>
              <a:defRPr sz="1450">
                <a:solidFill>
                  <a:srgbClr val="1C2736"/>
                </a:solidFill>
                <a:latin typeface="Aptos"/>
              </a:defRPr>
            </a:pPr>
            <a:r>
              <a:t>• Run or show nuclei preview; point out labels and object identities.</a:t>
            </a:r>
          </a:p>
          <a:p>
            <a:pPr>
              <a:lnSpc>
                <a:spcPct val="105000"/>
              </a:lnSpc>
              <a:spcAft>
                <a:spcPts val="156"/>
              </a:spcAft>
              <a:defRPr sz="1450">
                <a:solidFill>
                  <a:srgbClr val="1C2736"/>
                </a:solidFill>
                <a:latin typeface="Aptos"/>
              </a:defRPr>
            </a:pPr>
            <a:r>
              <a:t>• Switch to Upgraded GMM + gate + scoring and preview P/Q masks.</a:t>
            </a:r>
          </a:p>
          <a:p>
            <a:pPr>
              <a:lnSpc>
                <a:spcPct val="105000"/>
              </a:lnSpc>
              <a:spcAft>
                <a:spcPts val="156"/>
              </a:spcAft>
              <a:defRPr sz="1450">
                <a:solidFill>
                  <a:srgbClr val="1C2736"/>
                </a:solidFill>
                <a:latin typeface="Aptos"/>
              </a:defRPr>
            </a:pPr>
            <a:r>
              <a:t>• Change one parameter live: probability threshold or P/Q sorted class index; show the mask shrinking/expanding.</a:t>
            </a:r>
          </a:p>
          <a:p>
            <a:pPr>
              <a:lnSpc>
                <a:spcPct val="105000"/>
              </a:lnSpc>
              <a:spcAft>
                <a:spcPts val="156"/>
              </a:spcAft>
              <a:defRPr sz="1450">
                <a:solidFill>
                  <a:srgbClr val="1C2736"/>
                </a:solidFill>
                <a:latin typeface="Aptos"/>
              </a:defRPr>
            </a:pPr>
            <a:r>
              <a:t>• Explain presence gate: it prevents the model from inventing arms in no-signal nuclei.</a:t>
            </a:r>
          </a:p>
          <a:p>
            <a:pPr>
              <a:lnSpc>
                <a:spcPct val="105000"/>
              </a:lnSpc>
              <a:spcAft>
                <a:spcPts val="156"/>
              </a:spcAft>
              <a:defRPr sz="1450">
                <a:solidFill>
                  <a:srgbClr val="1C2736"/>
                </a:solidFill>
                <a:latin typeface="Aptos"/>
              </a:defRPr>
            </a:pPr>
            <a:r>
              <a:t>• Switch to MRF/CRF only if boundaries need smoothing; explain lambda and edge sigma.</a:t>
            </a:r>
          </a:p>
          <a:p>
            <a:pPr>
              <a:lnSpc>
                <a:spcPct val="105000"/>
              </a:lnSpc>
              <a:spcAft>
                <a:spcPts val="156"/>
              </a:spcAft>
              <a:defRPr sz="1450">
                <a:solidFill>
                  <a:srgbClr val="1C2736"/>
                </a:solidFill>
                <a:latin typeface="Aptos"/>
              </a:defRPr>
            </a:pPr>
            <a:r>
              <a:t>• Save configuration, check scenes, run analysis, and show saved plots/CSVs.</a:t>
            </a:r>
          </a:p>
        </p:txBody>
      </p:sp>
      <p:pic>
        <p:nvPicPr>
          <p:cNvPr id="6" name="Picture 5" descr="plugin_screenshot.png"/>
          <p:cNvPicPr>
            <a:picLocks noChangeAspect="1"/>
          </p:cNvPicPr>
          <p:nvPr/>
        </p:nvPicPr>
        <p:blipFill>
          <a:blip r:embed="rId2"/>
          <a:stretch>
            <a:fillRect/>
          </a:stretch>
        </p:blipFill>
        <p:spPr>
          <a:xfrm>
            <a:off x="7543800" y="1251995"/>
            <a:ext cx="3840480" cy="2159449"/>
          </a:xfrm>
          <a:prstGeom prst="rect">
            <a:avLst/>
          </a:prstGeom>
        </p:spPr>
      </p:pic>
      <p:sp>
        <p:nvSpPr>
          <p:cNvPr id="7" name="Rectangle 6"/>
          <p:cNvSpPr/>
          <p:nvPr/>
        </p:nvSpPr>
        <p:spPr>
          <a:xfrm>
            <a:off x="7543800" y="1251995"/>
            <a:ext cx="3840480" cy="2159449"/>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543800" y="3886200"/>
            <a:ext cx="3840480" cy="114300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43800" y="3886200"/>
            <a:ext cx="73152" cy="114300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0104" y="3995928"/>
            <a:ext cx="3611880" cy="320040"/>
          </a:xfrm>
          <a:prstGeom prst="rect">
            <a:avLst/>
          </a:prstGeom>
          <a:noFill/>
        </p:spPr>
        <p:txBody>
          <a:bodyPr wrap="none" lIns="18288" tIns="18288" rIns="18288" bIns="18288">
            <a:spAutoFit/>
          </a:bodyPr>
          <a:lstStyle/>
          <a:p>
            <a:r>
              <a:rPr sz="1500" b="1" i="0">
                <a:solidFill>
                  <a:srgbClr val="081F3A"/>
                </a:solidFill>
                <a:latin typeface="Aptos"/>
              </a:rPr>
              <a:t>One sentence summary</a:t>
            </a:r>
          </a:p>
        </p:txBody>
      </p:sp>
      <p:sp>
        <p:nvSpPr>
          <p:cNvPr id="11" name="TextBox 10"/>
          <p:cNvSpPr txBox="1"/>
          <p:nvPr/>
        </p:nvSpPr>
        <p:spPr>
          <a:xfrm>
            <a:off x="7690104" y="4361688"/>
            <a:ext cx="3611880" cy="576072"/>
          </a:xfrm>
          <a:prstGeom prst="rect">
            <a:avLst/>
          </a:prstGeom>
          <a:noFill/>
        </p:spPr>
        <p:txBody>
          <a:bodyPr wrap="none" lIns="18288" tIns="18288" rIns="18288" bIns="18288">
            <a:spAutoFit/>
          </a:bodyPr>
          <a:lstStyle/>
          <a:p>
            <a:r>
              <a:rPr sz="1250" b="0" i="0">
                <a:solidFill>
                  <a:srgbClr val="1C2736"/>
                </a:solidFill>
                <a:latin typeface="Aptos"/>
              </a:rPr>
              <a:t>“The plugin lets us tune segmentation interactively in napari, then locks those settings into a reproducible JSON configuration for full 3D measurement and plot generation.”</a:t>
            </a: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48</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81F3A"/>
        </a:solidFill>
        <a:effectLst/>
      </p:bgPr>
    </p:bg>
    <p:spTree>
      <p:nvGrpSpPr>
        <p:cNvPr id="1" name=""/>
        <p:cNvGrpSpPr/>
        <p:nvPr/>
      </p:nvGrpSpPr>
      <p:grpSpPr>
        <a:xfrm>
          <a:off x="0" y="0"/>
          <a:ext cx="0" cy="0"/>
          <a:chOff x="0" y="0"/>
          <a:chExt cx="0" cy="0"/>
        </a:xfrm>
      </p:grpSpPr>
      <p:sp>
        <p:nvSpPr>
          <p:cNvPr id="2" name="TextBox 1"/>
          <p:cNvSpPr txBox="1"/>
          <p:nvPr/>
        </p:nvSpPr>
        <p:spPr>
          <a:xfrm>
            <a:off x="640080" y="2240280"/>
            <a:ext cx="10972800" cy="731520"/>
          </a:xfrm>
          <a:prstGeom prst="rect">
            <a:avLst/>
          </a:prstGeom>
          <a:noFill/>
        </p:spPr>
        <p:txBody>
          <a:bodyPr wrap="none" lIns="18288" tIns="18288" rIns="18288" bIns="18288">
            <a:spAutoFit/>
          </a:bodyPr>
          <a:lstStyle/>
          <a:p>
            <a:pPr algn="ctr"/>
            <a:r>
              <a:rPr sz="3400" b="1" i="0">
                <a:solidFill>
                  <a:srgbClr val="FFFFFF"/>
                </a:solidFill>
                <a:latin typeface="Aptos"/>
              </a:rPr>
              <a:t>Appendix: deeper algorithm explanations</a:t>
            </a:r>
          </a:p>
        </p:txBody>
      </p:sp>
      <p:sp>
        <p:nvSpPr>
          <p:cNvPr id="3" name="TextBox 2"/>
          <p:cNvSpPr txBox="1"/>
          <p:nvPr/>
        </p:nvSpPr>
        <p:spPr>
          <a:xfrm>
            <a:off x="1188720" y="2971800"/>
            <a:ext cx="9875520" cy="457200"/>
          </a:xfrm>
          <a:prstGeom prst="rect">
            <a:avLst/>
          </a:prstGeom>
          <a:noFill/>
        </p:spPr>
        <p:txBody>
          <a:bodyPr wrap="none" lIns="18288" tIns="18288" rIns="18288" bIns="18288">
            <a:spAutoFit/>
          </a:bodyPr>
          <a:lstStyle/>
          <a:p>
            <a:pPr algn="ctr"/>
            <a:r>
              <a:rPr sz="1550" b="0" i="0">
                <a:solidFill>
                  <a:srgbClr val="D2E6F5"/>
                </a:solidFill>
                <a:latin typeface="Aptos"/>
              </a:rPr>
              <a:t>Use these slides when a user wants the mathematical details behind the segmentation choices</a:t>
            </a:r>
          </a:p>
        </p:txBody>
      </p:sp>
      <p:sp>
        <p:nvSpPr>
          <p:cNvPr id="4" name="TextBox 3"/>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Appendix</a:t>
            </a:r>
          </a:p>
        </p:txBody>
      </p:sp>
      <p:sp>
        <p:nvSpPr>
          <p:cNvPr id="5" name="TextBox 4"/>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49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GUI help buttons: built-in explanations for every visible parameter</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234440"/>
            <a:ext cx="5852160" cy="2377440"/>
          </a:xfrm>
          <a:prstGeom prst="rect">
            <a:avLst/>
          </a:prstGeom>
          <a:noFill/>
        </p:spPr>
        <p:txBody>
          <a:bodyPr wrap="square" lIns="73152" tIns="18288" rIns="45720" bIns="18288">
            <a:spAutoFit/>
          </a:bodyPr>
          <a:lstStyle/>
          <a:p>
            <a:pPr>
              <a:lnSpc>
                <a:spcPct val="105000"/>
              </a:lnSpc>
              <a:spcAft>
                <a:spcPts val="156"/>
              </a:spcAft>
              <a:defRPr sz="1480">
                <a:solidFill>
                  <a:srgbClr val="1C2736"/>
                </a:solidFill>
                <a:latin typeface="Aptos"/>
              </a:defRPr>
            </a:pPr>
            <a:r>
              <a:t>• Each parameter row has an information button. Hovering gives immediate help; clicking opens a fixed help window.</a:t>
            </a:r>
          </a:p>
          <a:p>
            <a:pPr>
              <a:lnSpc>
                <a:spcPct val="105000"/>
              </a:lnSpc>
              <a:spcAft>
                <a:spcPts val="156"/>
              </a:spcAft>
              <a:defRPr sz="1480">
                <a:solidFill>
                  <a:srgbClr val="1C2736"/>
                </a:solidFill>
                <a:latin typeface="Aptos"/>
              </a:defRPr>
            </a:pPr>
            <a:r>
              <a:t>• Only one help window per parameter should be open. Re-clicking the same information button raises/focuses the existing window.</a:t>
            </a:r>
          </a:p>
          <a:p>
            <a:pPr>
              <a:lnSpc>
                <a:spcPct val="105000"/>
              </a:lnSpc>
              <a:spcAft>
                <a:spcPts val="156"/>
              </a:spcAft>
              <a:defRPr sz="1480">
                <a:solidFill>
                  <a:srgbClr val="1C2736"/>
                </a:solidFill>
                <a:latin typeface="Aptos"/>
              </a:defRPr>
            </a:pPr>
            <a:r>
              <a:t>• The help text explains what the parameter is, how it affects the result, when to increase/decrease it, and practical tuning advice.</a:t>
            </a:r>
          </a:p>
          <a:p>
            <a:pPr>
              <a:lnSpc>
                <a:spcPct val="105000"/>
              </a:lnSpc>
              <a:spcAft>
                <a:spcPts val="156"/>
              </a:spcAft>
              <a:defRPr sz="1480">
                <a:solidFill>
                  <a:srgbClr val="1C2736"/>
                </a:solidFill>
                <a:latin typeface="Aptos"/>
              </a:defRPr>
            </a:pPr>
            <a:r>
              <a:t>• For a full explanation, point users to the DOCX manual in the repository docs/manual folder.</a:t>
            </a:r>
          </a:p>
        </p:txBody>
      </p:sp>
      <p:pic>
        <p:nvPicPr>
          <p:cNvPr id="6" name="Picture 5" descr="plugin_screenshot.png"/>
          <p:cNvPicPr>
            <a:picLocks noChangeAspect="1"/>
          </p:cNvPicPr>
          <p:nvPr/>
        </p:nvPicPr>
        <p:blipFill>
          <a:blip r:embed="rId2"/>
          <a:stretch>
            <a:fillRect/>
          </a:stretch>
        </p:blipFill>
        <p:spPr>
          <a:xfrm>
            <a:off x="6903720" y="1339202"/>
            <a:ext cx="4343400" cy="2442234"/>
          </a:xfrm>
          <a:prstGeom prst="rect">
            <a:avLst/>
          </a:prstGeom>
        </p:spPr>
      </p:pic>
      <p:sp>
        <p:nvSpPr>
          <p:cNvPr id="7" name="Rectangle 6"/>
          <p:cNvSpPr/>
          <p:nvPr/>
        </p:nvSpPr>
        <p:spPr>
          <a:xfrm>
            <a:off x="6903720" y="1339202"/>
            <a:ext cx="4343400" cy="2442234"/>
          </a:xfrm>
          <a:prstGeom prst="rect">
            <a:avLst/>
          </a:prstGeom>
          <a:no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50</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MRF/CRF deep dive: data term plus smoothness term</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energy.png"/>
          <p:cNvPicPr>
            <a:picLocks noChangeAspect="1"/>
          </p:cNvPicPr>
          <p:nvPr/>
        </p:nvPicPr>
        <p:blipFill>
          <a:blip r:embed="rId2"/>
          <a:stretch>
            <a:fillRect/>
          </a:stretch>
        </p:blipFill>
        <p:spPr>
          <a:xfrm>
            <a:off x="792480" y="1143000"/>
            <a:ext cx="5547360" cy="731520"/>
          </a:xfrm>
          <a:prstGeom prst="rect">
            <a:avLst/>
          </a:prstGeom>
        </p:spPr>
      </p:pic>
      <p:sp>
        <p:nvSpPr>
          <p:cNvPr id="6" name="TextBox 5"/>
          <p:cNvSpPr txBox="1"/>
          <p:nvPr/>
        </p:nvSpPr>
        <p:spPr>
          <a:xfrm>
            <a:off x="868680" y="2148840"/>
            <a:ext cx="5486400" cy="2743200"/>
          </a:xfrm>
          <a:prstGeom prst="rect">
            <a:avLst/>
          </a:prstGeom>
          <a:noFill/>
        </p:spPr>
        <p:txBody>
          <a:bodyPr wrap="square" lIns="73152" tIns="18288" rIns="45720" bIns="18288">
            <a:spAutoFit/>
          </a:bodyPr>
          <a:lstStyle/>
          <a:p>
            <a:pPr>
              <a:lnSpc>
                <a:spcPct val="105000"/>
              </a:lnSpc>
              <a:spcAft>
                <a:spcPts val="156"/>
              </a:spcAft>
              <a:defRPr sz="1380">
                <a:solidFill>
                  <a:srgbClr val="1C2736"/>
                </a:solidFill>
                <a:latin typeface="Aptos"/>
              </a:defRPr>
            </a:pPr>
            <a:r>
              <a:rPr dirty="0"/>
              <a:t>• xᵢ is the unknown binary label for voxel </a:t>
            </a:r>
            <a:r>
              <a:rPr dirty="0" err="1"/>
              <a:t>i</a:t>
            </a:r>
            <a:r>
              <a:rPr dirty="0"/>
              <a:t>: 1 = arm signal, 0 = background.</a:t>
            </a:r>
          </a:p>
          <a:p>
            <a:pPr>
              <a:lnSpc>
                <a:spcPct val="105000"/>
              </a:lnSpc>
              <a:spcAft>
                <a:spcPts val="156"/>
              </a:spcAft>
              <a:defRPr sz="1380">
                <a:solidFill>
                  <a:srgbClr val="1C2736"/>
                </a:solidFill>
                <a:latin typeface="Aptos"/>
              </a:defRPr>
            </a:pPr>
            <a:r>
              <a:rPr dirty="0"/>
              <a:t>• Uᵢ(xᵢ) is the unary/data cost derived from the GMM probability map.</a:t>
            </a:r>
          </a:p>
          <a:p>
            <a:pPr>
              <a:lnSpc>
                <a:spcPct val="105000"/>
              </a:lnSpc>
              <a:spcAft>
                <a:spcPts val="156"/>
              </a:spcAft>
              <a:defRPr sz="1380">
                <a:solidFill>
                  <a:srgbClr val="1C2736"/>
                </a:solidFill>
                <a:latin typeface="Aptos"/>
              </a:defRPr>
            </a:pPr>
            <a:r>
              <a:rPr dirty="0"/>
              <a:t>• The pairwise term penalizes neighboring voxels that disagree.</a:t>
            </a:r>
          </a:p>
          <a:p>
            <a:pPr>
              <a:lnSpc>
                <a:spcPct val="105000"/>
              </a:lnSpc>
              <a:spcAft>
                <a:spcPts val="156"/>
              </a:spcAft>
              <a:defRPr sz="1380">
                <a:solidFill>
                  <a:srgbClr val="1C2736"/>
                </a:solidFill>
                <a:latin typeface="Aptos"/>
              </a:defRPr>
            </a:pPr>
            <a:r>
              <a:rPr dirty="0"/>
              <a:t>• </a:t>
            </a:r>
            <a:r>
              <a:rPr dirty="0" err="1"/>
              <a:t>λ</a:t>
            </a:r>
            <a:r>
              <a:rPr dirty="0"/>
              <a:t> controls how much the algorithm trusts neighboring labels relative to voxel-level probability.</a:t>
            </a:r>
          </a:p>
          <a:p>
            <a:pPr>
              <a:lnSpc>
                <a:spcPct val="105000"/>
              </a:lnSpc>
              <a:spcAft>
                <a:spcPts val="156"/>
              </a:spcAft>
              <a:defRPr sz="1380">
                <a:solidFill>
                  <a:srgbClr val="1C2736"/>
                </a:solidFill>
                <a:latin typeface="Aptos"/>
              </a:defRPr>
            </a:pPr>
            <a:r>
              <a:rPr dirty="0"/>
              <a:t>• wᵢⱼ reduces smoothing across strong image edges, so boundaries can still be preserved.</a:t>
            </a:r>
          </a:p>
        </p:txBody>
      </p:sp>
      <p:sp>
        <p:nvSpPr>
          <p:cNvPr id="7" name="Rounded Rectangle 6"/>
          <p:cNvSpPr/>
          <p:nvPr/>
        </p:nvSpPr>
        <p:spPr>
          <a:xfrm>
            <a:off x="6675120" y="1325880"/>
            <a:ext cx="4663440" cy="132588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675120" y="1325880"/>
            <a:ext cx="73152" cy="132588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21424" y="1435607"/>
            <a:ext cx="4434840" cy="320040"/>
          </a:xfrm>
          <a:prstGeom prst="rect">
            <a:avLst/>
          </a:prstGeom>
          <a:noFill/>
        </p:spPr>
        <p:txBody>
          <a:bodyPr wrap="none" lIns="18288" tIns="18288" rIns="18288" bIns="18288">
            <a:spAutoFit/>
          </a:bodyPr>
          <a:lstStyle/>
          <a:p>
            <a:r>
              <a:rPr sz="1500" b="1" i="0">
                <a:solidFill>
                  <a:srgbClr val="081F3A"/>
                </a:solidFill>
                <a:latin typeface="Aptos"/>
              </a:rPr>
              <a:t>Plain-language version</a:t>
            </a:r>
          </a:p>
        </p:txBody>
      </p:sp>
      <p:sp>
        <p:nvSpPr>
          <p:cNvPr id="10" name="TextBox 9"/>
          <p:cNvSpPr txBox="1"/>
          <p:nvPr/>
        </p:nvSpPr>
        <p:spPr>
          <a:xfrm>
            <a:off x="6821424" y="1801367"/>
            <a:ext cx="4434840" cy="614014"/>
          </a:xfrm>
          <a:prstGeom prst="rect">
            <a:avLst/>
          </a:prstGeom>
          <a:noFill/>
        </p:spPr>
        <p:txBody>
          <a:bodyPr wrap="square" lIns="18288" tIns="18288" rIns="18288" bIns="18288">
            <a:spAutoFit/>
          </a:bodyPr>
          <a:lstStyle/>
          <a:p>
            <a:r>
              <a:rPr sz="1250" b="0" i="0" dirty="0">
                <a:solidFill>
                  <a:srgbClr val="1C2736"/>
                </a:solidFill>
                <a:latin typeface="Aptos"/>
              </a:rPr>
              <a:t>A voxel is more likely to be included if it has high signal probability and if nearby voxels are also included, but smoothing is reduced at strong intensity boundaries.</a:t>
            </a:r>
          </a:p>
        </p:txBody>
      </p:sp>
      <p:graphicFrame>
        <p:nvGraphicFramePr>
          <p:cNvPr id="11" name="Table 10"/>
          <p:cNvGraphicFramePr>
            <a:graphicFrameLocks noGrp="1"/>
          </p:cNvGraphicFramePr>
          <p:nvPr/>
        </p:nvGraphicFramePr>
        <p:xfrm>
          <a:off x="6675120" y="2971800"/>
          <a:ext cx="4663440" cy="210312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420624">
                <a:tc>
                  <a:txBody>
                    <a:bodyPr/>
                    <a:lstStyle/>
                    <a:p>
                      <a:pPr algn="l">
                        <a:defRPr sz="1110">
                          <a:solidFill>
                            <a:srgbClr val="FFFFFF"/>
                          </a:solidFill>
                          <a:latin typeface="Aptos"/>
                        </a:defRPr>
                      </a:pPr>
                      <a:r>
                        <a:t>Term</a:t>
                      </a:r>
                    </a:p>
                  </a:txBody>
                  <a:tcPr marL="45720" marR="36576" marT="27432" marB="27432">
                    <a:solidFill>
                      <a:srgbClr val="081F3A"/>
                    </a:solidFill>
                  </a:tcPr>
                </a:tc>
                <a:tc>
                  <a:txBody>
                    <a:bodyPr/>
                    <a:lstStyle/>
                    <a:p>
                      <a:pPr algn="l">
                        <a:defRPr sz="1110">
                          <a:solidFill>
                            <a:srgbClr val="FFFFFF"/>
                          </a:solidFill>
                          <a:latin typeface="Aptos"/>
                        </a:defRPr>
                      </a:pPr>
                      <a:r>
                        <a:t>Meaning</a:t>
                      </a:r>
                    </a:p>
                  </a:txBody>
                  <a:tcPr marL="45720" marR="36576" marT="27432" marB="27432">
                    <a:solidFill>
                      <a:srgbClr val="081F3A"/>
                    </a:solidFill>
                  </a:tcPr>
                </a:tc>
                <a:extLst>
                  <a:ext uri="{0D108BD9-81ED-4DB2-BD59-A6C34878D82A}">
                    <a16:rowId xmlns:a16="http://schemas.microsoft.com/office/drawing/2014/main" val="10000"/>
                  </a:ext>
                </a:extLst>
              </a:tr>
              <a:tr h="420624">
                <a:tc>
                  <a:txBody>
                    <a:bodyPr/>
                    <a:lstStyle/>
                    <a:p>
                      <a:pPr algn="l">
                        <a:defRPr sz="1060">
                          <a:solidFill>
                            <a:srgbClr val="1C2736"/>
                          </a:solidFill>
                          <a:latin typeface="Aptos"/>
                        </a:defRPr>
                      </a:pPr>
                      <a:r>
                        <a:t>Data term</a:t>
                      </a:r>
                    </a:p>
                  </a:txBody>
                  <a:tcPr marL="45720" marR="36576" marT="27432" marB="27432">
                    <a:solidFill>
                      <a:srgbClr val="FFFFFF"/>
                    </a:solidFill>
                  </a:tcPr>
                </a:tc>
                <a:tc>
                  <a:txBody>
                    <a:bodyPr/>
                    <a:lstStyle/>
                    <a:p>
                      <a:pPr algn="l">
                        <a:defRPr sz="1060">
                          <a:solidFill>
                            <a:srgbClr val="1C2736"/>
                          </a:solidFill>
                          <a:latin typeface="Aptos"/>
                        </a:defRPr>
                      </a:pPr>
                      <a:r>
                        <a:t>Does this voxel look like arm signal?</a:t>
                      </a:r>
                    </a:p>
                  </a:txBody>
                  <a:tcPr marL="45720" marR="36576" marT="27432" marB="27432">
                    <a:solidFill>
                      <a:srgbClr val="FFFFFF"/>
                    </a:solidFill>
                  </a:tcPr>
                </a:tc>
                <a:extLst>
                  <a:ext uri="{0D108BD9-81ED-4DB2-BD59-A6C34878D82A}">
                    <a16:rowId xmlns:a16="http://schemas.microsoft.com/office/drawing/2014/main" val="10001"/>
                  </a:ext>
                </a:extLst>
              </a:tr>
              <a:tr h="420624">
                <a:tc>
                  <a:txBody>
                    <a:bodyPr/>
                    <a:lstStyle/>
                    <a:p>
                      <a:pPr algn="l">
                        <a:defRPr sz="1060">
                          <a:solidFill>
                            <a:srgbClr val="1C2736"/>
                          </a:solidFill>
                          <a:latin typeface="Aptos"/>
                        </a:defRPr>
                      </a:pPr>
                      <a:r>
                        <a:t>Smoothness term</a:t>
                      </a:r>
                    </a:p>
                  </a:txBody>
                  <a:tcPr marL="45720" marR="36576" marT="27432" marB="27432">
                    <a:solidFill>
                      <a:srgbClr val="EEF3F9"/>
                    </a:solidFill>
                  </a:tcPr>
                </a:tc>
                <a:tc>
                  <a:txBody>
                    <a:bodyPr/>
                    <a:lstStyle/>
                    <a:p>
                      <a:pPr algn="l">
                        <a:defRPr sz="1060">
                          <a:solidFill>
                            <a:srgbClr val="1C2736"/>
                          </a:solidFill>
                          <a:latin typeface="Aptos"/>
                        </a:defRPr>
                      </a:pPr>
                      <a:r>
                        <a:t>Do neighboring voxels agree?</a:t>
                      </a:r>
                    </a:p>
                  </a:txBody>
                  <a:tcPr marL="45720" marR="36576" marT="27432" marB="27432">
                    <a:solidFill>
                      <a:srgbClr val="EEF3F9"/>
                    </a:solidFill>
                  </a:tcPr>
                </a:tc>
                <a:extLst>
                  <a:ext uri="{0D108BD9-81ED-4DB2-BD59-A6C34878D82A}">
                    <a16:rowId xmlns:a16="http://schemas.microsoft.com/office/drawing/2014/main" val="10002"/>
                  </a:ext>
                </a:extLst>
              </a:tr>
              <a:tr h="420624">
                <a:tc>
                  <a:txBody>
                    <a:bodyPr/>
                    <a:lstStyle/>
                    <a:p>
                      <a:pPr algn="l">
                        <a:defRPr sz="1060">
                          <a:solidFill>
                            <a:srgbClr val="1C2736"/>
                          </a:solidFill>
                          <a:latin typeface="Aptos"/>
                        </a:defRPr>
                      </a:pPr>
                      <a:r>
                        <a:t>Edge weight</a:t>
                      </a:r>
                    </a:p>
                  </a:txBody>
                  <a:tcPr marL="45720" marR="36576" marT="27432" marB="27432">
                    <a:solidFill>
                      <a:srgbClr val="FFFFFF"/>
                    </a:solidFill>
                  </a:tcPr>
                </a:tc>
                <a:tc>
                  <a:txBody>
                    <a:bodyPr/>
                    <a:lstStyle/>
                    <a:p>
                      <a:pPr algn="l">
                        <a:defRPr sz="1060">
                          <a:solidFill>
                            <a:srgbClr val="1C2736"/>
                          </a:solidFill>
                          <a:latin typeface="Aptos"/>
                        </a:defRPr>
                      </a:pPr>
                      <a:r>
                        <a:t>Should a visible edge stop smoothing?</a:t>
                      </a:r>
                    </a:p>
                  </a:txBody>
                  <a:tcPr marL="45720" marR="36576" marT="27432" marB="27432">
                    <a:solidFill>
                      <a:srgbClr val="FFFFFF"/>
                    </a:solidFill>
                  </a:tcPr>
                </a:tc>
                <a:extLst>
                  <a:ext uri="{0D108BD9-81ED-4DB2-BD59-A6C34878D82A}">
                    <a16:rowId xmlns:a16="http://schemas.microsoft.com/office/drawing/2014/main" val="10003"/>
                  </a:ext>
                </a:extLst>
              </a:tr>
              <a:tr h="420624">
                <a:tc>
                  <a:txBody>
                    <a:bodyPr/>
                    <a:lstStyle/>
                    <a:p>
                      <a:pPr algn="l">
                        <a:defRPr sz="1060">
                          <a:solidFill>
                            <a:srgbClr val="1C2736"/>
                          </a:solidFill>
                          <a:latin typeface="Aptos"/>
                        </a:defRPr>
                      </a:pPr>
                      <a:r>
                        <a:t>Lambda</a:t>
                      </a:r>
                    </a:p>
                  </a:txBody>
                  <a:tcPr marL="45720" marR="36576" marT="27432" marB="27432">
                    <a:solidFill>
                      <a:srgbClr val="EEF3F9"/>
                    </a:solidFill>
                  </a:tcPr>
                </a:tc>
                <a:tc>
                  <a:txBody>
                    <a:bodyPr/>
                    <a:lstStyle/>
                    <a:p>
                      <a:pPr algn="l">
                        <a:defRPr sz="1060">
                          <a:solidFill>
                            <a:srgbClr val="1C2736"/>
                          </a:solidFill>
                          <a:latin typeface="Aptos"/>
                        </a:defRPr>
                      </a:pPr>
                      <a:r>
                        <a:t>How strong is the neighbor effect?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3" name="TextBox 12"/>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69783" y="411480"/>
            <a:ext cx="10972800" cy="502920"/>
          </a:xfrm>
          <a:prstGeom prst="rect">
            <a:avLst/>
          </a:prstGeom>
          <a:noFill/>
        </p:spPr>
        <p:txBody>
          <a:bodyPr wrap="none" lIns="18288" tIns="18288" rIns="18288" bIns="18288">
            <a:spAutoFit/>
          </a:bodyPr>
          <a:lstStyle/>
          <a:p>
            <a:r>
              <a:rPr sz="2700" b="1" i="0" dirty="0">
                <a:solidFill>
                  <a:srgbClr val="081F3A"/>
                </a:solidFill>
                <a:latin typeface="Aptos"/>
              </a:rPr>
              <a:t>MRF/CRF update: probability evidence, neighbor support, and edge resistance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rf_update.png"/>
          <p:cNvPicPr>
            <a:picLocks noChangeAspect="1"/>
          </p:cNvPicPr>
          <p:nvPr/>
        </p:nvPicPr>
        <p:blipFill>
          <a:blip r:embed="rId2"/>
          <a:stretch>
            <a:fillRect/>
          </a:stretch>
        </p:blipFill>
        <p:spPr>
          <a:xfrm>
            <a:off x="701040" y="1143000"/>
            <a:ext cx="5547360" cy="731520"/>
          </a:xfrm>
          <a:prstGeom prst="rect">
            <a:avLst/>
          </a:prstGeom>
        </p:spPr>
      </p:pic>
      <p:sp>
        <p:nvSpPr>
          <p:cNvPr id="6" name="TextBox 5"/>
          <p:cNvSpPr txBox="1"/>
          <p:nvPr/>
        </p:nvSpPr>
        <p:spPr>
          <a:xfrm>
            <a:off x="868680" y="2148840"/>
            <a:ext cx="5394960" cy="2971800"/>
          </a:xfrm>
          <a:prstGeom prst="rect">
            <a:avLst/>
          </a:prstGeom>
          <a:noFill/>
        </p:spPr>
        <p:txBody>
          <a:bodyPr wrap="square" lIns="73152" tIns="18288" rIns="45720" bIns="18288">
            <a:spAutoFit/>
          </a:bodyPr>
          <a:lstStyle/>
          <a:p>
            <a:pPr>
              <a:lnSpc>
                <a:spcPct val="105000"/>
              </a:lnSpc>
              <a:spcAft>
                <a:spcPts val="156"/>
              </a:spcAft>
              <a:defRPr sz="1370">
                <a:solidFill>
                  <a:srgbClr val="1C2736"/>
                </a:solidFill>
                <a:latin typeface="Aptos"/>
              </a:defRPr>
            </a:pPr>
            <a:r>
              <a:rPr dirty="0"/>
              <a:t>• log(pᵢ/(1-pᵢ)) converts the GMM signal probability into evidence for signal versus background.</a:t>
            </a:r>
          </a:p>
          <a:p>
            <a:pPr>
              <a:lnSpc>
                <a:spcPct val="105000"/>
              </a:lnSpc>
              <a:spcAft>
                <a:spcPts val="156"/>
              </a:spcAft>
              <a:defRPr sz="1370">
                <a:solidFill>
                  <a:srgbClr val="1C2736"/>
                </a:solidFill>
                <a:latin typeface="Aptos"/>
              </a:defRPr>
            </a:pPr>
            <a:r>
              <a:rPr dirty="0"/>
              <a:t>• rᵢ is the local neighborhood support: high when many neighbors are currently signal.</a:t>
            </a:r>
          </a:p>
          <a:p>
            <a:pPr>
              <a:lnSpc>
                <a:spcPct val="105000"/>
              </a:lnSpc>
              <a:spcAft>
                <a:spcPts val="156"/>
              </a:spcAft>
              <a:defRPr sz="1370">
                <a:solidFill>
                  <a:srgbClr val="1C2736"/>
                </a:solidFill>
                <a:latin typeface="Aptos"/>
              </a:defRPr>
            </a:pPr>
            <a:r>
              <a:rPr dirty="0"/>
              <a:t>• eᵢ is the edge-confidence term: high in flat regions where smoothing is allowed, lower at strong edges.</a:t>
            </a:r>
          </a:p>
          <a:p>
            <a:pPr>
              <a:lnSpc>
                <a:spcPct val="105000"/>
              </a:lnSpc>
              <a:spcAft>
                <a:spcPts val="156"/>
              </a:spcAft>
              <a:defRPr sz="1370">
                <a:solidFill>
                  <a:srgbClr val="1C2736"/>
                </a:solidFill>
                <a:latin typeface="Aptos"/>
              </a:defRPr>
            </a:pPr>
            <a:r>
              <a:rPr dirty="0"/>
              <a:t>• The voxel becomes signal if the updated score is positive.</a:t>
            </a:r>
          </a:p>
          <a:p>
            <a:pPr>
              <a:lnSpc>
                <a:spcPct val="105000"/>
              </a:lnSpc>
              <a:spcAft>
                <a:spcPts val="156"/>
              </a:spcAft>
              <a:defRPr sz="1370">
                <a:solidFill>
                  <a:srgbClr val="1C2736"/>
                </a:solidFill>
                <a:latin typeface="Aptos"/>
              </a:defRPr>
            </a:pPr>
            <a:r>
              <a:rPr dirty="0"/>
              <a:t>• Repeating this update several times creates smoother, more spatially consistent masks.</a:t>
            </a:r>
          </a:p>
        </p:txBody>
      </p:sp>
      <p:graphicFrame>
        <p:nvGraphicFramePr>
          <p:cNvPr id="7" name="Table 6"/>
          <p:cNvGraphicFramePr>
            <a:graphicFrameLocks noGrp="1"/>
          </p:cNvGraphicFramePr>
          <p:nvPr/>
        </p:nvGraphicFramePr>
        <p:xfrm>
          <a:off x="6629400" y="1417320"/>
          <a:ext cx="4754880" cy="27432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48640">
                <a:tc>
                  <a:txBody>
                    <a:bodyPr/>
                    <a:lstStyle/>
                    <a:p>
                      <a:pPr algn="l">
                        <a:defRPr sz="1110">
                          <a:solidFill>
                            <a:srgbClr val="FFFFFF"/>
                          </a:solidFill>
                          <a:latin typeface="Aptos"/>
                        </a:defRPr>
                      </a:pPr>
                      <a:r>
                        <a:t>Parameter</a:t>
                      </a:r>
                    </a:p>
                  </a:txBody>
                  <a:tcPr marL="45720" marR="36576" marT="27432" marB="27432">
                    <a:solidFill>
                      <a:srgbClr val="081F3A"/>
                    </a:solidFill>
                  </a:tcPr>
                </a:tc>
                <a:tc>
                  <a:txBody>
                    <a:bodyPr/>
                    <a:lstStyle/>
                    <a:p>
                      <a:pPr algn="l">
                        <a:defRPr sz="1110">
                          <a:solidFill>
                            <a:srgbClr val="FFFFFF"/>
                          </a:solidFill>
                          <a:latin typeface="Aptos"/>
                        </a:defRPr>
                      </a:pPr>
                      <a:r>
                        <a:t>Direct effect</a:t>
                      </a:r>
                    </a:p>
                  </a:txBody>
                  <a:tcPr marL="45720" marR="36576" marT="27432" marB="27432">
                    <a:solidFill>
                      <a:srgbClr val="081F3A"/>
                    </a:solidFill>
                  </a:tcPr>
                </a:tc>
                <a:extLst>
                  <a:ext uri="{0D108BD9-81ED-4DB2-BD59-A6C34878D82A}">
                    <a16:rowId xmlns:a16="http://schemas.microsoft.com/office/drawing/2014/main" val="10000"/>
                  </a:ext>
                </a:extLst>
              </a:tr>
              <a:tr h="548640">
                <a:tc>
                  <a:txBody>
                    <a:bodyPr/>
                    <a:lstStyle/>
                    <a:p>
                      <a:pPr algn="l">
                        <a:defRPr sz="1060">
                          <a:solidFill>
                            <a:srgbClr val="1C2736"/>
                          </a:solidFill>
                          <a:latin typeface="Aptos"/>
                        </a:defRPr>
                      </a:pPr>
                      <a:r>
                        <a:t>MRF iterations</a:t>
                      </a:r>
                    </a:p>
                  </a:txBody>
                  <a:tcPr marL="45720" marR="36576" marT="27432" marB="27432">
                    <a:solidFill>
                      <a:srgbClr val="FFFFFF"/>
                    </a:solidFill>
                  </a:tcPr>
                </a:tc>
                <a:tc>
                  <a:txBody>
                    <a:bodyPr/>
                    <a:lstStyle/>
                    <a:p>
                      <a:pPr algn="l">
                        <a:defRPr sz="1060">
                          <a:solidFill>
                            <a:srgbClr val="1C2736"/>
                          </a:solidFill>
                          <a:latin typeface="Aptos"/>
                        </a:defRPr>
                      </a:pPr>
                      <a:r>
                        <a:t>How many repeated update passes are applied</a:t>
                      </a:r>
                    </a:p>
                  </a:txBody>
                  <a:tcPr marL="45720" marR="36576" marT="27432" marB="27432">
                    <a:solidFill>
                      <a:srgbClr val="FFFFFF"/>
                    </a:solidFill>
                  </a:tcPr>
                </a:tc>
                <a:extLst>
                  <a:ext uri="{0D108BD9-81ED-4DB2-BD59-A6C34878D82A}">
                    <a16:rowId xmlns:a16="http://schemas.microsoft.com/office/drawing/2014/main" val="10001"/>
                  </a:ext>
                </a:extLst>
              </a:tr>
              <a:tr h="548640">
                <a:tc>
                  <a:txBody>
                    <a:bodyPr/>
                    <a:lstStyle/>
                    <a:p>
                      <a:pPr algn="l">
                        <a:defRPr sz="1060">
                          <a:solidFill>
                            <a:srgbClr val="1C2736"/>
                          </a:solidFill>
                          <a:latin typeface="Aptos"/>
                        </a:defRPr>
                      </a:pPr>
                      <a:r>
                        <a:t>MRF lambda</a:t>
                      </a:r>
                    </a:p>
                  </a:txBody>
                  <a:tcPr marL="45720" marR="36576" marT="27432" marB="27432">
                    <a:solidFill>
                      <a:srgbClr val="EEF3F9"/>
                    </a:solidFill>
                  </a:tcPr>
                </a:tc>
                <a:tc>
                  <a:txBody>
                    <a:bodyPr/>
                    <a:lstStyle/>
                    <a:p>
                      <a:pPr algn="l">
                        <a:defRPr sz="1060">
                          <a:solidFill>
                            <a:srgbClr val="1C2736"/>
                          </a:solidFill>
                          <a:latin typeface="Aptos"/>
                        </a:defRPr>
                      </a:pPr>
                      <a:r>
                        <a:t>How strongly neighbors influence each voxel</a:t>
                      </a:r>
                    </a:p>
                  </a:txBody>
                  <a:tcPr marL="45720" marR="36576" marT="27432" marB="27432">
                    <a:solidFill>
                      <a:srgbClr val="EEF3F9"/>
                    </a:solidFill>
                  </a:tcPr>
                </a:tc>
                <a:extLst>
                  <a:ext uri="{0D108BD9-81ED-4DB2-BD59-A6C34878D82A}">
                    <a16:rowId xmlns:a16="http://schemas.microsoft.com/office/drawing/2014/main" val="10002"/>
                  </a:ext>
                </a:extLst>
              </a:tr>
              <a:tr h="548640">
                <a:tc>
                  <a:txBody>
                    <a:bodyPr/>
                    <a:lstStyle/>
                    <a:p>
                      <a:pPr algn="l">
                        <a:defRPr sz="1060">
                          <a:solidFill>
                            <a:srgbClr val="1C2736"/>
                          </a:solidFill>
                          <a:latin typeface="Aptos"/>
                        </a:defRPr>
                      </a:pPr>
                      <a:r>
                        <a:t>MRF edge sigma</a:t>
                      </a:r>
                    </a:p>
                  </a:txBody>
                  <a:tcPr marL="45720" marR="36576" marT="27432" marB="27432">
                    <a:solidFill>
                      <a:srgbClr val="FFFFFF"/>
                    </a:solidFill>
                  </a:tcPr>
                </a:tc>
                <a:tc>
                  <a:txBody>
                    <a:bodyPr/>
                    <a:lstStyle/>
                    <a:p>
                      <a:pPr algn="l">
                        <a:defRPr sz="1060">
                          <a:solidFill>
                            <a:srgbClr val="1C2736"/>
                          </a:solidFill>
                          <a:latin typeface="Aptos"/>
                        </a:defRPr>
                      </a:pPr>
                      <a:r>
                        <a:t>How easily smoothing crosses weak edges</a:t>
                      </a:r>
                    </a:p>
                  </a:txBody>
                  <a:tcPr marL="45720" marR="36576" marT="27432" marB="27432">
                    <a:solidFill>
                      <a:srgbClr val="FFFFFF"/>
                    </a:solidFill>
                  </a:tcPr>
                </a:tc>
                <a:extLst>
                  <a:ext uri="{0D108BD9-81ED-4DB2-BD59-A6C34878D82A}">
                    <a16:rowId xmlns:a16="http://schemas.microsoft.com/office/drawing/2014/main" val="10003"/>
                  </a:ext>
                </a:extLst>
              </a:tr>
              <a:tr h="548640">
                <a:tc>
                  <a:txBody>
                    <a:bodyPr/>
                    <a:lstStyle/>
                    <a:p>
                      <a:pPr algn="l">
                        <a:defRPr sz="1060">
                          <a:solidFill>
                            <a:srgbClr val="1C2736"/>
                          </a:solidFill>
                          <a:latin typeface="Aptos"/>
                        </a:defRPr>
                      </a:pPr>
                      <a:r>
                        <a:t>Probability threshold</a:t>
                      </a:r>
                    </a:p>
                  </a:txBody>
                  <a:tcPr marL="45720" marR="36576" marT="27432" marB="27432">
                    <a:solidFill>
                      <a:srgbClr val="EEF3F9"/>
                    </a:solidFill>
                  </a:tcPr>
                </a:tc>
                <a:tc>
                  <a:txBody>
                    <a:bodyPr/>
                    <a:lstStyle/>
                    <a:p>
                      <a:pPr algn="l">
                        <a:defRPr sz="1060">
                          <a:solidFill>
                            <a:srgbClr val="1C2736"/>
                          </a:solidFill>
                          <a:latin typeface="Aptos"/>
                        </a:defRPr>
                      </a:pPr>
                      <a:r>
                        <a:t>Starting mask before refinement</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6720840" y="4754880"/>
            <a:ext cx="4572000" cy="658368"/>
          </a:xfrm>
          <a:prstGeom prst="round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0568" y="4846320"/>
            <a:ext cx="4352544" cy="493776"/>
          </a:xfrm>
          <a:prstGeom prst="rect">
            <a:avLst/>
          </a:prstGeom>
          <a:noFill/>
        </p:spPr>
        <p:txBody>
          <a:bodyPr wrap="none" lIns="18288" tIns="18288" rIns="18288" bIns="18288" anchor="ctr">
            <a:spAutoFit/>
          </a:bodyPr>
          <a:lstStyle/>
          <a:p>
            <a:r>
              <a:rPr sz="1200" b="1" i="0">
                <a:solidFill>
                  <a:srgbClr val="FFFFFF"/>
                </a:solidFill>
                <a:latin typeface="Aptos"/>
              </a:rPr>
              <a:t>If MRF/CRF expands into background, reduce lambda, edge sigma, or iterations before changing many other settings.</a:t>
            </a:r>
          </a:p>
        </p:txBody>
      </p:sp>
      <p:sp>
        <p:nvSpPr>
          <p:cNvPr id="10" name="TextBox 9"/>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1" name="TextBox 10"/>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52</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What MRF/CRF can and cannot do</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640080" y="1234440"/>
          <a:ext cx="5120640" cy="3017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t>Can help with…</a:t>
                      </a:r>
                    </a:p>
                  </a:txBody>
                  <a:tcPr marL="45720" marR="36576" marT="27432" marB="27432">
                    <a:solidFill>
                      <a:srgbClr val="081F3A"/>
                    </a:solidFill>
                  </a:tcPr>
                </a:tc>
                <a:tc>
                  <a:txBody>
                    <a:bodyPr/>
                    <a:lstStyle/>
                    <a:p>
                      <a:pPr algn="l">
                        <a:defRPr sz="1090">
                          <a:solidFill>
                            <a:srgbClr val="FFFFFF"/>
                          </a:solidFill>
                          <a:latin typeface="Aptos"/>
                        </a:defRPr>
                      </a:pPr>
                      <a:r>
                        <a:t>How</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Isolated noisy voxels</a:t>
                      </a:r>
                    </a:p>
                  </a:txBody>
                  <a:tcPr marL="45720" marR="36576" marT="27432" marB="27432">
                    <a:solidFill>
                      <a:srgbClr val="FFFFFF"/>
                    </a:solidFill>
                  </a:tcPr>
                </a:tc>
                <a:tc>
                  <a:txBody>
                    <a:bodyPr/>
                    <a:lstStyle/>
                    <a:p>
                      <a:pPr algn="l">
                        <a:defRPr sz="1040">
                          <a:solidFill>
                            <a:srgbClr val="1C2736"/>
                          </a:solidFill>
                          <a:latin typeface="Aptos"/>
                        </a:defRPr>
                      </a:pPr>
                      <a:r>
                        <a:t>Neighbors do not support them, so they can be removed</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Small holes inside real signal</a:t>
                      </a:r>
                    </a:p>
                  </a:txBody>
                  <a:tcPr marL="45720" marR="36576" marT="27432" marB="27432">
                    <a:solidFill>
                      <a:srgbClr val="EEF3F9"/>
                    </a:solidFill>
                  </a:tcPr>
                </a:tc>
                <a:tc>
                  <a:txBody>
                    <a:bodyPr/>
                    <a:lstStyle/>
                    <a:p>
                      <a:pPr algn="l">
                        <a:defRPr sz="1040">
                          <a:solidFill>
                            <a:srgbClr val="1C2736"/>
                          </a:solidFill>
                          <a:latin typeface="Aptos"/>
                        </a:defRPr>
                      </a:pPr>
                      <a:r>
                        <a:t>Surrounding signal voxels support filling</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Jagged boundaries</a:t>
                      </a:r>
                    </a:p>
                  </a:txBody>
                  <a:tcPr marL="45720" marR="36576" marT="27432" marB="27432">
                    <a:solidFill>
                      <a:srgbClr val="FFFFFF"/>
                    </a:solidFill>
                  </a:tcPr>
                </a:tc>
                <a:tc>
                  <a:txBody>
                    <a:bodyPr/>
                    <a:lstStyle/>
                    <a:p>
                      <a:pPr algn="l">
                        <a:defRPr sz="1040">
                          <a:solidFill>
                            <a:srgbClr val="1C2736"/>
                          </a:solidFill>
                          <a:latin typeface="Aptos"/>
                        </a:defRPr>
                      </a:pPr>
                      <a:r>
                        <a:t>Neighbor agreement smooths local label changes</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Weak internal gaps</a:t>
                      </a:r>
                    </a:p>
                  </a:txBody>
                  <a:tcPr marL="45720" marR="36576" marT="27432" marB="27432">
                    <a:solidFill>
                      <a:srgbClr val="EEF3F9"/>
                    </a:solidFill>
                  </a:tcPr>
                </a:tc>
                <a:tc>
                  <a:txBody>
                    <a:bodyPr/>
                    <a:lstStyle/>
                    <a:p>
                      <a:pPr algn="l">
                        <a:defRPr sz="1040">
                          <a:solidFill>
                            <a:srgbClr val="1C2736"/>
                          </a:solidFill>
                          <a:latin typeface="Aptos"/>
                        </a:defRPr>
                      </a:pPr>
                      <a:r>
                        <a:t>Mild smoothing can reconnect signal</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nvGraphicFramePr>
        <p:xfrm>
          <a:off x="6309360" y="1234440"/>
          <a:ext cx="5120640" cy="301752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603504">
                <a:tc>
                  <a:txBody>
                    <a:bodyPr/>
                    <a:lstStyle/>
                    <a:p>
                      <a:pPr algn="l">
                        <a:defRPr sz="1090">
                          <a:solidFill>
                            <a:srgbClr val="FFFFFF"/>
                          </a:solidFill>
                          <a:latin typeface="Aptos"/>
                        </a:defRPr>
                      </a:pPr>
                      <a:r>
                        <a:rPr dirty="0"/>
                        <a:t>Cannot reliably fix…</a:t>
                      </a:r>
                    </a:p>
                  </a:txBody>
                  <a:tcPr marL="45720" marR="36576" marT="27432" marB="27432">
                    <a:solidFill>
                      <a:srgbClr val="081F3A"/>
                    </a:solidFill>
                  </a:tcPr>
                </a:tc>
                <a:tc>
                  <a:txBody>
                    <a:bodyPr/>
                    <a:lstStyle/>
                    <a:p>
                      <a:pPr algn="l">
                        <a:defRPr sz="1090">
                          <a:solidFill>
                            <a:srgbClr val="FFFFFF"/>
                          </a:solidFill>
                          <a:latin typeface="Aptos"/>
                        </a:defRPr>
                      </a:pPr>
                      <a:r>
                        <a:t>Reason</a:t>
                      </a:r>
                    </a:p>
                  </a:txBody>
                  <a:tcPr marL="45720" marR="36576" marT="27432" marB="27432">
                    <a:solidFill>
                      <a:srgbClr val="081F3A"/>
                    </a:solidFill>
                  </a:tcPr>
                </a:tc>
                <a:extLst>
                  <a:ext uri="{0D108BD9-81ED-4DB2-BD59-A6C34878D82A}">
                    <a16:rowId xmlns:a16="http://schemas.microsoft.com/office/drawing/2014/main" val="10000"/>
                  </a:ext>
                </a:extLst>
              </a:tr>
              <a:tr h="603504">
                <a:tc>
                  <a:txBody>
                    <a:bodyPr/>
                    <a:lstStyle/>
                    <a:p>
                      <a:pPr algn="l">
                        <a:defRPr sz="1040">
                          <a:solidFill>
                            <a:srgbClr val="1C2736"/>
                          </a:solidFill>
                          <a:latin typeface="Aptos"/>
                        </a:defRPr>
                      </a:pPr>
                      <a:r>
                        <a:t>Wrong channel selection</a:t>
                      </a:r>
                    </a:p>
                  </a:txBody>
                  <a:tcPr marL="45720" marR="36576" marT="27432" marB="27432">
                    <a:solidFill>
                      <a:srgbClr val="FFFFFF"/>
                    </a:solidFill>
                  </a:tcPr>
                </a:tc>
                <a:tc>
                  <a:txBody>
                    <a:bodyPr/>
                    <a:lstStyle/>
                    <a:p>
                      <a:pPr algn="l">
                        <a:defRPr sz="1040">
                          <a:solidFill>
                            <a:srgbClr val="1C2736"/>
                          </a:solidFill>
                          <a:latin typeface="Aptos"/>
                        </a:defRPr>
                      </a:pPr>
                      <a:r>
                        <a:t>The probability map is based on the wrong raw signal</a:t>
                      </a:r>
                    </a:p>
                  </a:txBody>
                  <a:tcPr marL="45720" marR="36576" marT="27432" marB="27432">
                    <a:solidFill>
                      <a:srgbClr val="FFFFFF"/>
                    </a:solidFill>
                  </a:tcPr>
                </a:tc>
                <a:extLst>
                  <a:ext uri="{0D108BD9-81ED-4DB2-BD59-A6C34878D82A}">
                    <a16:rowId xmlns:a16="http://schemas.microsoft.com/office/drawing/2014/main" val="10001"/>
                  </a:ext>
                </a:extLst>
              </a:tr>
              <a:tr h="603504">
                <a:tc>
                  <a:txBody>
                    <a:bodyPr/>
                    <a:lstStyle/>
                    <a:p>
                      <a:pPr algn="l">
                        <a:defRPr sz="1040">
                          <a:solidFill>
                            <a:srgbClr val="1C2736"/>
                          </a:solidFill>
                          <a:latin typeface="Aptos"/>
                        </a:defRPr>
                      </a:pPr>
                      <a:r>
                        <a:t>Bad nuclei labels</a:t>
                      </a:r>
                    </a:p>
                  </a:txBody>
                  <a:tcPr marL="45720" marR="36576" marT="27432" marB="27432">
                    <a:solidFill>
                      <a:srgbClr val="EEF3F9"/>
                    </a:solidFill>
                  </a:tcPr>
                </a:tc>
                <a:tc>
                  <a:txBody>
                    <a:bodyPr/>
                    <a:lstStyle/>
                    <a:p>
                      <a:pPr algn="l">
                        <a:defRPr sz="1040">
                          <a:solidFill>
                            <a:srgbClr val="1C2736"/>
                          </a:solidFill>
                          <a:latin typeface="Aptos"/>
                        </a:defRPr>
                      </a:pPr>
                      <a:r>
                        <a:t>Arm detection is restricted to the wrong compartment</a:t>
                      </a:r>
                    </a:p>
                  </a:txBody>
                  <a:tcPr marL="45720" marR="36576" marT="27432" marB="27432">
                    <a:solidFill>
                      <a:srgbClr val="EEF3F9"/>
                    </a:solidFill>
                  </a:tcPr>
                </a:tc>
                <a:extLst>
                  <a:ext uri="{0D108BD9-81ED-4DB2-BD59-A6C34878D82A}">
                    <a16:rowId xmlns:a16="http://schemas.microsoft.com/office/drawing/2014/main" val="10002"/>
                  </a:ext>
                </a:extLst>
              </a:tr>
              <a:tr h="603504">
                <a:tc>
                  <a:txBody>
                    <a:bodyPr/>
                    <a:lstStyle/>
                    <a:p>
                      <a:pPr algn="l">
                        <a:defRPr sz="1040">
                          <a:solidFill>
                            <a:srgbClr val="1C2736"/>
                          </a:solidFill>
                          <a:latin typeface="Aptos"/>
                        </a:defRPr>
                      </a:pPr>
                      <a:r>
                        <a:t>Very poor GMM threshold</a:t>
                      </a:r>
                    </a:p>
                  </a:txBody>
                  <a:tcPr marL="45720" marR="36576" marT="27432" marB="27432">
                    <a:solidFill>
                      <a:srgbClr val="FFFFFF"/>
                    </a:solidFill>
                  </a:tcPr>
                </a:tc>
                <a:tc>
                  <a:txBody>
                    <a:bodyPr/>
                    <a:lstStyle/>
                    <a:p>
                      <a:pPr algn="l">
                        <a:defRPr sz="1040">
                          <a:solidFill>
                            <a:srgbClr val="1C2736"/>
                          </a:solidFill>
                          <a:latin typeface="Aptos"/>
                        </a:defRPr>
                      </a:pPr>
                      <a:r>
                        <a:t>The starting mask may be too wrong</a:t>
                      </a:r>
                    </a:p>
                  </a:txBody>
                  <a:tcPr marL="45720" marR="36576" marT="27432" marB="27432">
                    <a:solidFill>
                      <a:srgbClr val="FFFFFF"/>
                    </a:solidFill>
                  </a:tcPr>
                </a:tc>
                <a:extLst>
                  <a:ext uri="{0D108BD9-81ED-4DB2-BD59-A6C34878D82A}">
                    <a16:rowId xmlns:a16="http://schemas.microsoft.com/office/drawing/2014/main" val="10003"/>
                  </a:ext>
                </a:extLst>
              </a:tr>
              <a:tr h="603504">
                <a:tc>
                  <a:txBody>
                    <a:bodyPr/>
                    <a:lstStyle/>
                    <a:p>
                      <a:pPr algn="l">
                        <a:defRPr sz="1040">
                          <a:solidFill>
                            <a:srgbClr val="1C2736"/>
                          </a:solidFill>
                          <a:latin typeface="Aptos"/>
                        </a:defRPr>
                      </a:pPr>
                      <a:r>
                        <a:t>No true signal</a:t>
                      </a:r>
                    </a:p>
                  </a:txBody>
                  <a:tcPr marL="45720" marR="36576" marT="27432" marB="27432">
                    <a:solidFill>
                      <a:srgbClr val="EEF3F9"/>
                    </a:solidFill>
                  </a:tcPr>
                </a:tc>
                <a:tc>
                  <a:txBody>
                    <a:bodyPr/>
                    <a:lstStyle/>
                    <a:p>
                      <a:pPr algn="l">
                        <a:defRPr sz="1040">
                          <a:solidFill>
                            <a:srgbClr val="1C2736"/>
                          </a:solidFill>
                          <a:latin typeface="Aptos"/>
                        </a:defRPr>
                      </a:pPr>
                      <a:r>
                        <a:rPr dirty="0"/>
                        <a:t>A spatial smoother cannot create real evidence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1097280" y="5074920"/>
            <a:ext cx="9966960" cy="621792"/>
          </a:xfrm>
          <a:prstGeom prst="round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166359"/>
            <a:ext cx="9747504" cy="457200"/>
          </a:xfrm>
          <a:prstGeom prst="rect">
            <a:avLst/>
          </a:prstGeom>
          <a:noFill/>
        </p:spPr>
        <p:txBody>
          <a:bodyPr wrap="none" lIns="18288" tIns="18288" rIns="18288" bIns="18288" anchor="ctr">
            <a:spAutoFit/>
          </a:bodyPr>
          <a:lstStyle/>
          <a:p>
            <a:r>
              <a:rPr sz="1300" b="1" i="0">
                <a:solidFill>
                  <a:srgbClr val="FFFFFF"/>
                </a:solidFill>
                <a:latin typeface="Aptos"/>
              </a:rPr>
              <a:t>Use MRF/CRF as a final refinement step after channel, nuclei, GMM class, gate, and probability threshold are reasonable.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selection deep dive: choosing objects after voxel segmentation</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234440"/>
            <a:ext cx="5303520" cy="2834640"/>
          </a:xfrm>
          <a:prstGeom prst="rect">
            <a:avLst/>
          </a:prstGeom>
          <a:noFill/>
        </p:spPr>
        <p:txBody>
          <a:bodyPr wrap="square" lIns="73152" tIns="18288" rIns="45720" bIns="18288">
            <a:spAutoFit/>
          </a:bodyPr>
          <a:lstStyle/>
          <a:p>
            <a:pPr>
              <a:lnSpc>
                <a:spcPct val="105000"/>
              </a:lnSpc>
              <a:spcAft>
                <a:spcPts val="156"/>
              </a:spcAft>
              <a:defRPr sz="1420">
                <a:solidFill>
                  <a:srgbClr val="1C2736"/>
                </a:solidFill>
                <a:latin typeface="Aptos"/>
              </a:defRPr>
            </a:pPr>
            <a:r>
              <a:t>• The binary mask is converted into 3D connected components: C₁, C₂, …, Cₙ.</a:t>
            </a:r>
          </a:p>
          <a:p>
            <a:pPr>
              <a:lnSpc>
                <a:spcPct val="105000"/>
              </a:lnSpc>
              <a:spcAft>
                <a:spcPts val="156"/>
              </a:spcAft>
              <a:defRPr sz="1420">
                <a:solidFill>
                  <a:srgbClr val="1C2736"/>
                </a:solidFill>
                <a:latin typeface="Aptos"/>
              </a:defRPr>
            </a:pPr>
            <a:r>
              <a:t>• Tiny components below Minimum arm volume can be removed.</a:t>
            </a:r>
          </a:p>
          <a:p>
            <a:pPr>
              <a:lnSpc>
                <a:spcPct val="105000"/>
              </a:lnSpc>
              <a:spcAft>
                <a:spcPts val="156"/>
              </a:spcAft>
              <a:defRPr sz="1420">
                <a:solidFill>
                  <a:srgbClr val="1C2736"/>
                </a:solidFill>
                <a:latin typeface="Aptos"/>
              </a:defRPr>
            </a:pPr>
            <a:r>
              <a:t>• Size-only modes keep either the largest object or all objects above size.</a:t>
            </a:r>
          </a:p>
          <a:p>
            <a:pPr>
              <a:lnSpc>
                <a:spcPct val="105000"/>
              </a:lnSpc>
              <a:spcAft>
                <a:spcPts val="156"/>
              </a:spcAft>
              <a:defRPr sz="1420">
                <a:solidFill>
                  <a:srgbClr val="1C2736"/>
                </a:solidFill>
                <a:latin typeface="Aptos"/>
              </a:defRPr>
            </a:pPr>
            <a:r>
              <a:t>• Score-based modes evaluate each object by probability, contrast, volume, and boundary regularity.</a:t>
            </a:r>
          </a:p>
          <a:p>
            <a:pPr>
              <a:lnSpc>
                <a:spcPct val="105000"/>
              </a:lnSpc>
              <a:spcAft>
                <a:spcPts val="156"/>
              </a:spcAft>
              <a:defRPr sz="1420">
                <a:solidFill>
                  <a:srgbClr val="1C2736"/>
                </a:solidFill>
                <a:latin typeface="Aptos"/>
              </a:defRPr>
            </a:pPr>
            <a:r>
              <a:t>• This step is especially important when GMM probability maps contain small false-positive fragments.</a:t>
            </a:r>
          </a:p>
        </p:txBody>
      </p:sp>
      <p:graphicFrame>
        <p:nvGraphicFramePr>
          <p:cNvPr id="6" name="Table 5"/>
          <p:cNvGraphicFramePr>
            <a:graphicFrameLocks noGrp="1"/>
          </p:cNvGraphicFramePr>
          <p:nvPr/>
        </p:nvGraphicFramePr>
        <p:xfrm>
          <a:off x="6400800" y="1234440"/>
          <a:ext cx="4800600" cy="3200400"/>
        </p:xfrm>
        <a:graphic>
          <a:graphicData uri="http://schemas.openxmlformats.org/drawingml/2006/table">
            <a:tbl>
              <a:tblPr firstRow="1" bandRow="1">
                <a:tableStyleId>{5C22544A-7EE6-4342-B048-85BDC9FD1C3A}</a:tableStyleId>
              </a:tblPr>
              <a:tblGrid>
                <a:gridCol w="15087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533400">
                <a:tc>
                  <a:txBody>
                    <a:bodyPr/>
                    <a:lstStyle/>
                    <a:p>
                      <a:pPr algn="l">
                        <a:defRPr sz="1080">
                          <a:solidFill>
                            <a:srgbClr val="FFFFFF"/>
                          </a:solidFill>
                          <a:latin typeface="Aptos"/>
                        </a:defRPr>
                      </a:pPr>
                      <a:r>
                        <a:t>Mode</a:t>
                      </a:r>
                    </a:p>
                  </a:txBody>
                  <a:tcPr marL="45720" marR="36576" marT="27432" marB="27432">
                    <a:solidFill>
                      <a:srgbClr val="081F3A"/>
                    </a:solidFill>
                  </a:tcPr>
                </a:tc>
                <a:tc>
                  <a:txBody>
                    <a:bodyPr/>
                    <a:lstStyle/>
                    <a:p>
                      <a:pPr algn="l">
                        <a:defRPr sz="1080">
                          <a:solidFill>
                            <a:srgbClr val="FFFFFF"/>
                          </a:solidFill>
                          <a:latin typeface="Aptos"/>
                        </a:defRPr>
                      </a:pPr>
                      <a:r>
                        <a:t>Best when</a:t>
                      </a:r>
                    </a:p>
                  </a:txBody>
                  <a:tcPr marL="45720" marR="36576" marT="27432" marB="27432">
                    <a:solidFill>
                      <a:srgbClr val="081F3A"/>
                    </a:solidFill>
                  </a:tcPr>
                </a:tc>
                <a:extLst>
                  <a:ext uri="{0D108BD9-81ED-4DB2-BD59-A6C34878D82A}">
                    <a16:rowId xmlns:a16="http://schemas.microsoft.com/office/drawing/2014/main" val="10000"/>
                  </a:ext>
                </a:extLst>
              </a:tr>
              <a:tr h="533400">
                <a:tc>
                  <a:txBody>
                    <a:bodyPr/>
                    <a:lstStyle/>
                    <a:p>
                      <a:pPr algn="l">
                        <a:defRPr sz="1030">
                          <a:solidFill>
                            <a:srgbClr val="1C2736"/>
                          </a:solidFill>
                          <a:latin typeface="Aptos"/>
                        </a:defRPr>
                      </a:pPr>
                      <a:r>
                        <a:t>largest</a:t>
                      </a:r>
                    </a:p>
                  </a:txBody>
                  <a:tcPr marL="45720" marR="36576" marT="27432" marB="27432">
                    <a:solidFill>
                      <a:srgbClr val="FFFFFF"/>
                    </a:solidFill>
                  </a:tcPr>
                </a:tc>
                <a:tc>
                  <a:txBody>
                    <a:bodyPr/>
                    <a:lstStyle/>
                    <a:p>
                      <a:pPr algn="l">
                        <a:defRPr sz="1030">
                          <a:solidFill>
                            <a:srgbClr val="1C2736"/>
                          </a:solidFill>
                          <a:latin typeface="Aptos"/>
                        </a:defRPr>
                      </a:pPr>
                      <a:r>
                        <a:t>One true territory and it is usually the largest object</a:t>
                      </a:r>
                    </a:p>
                  </a:txBody>
                  <a:tcPr marL="45720" marR="36576" marT="27432" marB="27432">
                    <a:solidFill>
                      <a:srgbClr val="FFFFFF"/>
                    </a:solidFill>
                  </a:tcPr>
                </a:tc>
                <a:extLst>
                  <a:ext uri="{0D108BD9-81ED-4DB2-BD59-A6C34878D82A}">
                    <a16:rowId xmlns:a16="http://schemas.microsoft.com/office/drawing/2014/main" val="10001"/>
                  </a:ext>
                </a:extLst>
              </a:tr>
              <a:tr h="533400">
                <a:tc>
                  <a:txBody>
                    <a:bodyPr/>
                    <a:lstStyle/>
                    <a:p>
                      <a:pPr algn="l">
                        <a:defRPr sz="1030">
                          <a:solidFill>
                            <a:srgbClr val="1C2736"/>
                          </a:solidFill>
                          <a:latin typeface="Aptos"/>
                        </a:defRPr>
                      </a:pPr>
                      <a:r>
                        <a:t>best_score</a:t>
                      </a:r>
                    </a:p>
                  </a:txBody>
                  <a:tcPr marL="45720" marR="36576" marT="27432" marB="27432">
                    <a:solidFill>
                      <a:srgbClr val="EEF3F9"/>
                    </a:solidFill>
                  </a:tcPr>
                </a:tc>
                <a:tc>
                  <a:txBody>
                    <a:bodyPr/>
                    <a:lstStyle/>
                    <a:p>
                      <a:pPr algn="l">
                        <a:defRPr sz="1030">
                          <a:solidFill>
                            <a:srgbClr val="1C2736"/>
                          </a:solidFill>
                          <a:latin typeface="Aptos"/>
                        </a:defRPr>
                      </a:pPr>
                      <a:r>
                        <a:t>One main territory is expected and noise must be rejected</a:t>
                      </a:r>
                    </a:p>
                  </a:txBody>
                  <a:tcPr marL="45720" marR="36576" marT="27432" marB="27432">
                    <a:solidFill>
                      <a:srgbClr val="EEF3F9"/>
                    </a:solidFill>
                  </a:tcPr>
                </a:tc>
                <a:extLst>
                  <a:ext uri="{0D108BD9-81ED-4DB2-BD59-A6C34878D82A}">
                    <a16:rowId xmlns:a16="http://schemas.microsoft.com/office/drawing/2014/main" val="10002"/>
                  </a:ext>
                </a:extLst>
              </a:tr>
              <a:tr h="533400">
                <a:tc>
                  <a:txBody>
                    <a:bodyPr/>
                    <a:lstStyle/>
                    <a:p>
                      <a:pPr algn="l">
                        <a:defRPr sz="1030">
                          <a:solidFill>
                            <a:srgbClr val="1C2736"/>
                          </a:solidFill>
                          <a:latin typeface="Aptos"/>
                        </a:defRPr>
                      </a:pPr>
                      <a:r>
                        <a:t>all_passing_score</a:t>
                      </a:r>
                    </a:p>
                  </a:txBody>
                  <a:tcPr marL="45720" marR="36576" marT="27432" marB="27432">
                    <a:solidFill>
                      <a:srgbClr val="FFFFFF"/>
                    </a:solidFill>
                  </a:tcPr>
                </a:tc>
                <a:tc>
                  <a:txBody>
                    <a:bodyPr/>
                    <a:lstStyle/>
                    <a:p>
                      <a:pPr algn="l">
                        <a:defRPr sz="1030">
                          <a:solidFill>
                            <a:srgbClr val="1C2736"/>
                          </a:solidFill>
                          <a:latin typeface="Aptos"/>
                        </a:defRPr>
                      </a:pPr>
                      <a:r>
                        <a:t>Real territory may be split into multiple valid pieces</a:t>
                      </a:r>
                    </a:p>
                  </a:txBody>
                  <a:tcPr marL="45720" marR="36576" marT="27432" marB="27432">
                    <a:solidFill>
                      <a:srgbClr val="FFFFFF"/>
                    </a:solidFill>
                  </a:tcPr>
                </a:tc>
                <a:extLst>
                  <a:ext uri="{0D108BD9-81ED-4DB2-BD59-A6C34878D82A}">
                    <a16:rowId xmlns:a16="http://schemas.microsoft.com/office/drawing/2014/main" val="10003"/>
                  </a:ext>
                </a:extLst>
              </a:tr>
              <a:tr h="533400">
                <a:tc>
                  <a:txBody>
                    <a:bodyPr/>
                    <a:lstStyle/>
                    <a:p>
                      <a:pPr algn="l">
                        <a:defRPr sz="1030">
                          <a:solidFill>
                            <a:srgbClr val="1C2736"/>
                          </a:solidFill>
                          <a:latin typeface="Aptos"/>
                        </a:defRPr>
                      </a:pPr>
                      <a:r>
                        <a:t>all_after_size_filter</a:t>
                      </a:r>
                    </a:p>
                  </a:txBody>
                  <a:tcPr marL="45720" marR="36576" marT="27432" marB="27432">
                    <a:solidFill>
                      <a:srgbClr val="EEF3F9"/>
                    </a:solidFill>
                  </a:tcPr>
                </a:tc>
                <a:tc>
                  <a:txBody>
                    <a:bodyPr/>
                    <a:lstStyle/>
                    <a:p>
                      <a:pPr algn="l">
                        <a:defRPr sz="1030">
                          <a:solidFill>
                            <a:srgbClr val="1C2736"/>
                          </a:solidFill>
                          <a:latin typeface="Aptos"/>
                        </a:defRPr>
                      </a:pPr>
                      <a:r>
                        <a:t>Only tiny debris should be removed</a:t>
                      </a:r>
                    </a:p>
                  </a:txBody>
                  <a:tcPr marL="45720" marR="36576" marT="27432" marB="27432">
                    <a:solidFill>
                      <a:srgbClr val="EEF3F9"/>
                    </a:solidFill>
                  </a:tcPr>
                </a:tc>
                <a:extLst>
                  <a:ext uri="{0D108BD9-81ED-4DB2-BD59-A6C34878D82A}">
                    <a16:rowId xmlns:a16="http://schemas.microsoft.com/office/drawing/2014/main" val="10004"/>
                  </a:ext>
                </a:extLst>
              </a:tr>
              <a:tr h="533400">
                <a:tc>
                  <a:txBody>
                    <a:bodyPr/>
                    <a:lstStyle/>
                    <a:p>
                      <a:pPr algn="l">
                        <a:defRPr sz="1030">
                          <a:solidFill>
                            <a:srgbClr val="1C2736"/>
                          </a:solidFill>
                          <a:latin typeface="Aptos"/>
                        </a:defRPr>
                      </a:pPr>
                      <a:r>
                        <a:t>none</a:t>
                      </a:r>
                    </a:p>
                  </a:txBody>
                  <a:tcPr marL="45720" marR="36576" marT="27432" marB="27432">
                    <a:solidFill>
                      <a:srgbClr val="FFFFFF"/>
                    </a:solidFill>
                  </a:tcPr>
                </a:tc>
                <a:tc>
                  <a:txBody>
                    <a:bodyPr/>
                    <a:lstStyle/>
                    <a:p>
                      <a:pPr algn="l">
                        <a:defRPr sz="1030">
                          <a:solidFill>
                            <a:srgbClr val="1C2736"/>
                          </a:solidFill>
                          <a:latin typeface="Aptos"/>
                        </a:defRPr>
                      </a:pPr>
                      <a:r>
                        <a:t>Debugging or inspecting raw thresholded mask</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1097280" y="5212080"/>
            <a:ext cx="9875520" cy="548640"/>
          </a:xfrm>
          <a:prstGeom prst="round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07007" y="5303520"/>
            <a:ext cx="9656064" cy="384048"/>
          </a:xfrm>
          <a:prstGeom prst="rect">
            <a:avLst/>
          </a:prstGeom>
          <a:noFill/>
        </p:spPr>
        <p:txBody>
          <a:bodyPr wrap="none" lIns="18288" tIns="18288" rIns="18288" bIns="18288" anchor="ctr">
            <a:spAutoFit/>
          </a:bodyPr>
          <a:lstStyle/>
          <a:p>
            <a:r>
              <a:rPr sz="1300" b="1" i="0">
                <a:solidFill>
                  <a:srgbClr val="FFFFFF"/>
                </a:solidFill>
                <a:latin typeface="Aptos"/>
              </a:rPr>
              <a:t>Object selection happens after MRF/CRF; it decides which connected objects survive.</a:t>
            </a:r>
          </a:p>
        </p:txBody>
      </p:sp>
      <p:sp>
        <p:nvSpPr>
          <p:cNvPr id="9" name="TextBox 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0" name="TextBox 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54</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Component score terms: what each weight changes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omponent_score.png"/>
          <p:cNvPicPr>
            <a:picLocks noChangeAspect="1"/>
          </p:cNvPicPr>
          <p:nvPr/>
        </p:nvPicPr>
        <p:blipFill>
          <a:blip r:embed="rId2"/>
          <a:stretch>
            <a:fillRect/>
          </a:stretch>
        </p:blipFill>
        <p:spPr>
          <a:xfrm>
            <a:off x="3307080" y="1097280"/>
            <a:ext cx="5547360" cy="731520"/>
          </a:xfrm>
          <a:prstGeom prst="rect">
            <a:avLst/>
          </a:prstGeom>
        </p:spPr>
      </p:pic>
      <p:graphicFrame>
        <p:nvGraphicFramePr>
          <p:cNvPr id="6" name="Table 5"/>
          <p:cNvGraphicFramePr>
            <a:graphicFrameLocks noGrp="1"/>
          </p:cNvGraphicFramePr>
          <p:nvPr/>
        </p:nvGraphicFramePr>
        <p:xfrm>
          <a:off x="640080" y="2057400"/>
          <a:ext cx="10972799" cy="310896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452628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621792">
                <a:tc>
                  <a:txBody>
                    <a:bodyPr/>
                    <a:lstStyle/>
                    <a:p>
                      <a:pPr algn="l">
                        <a:defRPr sz="1070">
                          <a:solidFill>
                            <a:srgbClr val="FFFFFF"/>
                          </a:solidFill>
                          <a:latin typeface="Aptos"/>
                        </a:defRPr>
                      </a:pPr>
                      <a:r>
                        <a:t>Weight</a:t>
                      </a:r>
                    </a:p>
                  </a:txBody>
                  <a:tcPr marL="45720" marR="36576" marT="27432" marB="27432">
                    <a:solidFill>
                      <a:srgbClr val="081F3A"/>
                    </a:solidFill>
                  </a:tcPr>
                </a:tc>
                <a:tc>
                  <a:txBody>
                    <a:bodyPr/>
                    <a:lstStyle/>
                    <a:p>
                      <a:pPr algn="l">
                        <a:defRPr sz="1070">
                          <a:solidFill>
                            <a:srgbClr val="FFFFFF"/>
                          </a:solidFill>
                          <a:latin typeface="Aptos"/>
                        </a:defRPr>
                      </a:pPr>
                      <a:r>
                        <a:t>Increase when…</a:t>
                      </a:r>
                    </a:p>
                  </a:txBody>
                  <a:tcPr marL="45720" marR="36576" marT="27432" marB="27432">
                    <a:solidFill>
                      <a:srgbClr val="081F3A"/>
                    </a:solidFill>
                  </a:tcPr>
                </a:tc>
                <a:tc>
                  <a:txBody>
                    <a:bodyPr/>
                    <a:lstStyle/>
                    <a:p>
                      <a:pPr algn="l">
                        <a:defRPr sz="1070">
                          <a:solidFill>
                            <a:srgbClr val="FFFFFF"/>
                          </a:solidFill>
                          <a:latin typeface="Aptos"/>
                        </a:defRPr>
                      </a:pPr>
                      <a:r>
                        <a:t>Decrease when…</a:t>
                      </a:r>
                    </a:p>
                  </a:txBody>
                  <a:tcPr marL="45720" marR="36576" marT="27432" marB="27432">
                    <a:solidFill>
                      <a:srgbClr val="081F3A"/>
                    </a:solidFill>
                  </a:tcPr>
                </a:tc>
                <a:extLst>
                  <a:ext uri="{0D108BD9-81ED-4DB2-BD59-A6C34878D82A}">
                    <a16:rowId xmlns:a16="http://schemas.microsoft.com/office/drawing/2014/main" val="10000"/>
                  </a:ext>
                </a:extLst>
              </a:tr>
              <a:tr h="621792">
                <a:tc>
                  <a:txBody>
                    <a:bodyPr/>
                    <a:lstStyle/>
                    <a:p>
                      <a:pPr algn="l">
                        <a:defRPr sz="1019">
                          <a:solidFill>
                            <a:srgbClr val="1C2736"/>
                          </a:solidFill>
                          <a:latin typeface="Aptos"/>
                        </a:defRPr>
                      </a:pPr>
                      <a:r>
                        <a:t>Probability</a:t>
                      </a:r>
                    </a:p>
                  </a:txBody>
                  <a:tcPr marL="45720" marR="36576" marT="27432" marB="27432">
                    <a:solidFill>
                      <a:srgbClr val="FFFFFF"/>
                    </a:solidFill>
                  </a:tcPr>
                </a:tc>
                <a:tc>
                  <a:txBody>
                    <a:bodyPr/>
                    <a:lstStyle/>
                    <a:p>
                      <a:pPr algn="l">
                        <a:defRPr sz="1019">
                          <a:solidFill>
                            <a:srgbClr val="1C2736"/>
                          </a:solidFill>
                          <a:latin typeface="Aptos"/>
                        </a:defRPr>
                      </a:pPr>
                      <a:r>
                        <a:t>Low-confidence fragments are being kept</a:t>
                      </a:r>
                    </a:p>
                  </a:txBody>
                  <a:tcPr marL="45720" marR="36576" marT="27432" marB="27432">
                    <a:solidFill>
                      <a:srgbClr val="FFFFFF"/>
                    </a:solidFill>
                  </a:tcPr>
                </a:tc>
                <a:tc>
                  <a:txBody>
                    <a:bodyPr/>
                    <a:lstStyle/>
                    <a:p>
                      <a:pPr algn="l">
                        <a:defRPr sz="1019">
                          <a:solidFill>
                            <a:srgbClr val="1C2736"/>
                          </a:solidFill>
                          <a:latin typeface="Aptos"/>
                        </a:defRPr>
                      </a:pPr>
                      <a:r>
                        <a:t>Dim but real signal is rejected</a:t>
                      </a:r>
                    </a:p>
                  </a:txBody>
                  <a:tcPr marL="45720" marR="36576" marT="27432" marB="27432">
                    <a:solidFill>
                      <a:srgbClr val="FFFFFF"/>
                    </a:solidFill>
                  </a:tcPr>
                </a:tc>
                <a:extLst>
                  <a:ext uri="{0D108BD9-81ED-4DB2-BD59-A6C34878D82A}">
                    <a16:rowId xmlns:a16="http://schemas.microsoft.com/office/drawing/2014/main" val="10001"/>
                  </a:ext>
                </a:extLst>
              </a:tr>
              <a:tr h="621792">
                <a:tc>
                  <a:txBody>
                    <a:bodyPr/>
                    <a:lstStyle/>
                    <a:p>
                      <a:pPr algn="l">
                        <a:defRPr sz="1019">
                          <a:solidFill>
                            <a:srgbClr val="1C2736"/>
                          </a:solidFill>
                          <a:latin typeface="Aptos"/>
                        </a:defRPr>
                      </a:pPr>
                      <a:r>
                        <a:t>Contrast</a:t>
                      </a:r>
                    </a:p>
                  </a:txBody>
                  <a:tcPr marL="45720" marR="36576" marT="27432" marB="27432">
                    <a:solidFill>
                      <a:srgbClr val="EEF3F9"/>
                    </a:solidFill>
                  </a:tcPr>
                </a:tc>
                <a:tc>
                  <a:txBody>
                    <a:bodyPr/>
                    <a:lstStyle/>
                    <a:p>
                      <a:pPr algn="l">
                        <a:defRPr sz="1019">
                          <a:solidFill>
                            <a:srgbClr val="1C2736"/>
                          </a:solidFill>
                          <a:latin typeface="Aptos"/>
                        </a:defRPr>
                      </a:pPr>
                      <a:r>
                        <a:t>Background patches or broad gradients are kept</a:t>
                      </a:r>
                    </a:p>
                  </a:txBody>
                  <a:tcPr marL="45720" marR="36576" marT="27432" marB="27432">
                    <a:solidFill>
                      <a:srgbClr val="EEF3F9"/>
                    </a:solidFill>
                  </a:tcPr>
                </a:tc>
                <a:tc>
                  <a:txBody>
                    <a:bodyPr/>
                    <a:lstStyle/>
                    <a:p>
                      <a:pPr algn="l">
                        <a:defRPr sz="1019">
                          <a:solidFill>
                            <a:srgbClr val="1C2736"/>
                          </a:solidFill>
                          <a:latin typeface="Aptos"/>
                        </a:defRPr>
                      </a:pPr>
                      <a:r>
                        <a:t>True signal is diffuse with weak local boundary</a:t>
                      </a:r>
                    </a:p>
                  </a:txBody>
                  <a:tcPr marL="45720" marR="36576" marT="27432" marB="27432">
                    <a:solidFill>
                      <a:srgbClr val="EEF3F9"/>
                    </a:solidFill>
                  </a:tcPr>
                </a:tc>
                <a:extLst>
                  <a:ext uri="{0D108BD9-81ED-4DB2-BD59-A6C34878D82A}">
                    <a16:rowId xmlns:a16="http://schemas.microsoft.com/office/drawing/2014/main" val="10002"/>
                  </a:ext>
                </a:extLst>
              </a:tr>
              <a:tr h="621792">
                <a:tc>
                  <a:txBody>
                    <a:bodyPr/>
                    <a:lstStyle/>
                    <a:p>
                      <a:pPr algn="l">
                        <a:defRPr sz="1019">
                          <a:solidFill>
                            <a:srgbClr val="1C2736"/>
                          </a:solidFill>
                          <a:latin typeface="Aptos"/>
                        </a:defRPr>
                      </a:pPr>
                      <a:r>
                        <a:t>Volume</a:t>
                      </a:r>
                    </a:p>
                  </a:txBody>
                  <a:tcPr marL="45720" marR="36576" marT="27432" marB="27432">
                    <a:solidFill>
                      <a:srgbClr val="FFFFFF"/>
                    </a:solidFill>
                  </a:tcPr>
                </a:tc>
                <a:tc>
                  <a:txBody>
                    <a:bodyPr/>
                    <a:lstStyle/>
                    <a:p>
                      <a:pPr algn="l">
                        <a:defRPr sz="1019">
                          <a:solidFill>
                            <a:srgbClr val="1C2736"/>
                          </a:solidFill>
                          <a:latin typeface="Aptos"/>
                        </a:defRPr>
                      </a:pPr>
                      <a:r>
                        <a:t>Tiny speckles are selected as objects</a:t>
                      </a:r>
                    </a:p>
                  </a:txBody>
                  <a:tcPr marL="45720" marR="36576" marT="27432" marB="27432">
                    <a:solidFill>
                      <a:srgbClr val="FFFFFF"/>
                    </a:solidFill>
                  </a:tcPr>
                </a:tc>
                <a:tc>
                  <a:txBody>
                    <a:bodyPr/>
                    <a:lstStyle/>
                    <a:p>
                      <a:pPr algn="l">
                        <a:defRPr sz="1019">
                          <a:solidFill>
                            <a:srgbClr val="1C2736"/>
                          </a:solidFill>
                          <a:latin typeface="Aptos"/>
                        </a:defRPr>
                      </a:pPr>
                      <a:r>
                        <a:t>True territories are small</a:t>
                      </a:r>
                    </a:p>
                  </a:txBody>
                  <a:tcPr marL="45720" marR="36576" marT="27432" marB="27432">
                    <a:solidFill>
                      <a:srgbClr val="FFFFFF"/>
                    </a:solidFill>
                  </a:tcPr>
                </a:tc>
                <a:extLst>
                  <a:ext uri="{0D108BD9-81ED-4DB2-BD59-A6C34878D82A}">
                    <a16:rowId xmlns:a16="http://schemas.microsoft.com/office/drawing/2014/main" val="10003"/>
                  </a:ext>
                </a:extLst>
              </a:tr>
              <a:tr h="621792">
                <a:tc>
                  <a:txBody>
                    <a:bodyPr/>
                    <a:lstStyle/>
                    <a:p>
                      <a:pPr algn="l">
                        <a:defRPr sz="1019">
                          <a:solidFill>
                            <a:srgbClr val="1C2736"/>
                          </a:solidFill>
                          <a:latin typeface="Aptos"/>
                        </a:defRPr>
                      </a:pPr>
                      <a:r>
                        <a:t>Boundary penalty</a:t>
                      </a:r>
                    </a:p>
                  </a:txBody>
                  <a:tcPr marL="45720" marR="36576" marT="27432" marB="27432">
                    <a:solidFill>
                      <a:srgbClr val="EEF3F9"/>
                    </a:solidFill>
                  </a:tcPr>
                </a:tc>
                <a:tc>
                  <a:txBody>
                    <a:bodyPr/>
                    <a:lstStyle/>
                    <a:p>
                      <a:pPr algn="l">
                        <a:defRPr sz="1019">
                          <a:solidFill>
                            <a:srgbClr val="1C2736"/>
                          </a:solidFill>
                          <a:latin typeface="Aptos"/>
                        </a:defRPr>
                      </a:pPr>
                      <a:r>
                        <a:t>Jagged/rim-like/noisy components survive</a:t>
                      </a:r>
                    </a:p>
                  </a:txBody>
                  <a:tcPr marL="45720" marR="36576" marT="27432" marB="27432">
                    <a:solidFill>
                      <a:srgbClr val="EEF3F9"/>
                    </a:solidFill>
                  </a:tcPr>
                </a:tc>
                <a:tc>
                  <a:txBody>
                    <a:bodyPr/>
                    <a:lstStyle/>
                    <a:p>
                      <a:pPr algn="l">
                        <a:defRPr sz="1019">
                          <a:solidFill>
                            <a:srgbClr val="1C2736"/>
                          </a:solidFill>
                          <a:latin typeface="Aptos"/>
                        </a:defRPr>
                      </a:pPr>
                      <a:r>
                        <a:t>Real territories are irregular or near the edge</a:t>
                      </a:r>
                    </a:p>
                  </a:txBody>
                  <a:tcPr marL="45720" marR="36576" marT="27432" marB="27432">
                    <a:solidFill>
                      <a:srgbClr val="EEF3F9"/>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8" name="TextBox 7"/>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Measurement formula cheat sheet</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volume.png"/>
          <p:cNvPicPr>
            <a:picLocks noChangeAspect="1"/>
          </p:cNvPicPr>
          <p:nvPr/>
        </p:nvPicPr>
        <p:blipFill>
          <a:blip r:embed="rId2"/>
          <a:stretch>
            <a:fillRect/>
          </a:stretch>
        </p:blipFill>
        <p:spPr>
          <a:xfrm>
            <a:off x="1384935" y="1097280"/>
            <a:ext cx="3813810" cy="502920"/>
          </a:xfrm>
          <a:prstGeom prst="rect">
            <a:avLst/>
          </a:prstGeom>
        </p:spPr>
      </p:pic>
      <p:pic>
        <p:nvPicPr>
          <p:cNvPr id="6" name="Picture 5" descr="overlap.png"/>
          <p:cNvPicPr>
            <a:picLocks noChangeAspect="1"/>
          </p:cNvPicPr>
          <p:nvPr/>
        </p:nvPicPr>
        <p:blipFill>
          <a:blip r:embed="rId3"/>
          <a:stretch>
            <a:fillRect/>
          </a:stretch>
        </p:blipFill>
        <p:spPr>
          <a:xfrm>
            <a:off x="1384935" y="1828800"/>
            <a:ext cx="3813810" cy="502920"/>
          </a:xfrm>
          <a:prstGeom prst="rect">
            <a:avLst/>
          </a:prstGeom>
        </p:spPr>
      </p:pic>
      <p:pic>
        <p:nvPicPr>
          <p:cNvPr id="7" name="Picture 6" descr="distance.png"/>
          <p:cNvPicPr>
            <a:picLocks noChangeAspect="1"/>
          </p:cNvPicPr>
          <p:nvPr/>
        </p:nvPicPr>
        <p:blipFill>
          <a:blip r:embed="rId4"/>
          <a:stretch>
            <a:fillRect/>
          </a:stretch>
        </p:blipFill>
        <p:spPr>
          <a:xfrm>
            <a:off x="1384935" y="2560320"/>
            <a:ext cx="3813810" cy="502920"/>
          </a:xfrm>
          <a:prstGeom prst="rect">
            <a:avLst/>
          </a:prstGeom>
        </p:spPr>
      </p:pic>
      <p:pic>
        <p:nvPicPr>
          <p:cNvPr id="8" name="Picture 7" descr="sphericity.png"/>
          <p:cNvPicPr>
            <a:picLocks noChangeAspect="1"/>
          </p:cNvPicPr>
          <p:nvPr/>
        </p:nvPicPr>
        <p:blipFill>
          <a:blip r:embed="rId5"/>
          <a:stretch>
            <a:fillRect/>
          </a:stretch>
        </p:blipFill>
        <p:spPr>
          <a:xfrm>
            <a:off x="1384935" y="3291840"/>
            <a:ext cx="3813810" cy="502920"/>
          </a:xfrm>
          <a:prstGeom prst="rect">
            <a:avLst/>
          </a:prstGeom>
        </p:spPr>
      </p:pic>
      <p:pic>
        <p:nvPicPr>
          <p:cNvPr id="9" name="Picture 8" descr="radial.png"/>
          <p:cNvPicPr>
            <a:picLocks noChangeAspect="1"/>
          </p:cNvPicPr>
          <p:nvPr/>
        </p:nvPicPr>
        <p:blipFill>
          <a:blip r:embed="rId6"/>
          <a:stretch>
            <a:fillRect/>
          </a:stretch>
        </p:blipFill>
        <p:spPr>
          <a:xfrm>
            <a:off x="1038224" y="4023360"/>
            <a:ext cx="4507230" cy="594360"/>
          </a:xfrm>
          <a:prstGeom prst="rect">
            <a:avLst/>
          </a:prstGeom>
        </p:spPr>
      </p:pic>
      <p:sp>
        <p:nvSpPr>
          <p:cNvPr id="10" name="TextBox 9"/>
          <p:cNvSpPr txBox="1"/>
          <p:nvPr/>
        </p:nvSpPr>
        <p:spPr>
          <a:xfrm>
            <a:off x="6446520" y="1188720"/>
            <a:ext cx="4937760" cy="310896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rPr sz="1550"/>
              <a:t>• All distances and volumes are physical measurements, not raw voxel counts.</a:t>
            </a:r>
          </a:p>
          <a:p>
            <a:pPr>
              <a:lnSpc>
                <a:spcPct val="105000"/>
              </a:lnSpc>
              <a:spcAft>
                <a:spcPts val="156"/>
              </a:spcAft>
              <a:defRPr sz="1400">
                <a:solidFill>
                  <a:srgbClr val="1C2736"/>
                </a:solidFill>
                <a:latin typeface="Aptos"/>
              </a:defRPr>
            </a:pPr>
            <a:r>
              <a:rPr sz="1550"/>
              <a:t>• Overlap normalized to P and overlap normalized to Q are both reported because they answer different size-normalized questions.</a:t>
            </a:r>
          </a:p>
          <a:p>
            <a:pPr>
              <a:lnSpc>
                <a:spcPct val="105000"/>
              </a:lnSpc>
              <a:spcAft>
                <a:spcPts val="156"/>
              </a:spcAft>
              <a:defRPr sz="1400">
                <a:solidFill>
                  <a:srgbClr val="1C2736"/>
                </a:solidFill>
                <a:latin typeface="Aptos"/>
              </a:defRPr>
            </a:pPr>
            <a:r>
              <a:rPr sz="1550"/>
              <a:t>• Radial position is continuous and nucleus-specific; it uses the distance transform of each nucleus.</a:t>
            </a:r>
          </a:p>
          <a:p>
            <a:pPr>
              <a:lnSpc>
                <a:spcPct val="105000"/>
              </a:lnSpc>
              <a:spcAft>
                <a:spcPts val="156"/>
              </a:spcAft>
              <a:defRPr sz="1400">
                <a:solidFill>
                  <a:srgbClr val="1C2736"/>
                </a:solidFill>
                <a:latin typeface="Aptos"/>
              </a:defRPr>
            </a:pPr>
            <a:r>
              <a:rPr sz="1550"/>
              <a:t>• Shape metrics are useful for both scientific reporting and segmentation quality control.
• FISH signal count is a connected-component count: n_P = number of retained 3D P components and n_Q = number of retained 3D Q components.</a:t>
            </a:r>
          </a:p>
        </p:txBody>
      </p:sp>
      <p:sp>
        <p:nvSpPr>
          <p:cNvPr id="11" name="TextBox 10"/>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12" name="TextBox 11"/>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APPENDIX</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How to explain parameter effects live</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548640" y="1143000"/>
          <a:ext cx="11109960" cy="4754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792480">
                <a:tc>
                  <a:txBody>
                    <a:bodyPr/>
                    <a:lstStyle/>
                    <a:p>
                      <a:pPr algn="l">
                        <a:defRPr sz="1030">
                          <a:solidFill>
                            <a:srgbClr val="FFFFFF"/>
                          </a:solidFill>
                          <a:latin typeface="Aptos"/>
                        </a:defRPr>
                      </a:pPr>
                      <a:r>
                        <a:t>Question from user</a:t>
                      </a:r>
                    </a:p>
                  </a:txBody>
                  <a:tcPr marL="45720" marR="36576" marT="27432" marB="27432">
                    <a:solidFill>
                      <a:srgbClr val="081F3A"/>
                    </a:solidFill>
                  </a:tcPr>
                </a:tc>
                <a:tc>
                  <a:txBody>
                    <a:bodyPr/>
                    <a:lstStyle/>
                    <a:p>
                      <a:pPr algn="l">
                        <a:defRPr sz="1030">
                          <a:solidFill>
                            <a:srgbClr val="FFFFFF"/>
                          </a:solidFill>
                          <a:latin typeface="Aptos"/>
                        </a:defRPr>
                      </a:pPr>
                      <a:r>
                        <a:t>Suggested explanation</a:t>
                      </a:r>
                    </a:p>
                  </a:txBody>
                  <a:tcPr marL="45720" marR="36576" marT="27432" marB="27432">
                    <a:solidFill>
                      <a:srgbClr val="081F3A"/>
                    </a:solidFill>
                  </a:tcPr>
                </a:tc>
                <a:extLst>
                  <a:ext uri="{0D108BD9-81ED-4DB2-BD59-A6C34878D82A}">
                    <a16:rowId xmlns:a16="http://schemas.microsoft.com/office/drawing/2014/main" val="10000"/>
                  </a:ext>
                </a:extLst>
              </a:tr>
              <a:tr h="792480">
                <a:tc>
                  <a:txBody>
                    <a:bodyPr/>
                    <a:lstStyle/>
                    <a:p>
                      <a:pPr algn="l">
                        <a:defRPr sz="980">
                          <a:solidFill>
                            <a:srgbClr val="1C2736"/>
                          </a:solidFill>
                          <a:latin typeface="Aptos"/>
                        </a:defRPr>
                      </a:pPr>
                      <a:r>
                        <a:t>Why does threshold matter?</a:t>
                      </a:r>
                    </a:p>
                  </a:txBody>
                  <a:tcPr marL="45720" marR="36576" marT="27432" marB="27432">
                    <a:solidFill>
                      <a:srgbClr val="FFFFFF"/>
                    </a:solidFill>
                  </a:tcPr>
                </a:tc>
                <a:tc>
                  <a:txBody>
                    <a:bodyPr/>
                    <a:lstStyle/>
                    <a:p>
                      <a:pPr algn="l">
                        <a:defRPr sz="980">
                          <a:solidFill>
                            <a:srgbClr val="1C2736"/>
                          </a:solidFill>
                          <a:latin typeface="Aptos"/>
                        </a:defRPr>
                      </a:pPr>
                      <a:r>
                        <a:t>It is the cutoff that converts probability into a mask. Higher keeps only confident voxels; lower includes more dim/uncertain voxels.</a:t>
                      </a:r>
                    </a:p>
                  </a:txBody>
                  <a:tcPr marL="45720" marR="36576" marT="27432" marB="27432">
                    <a:solidFill>
                      <a:srgbClr val="FFFFFF"/>
                    </a:solidFill>
                  </a:tcPr>
                </a:tc>
                <a:extLst>
                  <a:ext uri="{0D108BD9-81ED-4DB2-BD59-A6C34878D82A}">
                    <a16:rowId xmlns:a16="http://schemas.microsoft.com/office/drawing/2014/main" val="10001"/>
                  </a:ext>
                </a:extLst>
              </a:tr>
              <a:tr h="792480">
                <a:tc>
                  <a:txBody>
                    <a:bodyPr/>
                    <a:lstStyle/>
                    <a:p>
                      <a:pPr algn="l">
                        <a:defRPr sz="980">
                          <a:solidFill>
                            <a:srgbClr val="1C2736"/>
                          </a:solidFill>
                          <a:latin typeface="Aptos"/>
                        </a:defRPr>
                      </a:pPr>
                      <a:r>
                        <a:t>Why does GMM class index matter?</a:t>
                      </a:r>
                    </a:p>
                  </a:txBody>
                  <a:tcPr marL="45720" marR="36576" marT="27432" marB="27432">
                    <a:solidFill>
                      <a:srgbClr val="EEF3F9"/>
                    </a:solidFill>
                  </a:tcPr>
                </a:tc>
                <a:tc>
                  <a:txBody>
                    <a:bodyPr/>
                    <a:lstStyle/>
                    <a:p>
                      <a:pPr algn="l">
                        <a:defRPr sz="980">
                          <a:solidFill>
                            <a:srgbClr val="1C2736"/>
                          </a:solidFill>
                          <a:latin typeface="Aptos"/>
                        </a:defRPr>
                      </a:pPr>
                      <a:r>
                        <a:t>The model sorts intensity classes from dim to bright. The class index decides which bright classes count as P/Q signal.</a:t>
                      </a:r>
                    </a:p>
                  </a:txBody>
                  <a:tcPr marL="45720" marR="36576" marT="27432" marB="27432">
                    <a:solidFill>
                      <a:srgbClr val="EEF3F9"/>
                    </a:solidFill>
                  </a:tcPr>
                </a:tc>
                <a:extLst>
                  <a:ext uri="{0D108BD9-81ED-4DB2-BD59-A6C34878D82A}">
                    <a16:rowId xmlns:a16="http://schemas.microsoft.com/office/drawing/2014/main" val="10002"/>
                  </a:ext>
                </a:extLst>
              </a:tr>
              <a:tr h="792480">
                <a:tc>
                  <a:txBody>
                    <a:bodyPr/>
                    <a:lstStyle/>
                    <a:p>
                      <a:pPr algn="l">
                        <a:defRPr sz="980">
                          <a:solidFill>
                            <a:srgbClr val="1C2736"/>
                          </a:solidFill>
                          <a:latin typeface="Aptos"/>
                        </a:defRPr>
                      </a:pPr>
                      <a:r>
                        <a:t>Why do we need a gate?</a:t>
                      </a:r>
                    </a:p>
                  </a:txBody>
                  <a:tcPr marL="45720" marR="36576" marT="27432" marB="27432">
                    <a:solidFill>
                      <a:srgbClr val="FFFFFF"/>
                    </a:solidFill>
                  </a:tcPr>
                </a:tc>
                <a:tc>
                  <a:txBody>
                    <a:bodyPr/>
                    <a:lstStyle/>
                    <a:p>
                      <a:pPr algn="l">
                        <a:defRPr sz="980">
                          <a:solidFill>
                            <a:srgbClr val="1C2736"/>
                          </a:solidFill>
                          <a:latin typeface="Aptos"/>
                        </a:defRPr>
                      </a:pPr>
                      <a:r>
                        <a:t>Without a gate, GMM will still split noise into classes even when no real arm is present. The gate asks whether the signal evidence is strong enough.</a:t>
                      </a:r>
                    </a:p>
                  </a:txBody>
                  <a:tcPr marL="45720" marR="36576" marT="27432" marB="27432">
                    <a:solidFill>
                      <a:srgbClr val="FFFFFF"/>
                    </a:solidFill>
                  </a:tcPr>
                </a:tc>
                <a:extLst>
                  <a:ext uri="{0D108BD9-81ED-4DB2-BD59-A6C34878D82A}">
                    <a16:rowId xmlns:a16="http://schemas.microsoft.com/office/drawing/2014/main" val="10003"/>
                  </a:ext>
                </a:extLst>
              </a:tr>
              <a:tr h="792480">
                <a:tc>
                  <a:txBody>
                    <a:bodyPr/>
                    <a:lstStyle/>
                    <a:p>
                      <a:pPr algn="l">
                        <a:defRPr sz="980">
                          <a:solidFill>
                            <a:srgbClr val="1C2736"/>
                          </a:solidFill>
                          <a:latin typeface="Aptos"/>
                        </a:defRPr>
                      </a:pPr>
                      <a:r>
                        <a:t>Why component scoring?</a:t>
                      </a:r>
                    </a:p>
                  </a:txBody>
                  <a:tcPr marL="45720" marR="36576" marT="27432" marB="27432">
                    <a:solidFill>
                      <a:srgbClr val="EEF3F9"/>
                    </a:solidFill>
                  </a:tcPr>
                </a:tc>
                <a:tc>
                  <a:txBody>
                    <a:bodyPr/>
                    <a:lstStyle/>
                    <a:p>
                      <a:pPr algn="l">
                        <a:defRPr sz="980">
                          <a:solidFill>
                            <a:srgbClr val="1C2736"/>
                          </a:solidFill>
                          <a:latin typeface="Aptos"/>
                        </a:defRPr>
                      </a:pPr>
                      <a:r>
                        <a:t>After voxel thresholding, several pieces may exist. Scoring selects plausible 3D objects instead of keeping every bright speck.</a:t>
                      </a:r>
                    </a:p>
                  </a:txBody>
                  <a:tcPr marL="45720" marR="36576" marT="27432" marB="27432">
                    <a:solidFill>
                      <a:srgbClr val="EEF3F9"/>
                    </a:solidFill>
                  </a:tcPr>
                </a:tc>
                <a:extLst>
                  <a:ext uri="{0D108BD9-81ED-4DB2-BD59-A6C34878D82A}">
                    <a16:rowId xmlns:a16="http://schemas.microsoft.com/office/drawing/2014/main" val="10004"/>
                  </a:ext>
                </a:extLst>
              </a:tr>
              <a:tr h="792480">
                <a:tc>
                  <a:txBody>
                    <a:bodyPr/>
                    <a:lstStyle/>
                    <a:p>
                      <a:pPr algn="l">
                        <a:defRPr sz="980">
                          <a:solidFill>
                            <a:srgbClr val="1C2736"/>
                          </a:solidFill>
                          <a:latin typeface="Aptos"/>
                        </a:defRPr>
                      </a:pPr>
                      <a:r>
                        <a:t>Why MRF/CRF?</a:t>
                      </a:r>
                    </a:p>
                  </a:txBody>
                  <a:tcPr marL="45720" marR="36576" marT="27432" marB="27432">
                    <a:solidFill>
                      <a:srgbClr val="FFFFFF"/>
                    </a:solidFill>
                  </a:tcPr>
                </a:tc>
                <a:tc>
                  <a:txBody>
                    <a:bodyPr/>
                    <a:lstStyle/>
                    <a:p>
                      <a:pPr algn="l">
                        <a:defRPr sz="980">
                          <a:solidFill>
                            <a:srgbClr val="1C2736"/>
                          </a:solidFill>
                          <a:latin typeface="Aptos"/>
                        </a:defRPr>
                      </a:pPr>
                      <a:r>
                        <a:t>It adds local spatial context so masks are not decided voxel-by-voxel only. Neighbors support each other, while intensity edges protect boundaries.</a:t>
                      </a:r>
                    </a:p>
                  </a:txBody>
                  <a:tcPr marL="45720" marR="36576" marT="27432" marB="27432">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7" name="TextBox 6"/>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66928" y="502920"/>
            <a:ext cx="5577840" cy="1051560"/>
          </a:xfrm>
          <a:prstGeom prst="rect">
            <a:avLst/>
          </a:prstGeom>
          <a:noFill/>
          <a:ln/>
        </p:spPr>
        <p:txBody>
          <a:bodyPr wrap="square" lIns="0" tIns="0" rIns="0" bIns="0" rtlCol="0" anchor="ctr">
            <a:normAutofit/>
          </a:bodyPr>
          <a:lstStyle/>
          <a:p>
            <a:pPr marL="0" indent="0">
              <a:buNone/>
            </a:pPr>
            <a:r>
              <a:rPr lang="en-US" sz="3400" b="1" dirty="0">
                <a:solidFill>
                  <a:srgbClr val="FFFFFF"/>
                </a:solidFill>
                <a:latin typeface="Aptos Display" pitchFamily="34" charset="0"/>
                <a:ea typeface="Aptos Display" pitchFamily="34" charset="-122"/>
                <a:cs typeface="Aptos Display" pitchFamily="34" charset="-120"/>
              </a:rPr>
              <a:t>Multi-compartment P/Q arm measurements</a:t>
            </a:r>
            <a:endParaRPr lang="en-US" sz="3400" dirty="0"/>
          </a:p>
        </p:txBody>
      </p:sp>
      <p:sp>
        <p:nvSpPr>
          <p:cNvPr id="5" name="Text 3"/>
          <p:cNvSpPr/>
          <p:nvPr/>
        </p:nvSpPr>
        <p:spPr>
          <a:xfrm>
            <a:off x="594360" y="1700784"/>
            <a:ext cx="5394960" cy="914400"/>
          </a:xfrm>
          <a:prstGeom prst="rect">
            <a:avLst/>
          </a:prstGeom>
          <a:noFill/>
          <a:ln/>
        </p:spPr>
        <p:txBody>
          <a:bodyPr wrap="square" lIns="0" tIns="0" rIns="0" bIns="0" rtlCol="0" anchor="ctr">
            <a:normAutofit/>
          </a:bodyPr>
          <a:lstStyle/>
          <a:p>
            <a:pPr marL="0" indent="0">
              <a:buNone/>
            </a:pPr>
            <a:r>
              <a:rPr lang="en-US" sz="1850" dirty="0">
                <a:solidFill>
                  <a:srgbClr val="B9C6D8"/>
                </a:solidFill>
              </a:rPr>
              <a:t>How volumes, centroids, overlap, contact, radial position, and shape are calculated when P or Q is split into multiple disconnected compartments.</a:t>
            </a:r>
            <a:endParaRPr lang="en-US" sz="1850" dirty="0"/>
          </a:p>
        </p:txBody>
      </p:sp>
      <p:sp>
        <p:nvSpPr>
          <p:cNvPr id="6" name="Shape 4"/>
          <p:cNvSpPr/>
          <p:nvPr/>
        </p:nvSpPr>
        <p:spPr>
          <a:xfrm>
            <a:off x="6446520" y="502920"/>
            <a:ext cx="5074920" cy="5257800"/>
          </a:xfrm>
          <a:prstGeom prst="roundRect">
            <a:avLst>
              <a:gd name="adj" fmla="val 3243"/>
            </a:avLst>
          </a:prstGeom>
          <a:solidFill>
            <a:srgbClr val="000000"/>
          </a:solidFill>
          <a:ln w="12700">
            <a:solidFill>
              <a:srgbClr val="25354C"/>
            </a:solidFill>
            <a:prstDash val="solid"/>
          </a:ln>
        </p:spPr>
        <p:txBody>
          <a:bodyPr/>
          <a:lstStyle/>
          <a:p>
            <a:endParaRPr lang="en-US"/>
          </a:p>
        </p:txBody>
      </p:sp>
      <p:pic>
        <p:nvPicPr>
          <p:cNvPr id="7" name="Image 0" descr="/mnt/data/plugin_screenshot.png"/>
          <p:cNvPicPr>
            <a:picLocks noChangeAspect="1"/>
          </p:cNvPicPr>
          <p:nvPr/>
        </p:nvPicPr>
        <p:blipFill>
          <a:blip r:embed="rId3"/>
          <a:srcRect l="7000" t="5000" r="49644" b="15000"/>
          <a:stretch/>
        </p:blipFill>
        <p:spPr>
          <a:xfrm>
            <a:off x="6547104" y="603504"/>
            <a:ext cx="4873752" cy="5056632"/>
          </a:xfrm>
          <a:prstGeom prst="rect">
            <a:avLst/>
          </a:prstGeom>
        </p:spPr>
      </p:pic>
      <p:sp>
        <p:nvSpPr>
          <p:cNvPr id="8" name="Shape 5"/>
          <p:cNvSpPr/>
          <p:nvPr/>
        </p:nvSpPr>
        <p:spPr>
          <a:xfrm>
            <a:off x="658368" y="3977640"/>
            <a:ext cx="5257800" cy="1234440"/>
          </a:xfrm>
          <a:prstGeom prst="roundRect">
            <a:avLst>
              <a:gd name="adj" fmla="val 10370"/>
            </a:avLst>
          </a:prstGeom>
          <a:solidFill>
            <a:srgbClr val="111B2C"/>
          </a:solidFill>
          <a:ln w="9525">
            <a:solidFill>
              <a:srgbClr val="3C4B63">
                <a:alpha val="85000"/>
              </a:srgbClr>
            </a:solidFill>
            <a:prstDash val="solid"/>
          </a:ln>
        </p:spPr>
        <p:txBody>
          <a:bodyPr/>
          <a:lstStyle/>
          <a:p>
            <a:endParaRPr lang="en-US"/>
          </a:p>
        </p:txBody>
      </p:sp>
      <p:sp>
        <p:nvSpPr>
          <p:cNvPr id="9" name="Text 6"/>
          <p:cNvSpPr/>
          <p:nvPr/>
        </p:nvSpPr>
        <p:spPr>
          <a:xfrm>
            <a:off x="822960" y="4096512"/>
            <a:ext cx="4928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The rule used by the plugin</a:t>
            </a:r>
            <a:endParaRPr lang="en-US" sz="1300" dirty="0"/>
          </a:p>
        </p:txBody>
      </p:sp>
      <p:sp>
        <p:nvSpPr>
          <p:cNvPr id="10" name="Text 7"/>
          <p:cNvSpPr/>
          <p:nvPr/>
        </p:nvSpPr>
        <p:spPr>
          <a:xfrm>
            <a:off x="822960" y="4416552"/>
            <a:ext cx="4928616" cy="704088"/>
          </a:xfrm>
          <a:prstGeom prst="rect">
            <a:avLst/>
          </a:prstGeom>
          <a:noFill/>
          <a:ln/>
        </p:spPr>
        <p:txBody>
          <a:bodyPr wrap="square" lIns="254" tIns="254" rIns="254" bIns="254" rtlCol="0" anchor="ctr">
            <a:normAutofit fontScale="92500"/>
          </a:bodyPr>
          <a:lstStyle/>
          <a:p>
            <a:pPr marL="0" indent="0">
              <a:buNone/>
            </a:pPr>
            <a:r>
              <a:rPr sz="1500">
                <a:solidFill>
                  <a:srgbClr val="FFFFFF"/>
                </a:solidFill>
              </a:rPr>
              <a:t>Each arm is measured as the union of all retained compartments inside one nucleus. The number of retained compartments is now reported as p_fish_signal_count or q_fish_signal_count; per-component volumes are still not separated in the public table.</a:t>
            </a:r>
            <a:endParaRPr lang="en-US" sz="1500" dirty="0"/>
          </a:p>
        </p:txBody>
      </p:sp>
      <p:sp>
        <p:nvSpPr>
          <p:cNvPr id="11" name="Shape 8"/>
          <p:cNvSpPr/>
          <p:nvPr/>
        </p:nvSpPr>
        <p:spPr>
          <a:xfrm>
            <a:off x="731520" y="5440680"/>
            <a:ext cx="507492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40777" y="5550408"/>
            <a:ext cx="2256407" cy="530352"/>
          </a:xfrm>
          <a:prstGeom prst="rect">
            <a:avLst/>
          </a:prstGeom>
        </p:spPr>
      </p:pic>
      <p:sp>
        <p:nvSpPr>
          <p:cNvPr id="13" name="Text 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1</a:t>
            </a:r>
            <a:endParaRPr lang="en-US" sz="750" dirty="0"/>
          </a:p>
        </p:txBody>
      </p:sp>
      <p:sp>
        <p:nvSpPr>
          <p:cNvPr id="14" name="Text 1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1. Final arm mask = union of kept compartments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component-selection step may retain one object or multiple disconnected objects. The measurement table uses the retained union.</a:t>
            </a:r>
            <a:endParaRPr lang="en-US" sz="1250" dirty="0"/>
          </a:p>
        </p:txBody>
      </p:sp>
      <p:sp>
        <p:nvSpPr>
          <p:cNvPr id="6" name="Shape 4"/>
          <p:cNvSpPr/>
          <p:nvPr/>
        </p:nvSpPr>
        <p:spPr>
          <a:xfrm>
            <a:off x="713232" y="1444752"/>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38098" y="226771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512771" y="2130552"/>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2100377" y="3399282"/>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225089" y="3124962"/>
            <a:ext cx="674827" cy="61722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313078" y="3776472"/>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841248" y="5061204"/>
            <a:ext cx="118872" cy="118872"/>
          </a:xfrm>
          <a:prstGeom prst="ellipse">
            <a:avLst/>
          </a:prstGeom>
          <a:solidFill>
            <a:srgbClr val="FF3AB5"/>
          </a:solidFill>
          <a:ln w="12700">
            <a:solidFill>
              <a:srgbClr val="FF3AB5"/>
            </a:solidFill>
            <a:prstDash val="solid"/>
          </a:ln>
        </p:spPr>
        <p:txBody>
          <a:bodyPr/>
          <a:lstStyle/>
          <a:p>
            <a:endParaRPr lang="en-US"/>
          </a:p>
        </p:txBody>
      </p:sp>
      <p:sp>
        <p:nvSpPr>
          <p:cNvPr id="13" name="Text 11"/>
          <p:cNvSpPr/>
          <p:nvPr/>
        </p:nvSpPr>
        <p:spPr>
          <a:xfrm>
            <a:off x="1069848" y="5029200"/>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P compartments</a:t>
            </a:r>
            <a:endParaRPr lang="en-US" sz="1050" dirty="0"/>
          </a:p>
        </p:txBody>
      </p:sp>
      <p:sp>
        <p:nvSpPr>
          <p:cNvPr id="14" name="Shape 12"/>
          <p:cNvSpPr/>
          <p:nvPr/>
        </p:nvSpPr>
        <p:spPr>
          <a:xfrm>
            <a:off x="841248" y="5372100"/>
            <a:ext cx="118872" cy="118872"/>
          </a:xfrm>
          <a:prstGeom prst="ellipse">
            <a:avLst/>
          </a:prstGeom>
          <a:solidFill>
            <a:srgbClr val="42D9F5"/>
          </a:solidFill>
          <a:ln w="12700">
            <a:solidFill>
              <a:srgbClr val="42D9F5"/>
            </a:solidFill>
            <a:prstDash val="solid"/>
          </a:ln>
        </p:spPr>
        <p:txBody>
          <a:bodyPr/>
          <a:lstStyle/>
          <a:p>
            <a:endParaRPr lang="en-US"/>
          </a:p>
        </p:txBody>
      </p:sp>
      <p:sp>
        <p:nvSpPr>
          <p:cNvPr id="15" name="Text 13"/>
          <p:cNvSpPr/>
          <p:nvPr/>
        </p:nvSpPr>
        <p:spPr>
          <a:xfrm>
            <a:off x="1069848" y="5340096"/>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Q compartments</a:t>
            </a:r>
            <a:endParaRPr lang="en-US" sz="1050" dirty="0"/>
          </a:p>
        </p:txBody>
      </p:sp>
      <p:sp>
        <p:nvSpPr>
          <p:cNvPr id="16" name="Shape 14"/>
          <p:cNvSpPr/>
          <p:nvPr/>
        </p:nvSpPr>
        <p:spPr>
          <a:xfrm>
            <a:off x="841248" y="5682996"/>
            <a:ext cx="118872" cy="118872"/>
          </a:xfrm>
          <a:prstGeom prst="ellipse">
            <a:avLst/>
          </a:prstGeom>
          <a:solidFill>
            <a:srgbClr val="FFFFFF"/>
          </a:solidFill>
          <a:ln w="12700">
            <a:solidFill>
              <a:srgbClr val="FFFFFF"/>
            </a:solidFill>
            <a:prstDash val="solid"/>
          </a:ln>
        </p:spPr>
        <p:txBody>
          <a:bodyPr/>
          <a:lstStyle/>
          <a:p>
            <a:endParaRPr lang="en-US"/>
          </a:p>
        </p:txBody>
      </p:sp>
      <p:sp>
        <p:nvSpPr>
          <p:cNvPr id="17" name="Text 15"/>
          <p:cNvSpPr/>
          <p:nvPr/>
        </p:nvSpPr>
        <p:spPr>
          <a:xfrm>
            <a:off x="1069848" y="5650992"/>
            <a:ext cx="2148840" cy="201168"/>
          </a:xfrm>
          <a:prstGeom prst="rect">
            <a:avLst/>
          </a:prstGeom>
          <a:noFill/>
          <a:ln/>
        </p:spPr>
        <p:txBody>
          <a:bodyPr wrap="square" lIns="0" tIns="0" rIns="0" bIns="0" rtlCol="0" anchor="ctr">
            <a:normAutofit/>
          </a:bodyPr>
          <a:lstStyle/>
          <a:p>
            <a:pPr marL="0" indent="0">
              <a:buNone/>
            </a:pPr>
            <a:r>
              <a:rPr lang="en-US" sz="1050" dirty="0">
                <a:solidFill>
                  <a:srgbClr val="B9C6D8"/>
                </a:solidFill>
              </a:rPr>
              <a:t>Nucleus</a:t>
            </a:r>
            <a:endParaRPr lang="en-US" sz="1050" dirty="0"/>
          </a:p>
        </p:txBody>
      </p:sp>
      <p:sp>
        <p:nvSpPr>
          <p:cNvPr id="18" name="Shape 16"/>
          <p:cNvSpPr/>
          <p:nvPr/>
        </p:nvSpPr>
        <p:spPr>
          <a:xfrm>
            <a:off x="4800600" y="141732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709581"/>
            <a:ext cx="3026664" cy="256726"/>
          </a:xfrm>
          <a:prstGeom prst="rect">
            <a:avLst/>
          </a:prstGeom>
        </p:spPr>
      </p:pic>
      <p:sp>
        <p:nvSpPr>
          <p:cNvPr id="20" name="Shape 17"/>
          <p:cNvSpPr/>
          <p:nvPr/>
        </p:nvSpPr>
        <p:spPr>
          <a:xfrm>
            <a:off x="4800600" y="2423160"/>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719311"/>
            <a:ext cx="3026664" cy="248946"/>
          </a:xfrm>
          <a:prstGeom prst="rect">
            <a:avLst/>
          </a:prstGeom>
        </p:spPr>
      </p:pic>
      <p:sp>
        <p:nvSpPr>
          <p:cNvPr id="22" name="Shape 18"/>
          <p:cNvSpPr/>
          <p:nvPr/>
        </p:nvSpPr>
        <p:spPr>
          <a:xfrm>
            <a:off x="4800600" y="3657600"/>
            <a:ext cx="3246120" cy="1234440"/>
          </a:xfrm>
          <a:prstGeom prst="roundRect">
            <a:avLst>
              <a:gd name="adj" fmla="val 10370"/>
            </a:avLst>
          </a:prstGeom>
          <a:solidFill>
            <a:srgbClr val="F7F9FC"/>
          </a:solidFill>
          <a:ln w="9525">
            <a:solidFill>
              <a:srgbClr val="D6DEE9">
                <a:alpha val="85000"/>
              </a:srgbClr>
            </a:solidFill>
            <a:prstDash val="solid"/>
          </a:ln>
        </p:spPr>
        <p:txBody>
          <a:bodyPr/>
          <a:lstStyle/>
          <a:p>
            <a:endParaRPr lang="en-US"/>
          </a:p>
        </p:txBody>
      </p:sp>
      <p:sp>
        <p:nvSpPr>
          <p:cNvPr id="23" name="Text 19"/>
          <p:cNvSpPr/>
          <p:nvPr/>
        </p:nvSpPr>
        <p:spPr>
          <a:xfrm>
            <a:off x="4965192" y="3776472"/>
            <a:ext cx="29169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is counted?</a:t>
            </a:r>
            <a:endParaRPr lang="en-US" sz="1300" dirty="0"/>
          </a:p>
        </p:txBody>
      </p:sp>
      <p:sp>
        <p:nvSpPr>
          <p:cNvPr id="24" name="Text 20"/>
          <p:cNvSpPr/>
          <p:nvPr/>
        </p:nvSpPr>
        <p:spPr>
          <a:xfrm>
            <a:off x="4965192" y="4096512"/>
            <a:ext cx="2916936" cy="704088"/>
          </a:xfrm>
          <a:prstGeom prst="rect">
            <a:avLst/>
          </a:prstGeom>
          <a:noFill/>
          <a:ln/>
        </p:spPr>
        <p:txBody>
          <a:bodyPr wrap="square" lIns="254" tIns="254" rIns="254" bIns="254" rtlCol="0" anchor="ctr">
            <a:normAutofit fontScale="92500" lnSpcReduction="10000"/>
          </a:bodyPr>
          <a:lstStyle/>
          <a:p>
            <a:pPr marL="0" indent="0">
              <a:buNone/>
            </a:pPr>
            <a:r>
              <a:rPr sz="1250">
                <a:solidFill>
                  <a:srgbClr val="29364D"/>
                </a:solidFill>
              </a:rPr>
              <a:t>Every voxel in any retained P compartment contributes to P measurements. Every voxel in any retained Q compartment contributes to Q measurements. The signal-count columns count how many disconnected retained compartments exist.</a:t>
            </a:r>
            <a:endParaRPr lang="en-US" sz="1300" dirty="0"/>
          </a:p>
        </p:txBody>
      </p:sp>
      <p:sp>
        <p:nvSpPr>
          <p:cNvPr id="25" name="Shape 21"/>
          <p:cNvSpPr/>
          <p:nvPr/>
        </p:nvSpPr>
        <p:spPr>
          <a:xfrm>
            <a:off x="8366760" y="1417320"/>
            <a:ext cx="2971800" cy="3474720"/>
          </a:xfrm>
          <a:prstGeom prst="roundRect">
            <a:avLst>
              <a:gd name="adj" fmla="val 4308"/>
            </a:avLst>
          </a:prstGeom>
          <a:solidFill>
            <a:srgbClr val="EAF2FF"/>
          </a:solidFill>
          <a:ln w="9525">
            <a:solidFill>
              <a:srgbClr val="D6DEE9">
                <a:alpha val="85000"/>
              </a:srgbClr>
            </a:solidFill>
            <a:prstDash val="solid"/>
          </a:ln>
        </p:spPr>
        <p:txBody>
          <a:bodyPr/>
          <a:lstStyle/>
          <a:p>
            <a:endParaRPr lang="en-US"/>
          </a:p>
        </p:txBody>
      </p:sp>
      <p:sp>
        <p:nvSpPr>
          <p:cNvPr id="26" name="Text 22"/>
          <p:cNvSpPr/>
          <p:nvPr/>
        </p:nvSpPr>
        <p:spPr>
          <a:xfrm>
            <a:off x="8531352" y="1536192"/>
            <a:ext cx="26426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Important interpretation</a:t>
            </a:r>
            <a:endParaRPr lang="en-US" sz="1300" dirty="0"/>
          </a:p>
        </p:txBody>
      </p:sp>
      <p:sp>
        <p:nvSpPr>
          <p:cNvPr id="27" name="Text 23"/>
          <p:cNvSpPr/>
          <p:nvPr/>
        </p:nvSpPr>
        <p:spPr>
          <a:xfrm>
            <a:off x="8531352" y="1856232"/>
            <a:ext cx="2642616" cy="2944368"/>
          </a:xfrm>
          <a:prstGeom prst="rect">
            <a:avLst/>
          </a:prstGeom>
          <a:noFill/>
          <a:ln/>
        </p:spPr>
        <p:txBody>
          <a:bodyPr wrap="square" lIns="254" tIns="254" rIns="254" bIns="254" rtlCol="0" anchor="ctr">
            <a:normAutofit/>
          </a:bodyPr>
          <a:lstStyle/>
          <a:p>
            <a:pPr marL="0" indent="0">
              <a:buNone/>
            </a:pPr>
            <a:r>
              <a:rPr sz="1250">
                <a:solidFill>
                  <a:srgbClr val="29364D"/>
                </a:solidFill>
              </a:rPr>
              <a:t>A row in the per-nucleus CSV describes one nucleus. If P has 3 disconnected retained compartments, p_fish_signal_count = 3, while P volume, centroid, overlap, radial, and shape values summarize all 3 compartments together. The same applies to Q.</a:t>
            </a:r>
            <a:endParaRPr lang="en-US" sz="1400" dirty="0"/>
          </a:p>
        </p:txBody>
      </p:sp>
      <p:sp>
        <p:nvSpPr>
          <p:cNvPr id="28" name="Text 2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2</a:t>
            </a:r>
            <a:endParaRPr lang="en-US" sz="750" dirty="0"/>
          </a:p>
        </p:txBody>
      </p:sp>
      <p:sp>
        <p:nvSpPr>
          <p:cNvPr id="29" name="Text 2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2. Volume and fraction measurements are additive</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Disconnected compartments are summed by voxel count, then converted to physical units using voxel size.</a:t>
            </a:r>
            <a:endParaRPr lang="en-US" sz="1250" dirty="0"/>
          </a:p>
        </p:txBody>
      </p:sp>
      <p:sp>
        <p:nvSpPr>
          <p:cNvPr id="6" name="Shape 4"/>
          <p:cNvSpPr/>
          <p:nvPr/>
        </p:nvSpPr>
        <p:spPr>
          <a:xfrm>
            <a:off x="658368" y="1371600"/>
            <a:ext cx="3200400" cy="29718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66444" y="2025396"/>
            <a:ext cx="704088" cy="65379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290572" y="2411730"/>
            <a:ext cx="768096" cy="713232"/>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714500" y="3154680"/>
            <a:ext cx="640080" cy="59436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Text 8"/>
          <p:cNvSpPr/>
          <p:nvPr/>
        </p:nvSpPr>
        <p:spPr>
          <a:xfrm>
            <a:off x="896112" y="4526280"/>
            <a:ext cx="2743200" cy="320040"/>
          </a:xfrm>
          <a:prstGeom prst="rect">
            <a:avLst/>
          </a:prstGeom>
          <a:noFill/>
          <a:ln/>
        </p:spPr>
        <p:txBody>
          <a:bodyPr wrap="square" lIns="0" tIns="0" rIns="0" bIns="0" rtlCol="0" anchor="ctr">
            <a:normAutofit/>
          </a:bodyPr>
          <a:lstStyle/>
          <a:p>
            <a:pPr marL="0" indent="0" algn="ctr">
              <a:buNone/>
            </a:pPr>
            <a:r>
              <a:rPr lang="en-US" sz="1300" dirty="0">
                <a:solidFill>
                  <a:srgbClr val="B9C6D8"/>
                </a:solidFill>
              </a:rPr>
              <a:t>All P voxels across compartments</a:t>
            </a:r>
            <a:endParaRPr lang="en-US" sz="1300" dirty="0"/>
          </a:p>
        </p:txBody>
      </p:sp>
      <p:sp>
        <p:nvSpPr>
          <p:cNvPr id="11" name="Shape 9"/>
          <p:cNvSpPr/>
          <p:nvPr/>
        </p:nvSpPr>
        <p:spPr>
          <a:xfrm>
            <a:off x="4005072" y="2816352"/>
            <a:ext cx="612648" cy="0"/>
          </a:xfrm>
          <a:prstGeom prst="line">
            <a:avLst/>
          </a:prstGeom>
          <a:noFill/>
          <a:ln w="19050">
            <a:solidFill>
              <a:srgbClr val="42D9F5"/>
            </a:solidFill>
            <a:prstDash val="solid"/>
            <a:headEnd type="none"/>
            <a:tailEnd type="triangle"/>
          </a:ln>
        </p:spPr>
        <p:txBody>
          <a:bodyPr/>
          <a:lstStyle/>
          <a:p>
            <a:endParaRPr lang="en-US"/>
          </a:p>
        </p:txBody>
      </p:sp>
      <p:sp>
        <p:nvSpPr>
          <p:cNvPr id="12" name="Shape 10"/>
          <p:cNvSpPr/>
          <p:nvPr/>
        </p:nvSpPr>
        <p:spPr>
          <a:xfrm>
            <a:off x="4800600" y="13258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62436"/>
            <a:ext cx="2523744" cy="294983"/>
          </a:xfrm>
          <a:prstGeom prst="rect">
            <a:avLst/>
          </a:prstGeom>
        </p:spPr>
      </p:pic>
      <p:sp>
        <p:nvSpPr>
          <p:cNvPr id="14" name="Shape 11"/>
          <p:cNvSpPr/>
          <p:nvPr/>
        </p:nvSpPr>
        <p:spPr>
          <a:xfrm>
            <a:off x="4800600" y="22402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10328" y="2532888"/>
            <a:ext cx="2523744" cy="182880"/>
          </a:xfrm>
          <a:prstGeom prst="rect">
            <a:avLst/>
          </a:prstGeom>
        </p:spPr>
      </p:pic>
      <p:sp>
        <p:nvSpPr>
          <p:cNvPr id="16" name="Shape 12"/>
          <p:cNvSpPr/>
          <p:nvPr/>
        </p:nvSpPr>
        <p:spPr>
          <a:xfrm>
            <a:off x="4800600" y="3154680"/>
            <a:ext cx="274320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3871" y="3264408"/>
            <a:ext cx="2356658" cy="548640"/>
          </a:xfrm>
          <a:prstGeom prst="rect">
            <a:avLst/>
          </a:prstGeom>
        </p:spPr>
      </p:pic>
      <p:sp>
        <p:nvSpPr>
          <p:cNvPr id="18" name="Shape 13"/>
          <p:cNvSpPr/>
          <p:nvPr/>
        </p:nvSpPr>
        <p:spPr>
          <a:xfrm>
            <a:off x="8001000" y="1325880"/>
            <a:ext cx="3429000" cy="1828800"/>
          </a:xfrm>
          <a:prstGeom prst="roundRect">
            <a:avLst>
              <a:gd name="adj" fmla="val 7000"/>
            </a:avLst>
          </a:prstGeom>
          <a:solidFill>
            <a:srgbClr val="F7F9FC"/>
          </a:solidFill>
          <a:ln w="9525">
            <a:solidFill>
              <a:srgbClr val="D6DEE9">
                <a:alpha val="85000"/>
              </a:srgbClr>
            </a:solidFill>
            <a:prstDash val="solid"/>
          </a:ln>
        </p:spPr>
        <p:txBody>
          <a:bodyPr/>
          <a:lstStyle/>
          <a:p>
            <a:endParaRPr lang="en-US"/>
          </a:p>
        </p:txBody>
      </p:sp>
      <p:sp>
        <p:nvSpPr>
          <p:cNvPr id="19" name="Text 14"/>
          <p:cNvSpPr/>
          <p:nvPr/>
        </p:nvSpPr>
        <p:spPr>
          <a:xfrm>
            <a:off x="8165592" y="144475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If one arm is split...</a:t>
            </a:r>
            <a:endParaRPr lang="en-US" sz="1300" dirty="0"/>
          </a:p>
        </p:txBody>
      </p:sp>
      <p:sp>
        <p:nvSpPr>
          <p:cNvPr id="20" name="Text 15"/>
          <p:cNvSpPr/>
          <p:nvPr/>
        </p:nvSpPr>
        <p:spPr>
          <a:xfrm>
            <a:off x="8165592" y="1764792"/>
            <a:ext cx="3099816" cy="1298448"/>
          </a:xfrm>
          <a:prstGeom prst="rect">
            <a:avLst/>
          </a:prstGeom>
          <a:noFill/>
          <a:ln/>
        </p:spPr>
        <p:txBody>
          <a:bodyPr wrap="square" lIns="254" tIns="254" rIns="254" bIns="254" rtlCol="0" anchor="ctr">
            <a:normAutofit/>
          </a:bodyPr>
          <a:lstStyle/>
          <a:p>
            <a:pPr marL="0" indent="0">
              <a:buNone/>
            </a:pPr>
            <a:r>
              <a:rPr lang="en-US" sz="1400" dirty="0">
                <a:solidFill>
                  <a:srgbClr val="29364D"/>
                </a:solidFill>
              </a:rPr>
              <a:t>Volume is the total volume of the retained union. A small disconnected compartment adds to the arm volume just like a connected part would.</a:t>
            </a:r>
            <a:endParaRPr lang="en-US" sz="1400" dirty="0"/>
          </a:p>
        </p:txBody>
      </p:sp>
      <p:sp>
        <p:nvSpPr>
          <p:cNvPr id="21" name="Shape 16"/>
          <p:cNvSpPr/>
          <p:nvPr/>
        </p:nvSpPr>
        <p:spPr>
          <a:xfrm>
            <a:off x="8001000" y="3429000"/>
            <a:ext cx="3429000" cy="1143000"/>
          </a:xfrm>
          <a:prstGeom prst="roundRect">
            <a:avLst>
              <a:gd name="adj" fmla="val 11200"/>
            </a:avLst>
          </a:prstGeom>
          <a:solidFill>
            <a:srgbClr val="F7F9FC"/>
          </a:solidFill>
          <a:ln w="9525">
            <a:solidFill>
              <a:srgbClr val="D6DEE9">
                <a:alpha val="85000"/>
              </a:srgbClr>
            </a:solidFill>
            <a:prstDash val="solid"/>
          </a:ln>
        </p:spPr>
        <p:txBody>
          <a:bodyPr/>
          <a:lstStyle/>
          <a:p>
            <a:endParaRPr lang="en-US"/>
          </a:p>
        </p:txBody>
      </p:sp>
      <p:sp>
        <p:nvSpPr>
          <p:cNvPr id="22" name="Text 17"/>
          <p:cNvSpPr/>
          <p:nvPr/>
        </p:nvSpPr>
        <p:spPr>
          <a:xfrm>
            <a:off x="8165592" y="3547872"/>
            <a:ext cx="309981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Population plots</a:t>
            </a:r>
            <a:endParaRPr lang="en-US" sz="1300" dirty="0"/>
          </a:p>
        </p:txBody>
      </p:sp>
      <p:sp>
        <p:nvSpPr>
          <p:cNvPr id="23" name="Text 18"/>
          <p:cNvSpPr/>
          <p:nvPr/>
        </p:nvSpPr>
        <p:spPr>
          <a:xfrm>
            <a:off x="8165592" y="3867912"/>
            <a:ext cx="3099816" cy="612648"/>
          </a:xfrm>
          <a:prstGeom prst="rect">
            <a:avLst/>
          </a:prstGeom>
          <a:noFill/>
          <a:ln/>
        </p:spPr>
        <p:txBody>
          <a:bodyPr wrap="square" lIns="254" tIns="254" rIns="254" bIns="254" rtlCol="0" anchor="ctr">
            <a:normAutofit/>
          </a:bodyPr>
          <a:lstStyle/>
          <a:p>
            <a:pPr marL="0" indent="0">
              <a:buNone/>
            </a:pPr>
            <a:r>
              <a:rPr lang="en-US" sz="1300" dirty="0">
                <a:solidFill>
                  <a:srgbClr val="29364D"/>
                </a:solidFill>
              </a:rPr>
              <a:t>Boxplots and histograms use these per-nucleus totals. They do not separate compartments within one nucleus.</a:t>
            </a:r>
            <a:endParaRPr lang="en-US" sz="1300" dirty="0"/>
          </a:p>
        </p:txBody>
      </p:sp>
      <p:sp>
        <p:nvSpPr>
          <p:cNvPr id="24" name="Text 19"/>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3</a:t>
            </a:r>
            <a:endParaRPr lang="en-US" sz="750" dirty="0"/>
          </a:p>
        </p:txBody>
      </p:sp>
      <p:sp>
        <p:nvSpPr>
          <p:cNvPr id="25" name="Text 20"/>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3. Centroids are volume-weighted centers of the union</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centroid summarizes the spatial center of all retained voxels, not the center of one compartment.</a:t>
            </a:r>
            <a:endParaRPr lang="en-US" sz="1250" dirty="0"/>
          </a:p>
        </p:txBody>
      </p:sp>
      <p:sp>
        <p:nvSpPr>
          <p:cNvPr id="6" name="Shape 4"/>
          <p:cNvSpPr/>
          <p:nvPr/>
        </p:nvSpPr>
        <p:spPr>
          <a:xfrm>
            <a:off x="713232" y="1371600"/>
            <a:ext cx="3886200" cy="352044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218438" y="2075688"/>
            <a:ext cx="932688" cy="844906"/>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617470" y="2814980"/>
            <a:ext cx="1321308" cy="119695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3122676" y="2005279"/>
            <a:ext cx="777240" cy="704088"/>
          </a:xfrm>
          <a:prstGeom prst="ellipse">
            <a:avLst/>
          </a:prstGeom>
          <a:solidFill>
            <a:srgbClr val="42D9F5"/>
          </a:solidFill>
          <a:ln w="7620">
            <a:solidFill>
              <a:srgbClr val="FFFFFF">
                <a:alpha val="55000"/>
              </a:srgbClr>
            </a:solidFill>
            <a:prstDash val="solid"/>
          </a:ln>
        </p:spPr>
        <p:txBody>
          <a:bodyPr/>
          <a:lstStyle/>
          <a:p>
            <a:endParaRPr lang="en-US"/>
          </a:p>
        </p:txBody>
      </p:sp>
      <p:sp>
        <p:nvSpPr>
          <p:cNvPr id="10" name="Shape 8"/>
          <p:cNvSpPr/>
          <p:nvPr/>
        </p:nvSpPr>
        <p:spPr>
          <a:xfrm>
            <a:off x="1645920" y="3448660"/>
            <a:ext cx="854964" cy="774497"/>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2304288" y="2907792"/>
            <a:ext cx="128016" cy="128016"/>
          </a:xfrm>
          <a:prstGeom prst="ellipse">
            <a:avLst/>
          </a:prstGeom>
          <a:solidFill>
            <a:srgbClr val="F5D84B"/>
          </a:solidFill>
          <a:ln w="12700">
            <a:solidFill>
              <a:srgbClr val="F5D84B"/>
            </a:solidFill>
            <a:prstDash val="solid"/>
          </a:ln>
        </p:spPr>
        <p:txBody>
          <a:bodyPr/>
          <a:lstStyle/>
          <a:p>
            <a:endParaRPr lang="en-US"/>
          </a:p>
        </p:txBody>
      </p:sp>
      <p:sp>
        <p:nvSpPr>
          <p:cNvPr id="12" name="Text 10"/>
          <p:cNvSpPr/>
          <p:nvPr/>
        </p:nvSpPr>
        <p:spPr>
          <a:xfrm>
            <a:off x="1133856" y="4956048"/>
            <a:ext cx="1097280" cy="182880"/>
          </a:xfrm>
          <a:prstGeom prst="rect">
            <a:avLst/>
          </a:prstGeom>
          <a:noFill/>
          <a:ln/>
        </p:spPr>
        <p:txBody>
          <a:bodyPr wrap="square" lIns="0" tIns="0" rIns="0" bIns="0" rtlCol="0" anchor="ctr"/>
          <a:lstStyle/>
          <a:p>
            <a:pPr marL="0" indent="0" algn="ctr">
              <a:buNone/>
            </a:pPr>
            <a:r>
              <a:rPr lang="en-US" sz="1050" dirty="0">
                <a:solidFill>
                  <a:srgbClr val="F5D84B"/>
                </a:solidFill>
              </a:rPr>
              <a:t>P centroid</a:t>
            </a:r>
            <a:endParaRPr lang="en-US" sz="1050" dirty="0"/>
          </a:p>
        </p:txBody>
      </p:sp>
      <p:sp>
        <p:nvSpPr>
          <p:cNvPr id="13" name="Shape 11"/>
          <p:cNvSpPr/>
          <p:nvPr/>
        </p:nvSpPr>
        <p:spPr>
          <a:xfrm>
            <a:off x="2761488" y="2606040"/>
            <a:ext cx="128016" cy="128016"/>
          </a:xfrm>
          <a:prstGeom prst="ellipse">
            <a:avLst/>
          </a:prstGeom>
          <a:solidFill>
            <a:srgbClr val="81F495"/>
          </a:solidFill>
          <a:ln w="12700">
            <a:solidFill>
              <a:srgbClr val="81F495"/>
            </a:solidFill>
            <a:prstDash val="solid"/>
          </a:ln>
        </p:spPr>
        <p:txBody>
          <a:bodyPr/>
          <a:lstStyle/>
          <a:p>
            <a:endParaRPr lang="en-US"/>
          </a:p>
        </p:txBody>
      </p:sp>
      <p:sp>
        <p:nvSpPr>
          <p:cNvPr id="14" name="Text 12"/>
          <p:cNvSpPr/>
          <p:nvPr/>
        </p:nvSpPr>
        <p:spPr>
          <a:xfrm>
            <a:off x="2468880" y="4956048"/>
            <a:ext cx="1097280" cy="182880"/>
          </a:xfrm>
          <a:prstGeom prst="rect">
            <a:avLst/>
          </a:prstGeom>
          <a:noFill/>
          <a:ln/>
        </p:spPr>
        <p:txBody>
          <a:bodyPr wrap="square" lIns="0" tIns="0" rIns="0" bIns="0" rtlCol="0" anchor="ctr"/>
          <a:lstStyle/>
          <a:p>
            <a:pPr marL="0" indent="0" algn="ctr">
              <a:buNone/>
            </a:pPr>
            <a:r>
              <a:rPr lang="en-US" sz="1050" dirty="0">
                <a:solidFill>
                  <a:srgbClr val="81F495"/>
                </a:solidFill>
              </a:rPr>
              <a:t>Q centroid</a:t>
            </a:r>
            <a:endParaRPr lang="en-US" sz="1050" dirty="0"/>
          </a:p>
        </p:txBody>
      </p:sp>
      <p:sp>
        <p:nvSpPr>
          <p:cNvPr id="15" name="Shape 13"/>
          <p:cNvSpPr/>
          <p:nvPr/>
        </p:nvSpPr>
        <p:spPr>
          <a:xfrm>
            <a:off x="2386584" y="2971800"/>
            <a:ext cx="429768" cy="0"/>
          </a:xfrm>
          <a:prstGeom prst="line">
            <a:avLst/>
          </a:prstGeom>
          <a:noFill/>
          <a:ln w="19050">
            <a:solidFill>
              <a:srgbClr val="FFFFFF"/>
            </a:solidFill>
            <a:prstDash val="solid"/>
            <a:headEnd type="none"/>
            <a:tailEnd type="triangle"/>
          </a:ln>
        </p:spPr>
        <p:txBody>
          <a:bodyPr/>
          <a:lstStyle/>
          <a:p>
            <a:endParaRPr lang="en-US"/>
          </a:p>
        </p:txBody>
      </p:sp>
      <p:sp>
        <p:nvSpPr>
          <p:cNvPr id="16" name="Shape 14"/>
          <p:cNvSpPr/>
          <p:nvPr/>
        </p:nvSpPr>
        <p:spPr>
          <a:xfrm>
            <a:off x="4983480" y="141732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3936" y="1527048"/>
            <a:ext cx="1633728" cy="621792"/>
          </a:xfrm>
          <a:prstGeom prst="rect">
            <a:avLst/>
          </a:prstGeom>
        </p:spPr>
      </p:pic>
      <p:sp>
        <p:nvSpPr>
          <p:cNvPr id="18" name="Shape 15"/>
          <p:cNvSpPr/>
          <p:nvPr/>
        </p:nvSpPr>
        <p:spPr>
          <a:xfrm>
            <a:off x="4983480" y="2423160"/>
            <a:ext cx="283464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58003" y="2532888"/>
            <a:ext cx="2085594" cy="621792"/>
          </a:xfrm>
          <a:prstGeom prst="rect">
            <a:avLst/>
          </a:prstGeom>
        </p:spPr>
      </p:pic>
      <p:sp>
        <p:nvSpPr>
          <p:cNvPr id="20" name="Shape 16"/>
          <p:cNvSpPr/>
          <p:nvPr/>
        </p:nvSpPr>
        <p:spPr>
          <a:xfrm>
            <a:off x="4983480" y="3429000"/>
            <a:ext cx="283464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3208" y="3660213"/>
            <a:ext cx="2615184" cy="287383"/>
          </a:xfrm>
          <a:prstGeom prst="rect">
            <a:avLst/>
          </a:prstGeom>
        </p:spPr>
      </p:pic>
      <p:sp>
        <p:nvSpPr>
          <p:cNvPr id="22" name="Shape 17"/>
          <p:cNvSpPr/>
          <p:nvPr/>
        </p:nvSpPr>
        <p:spPr>
          <a:xfrm>
            <a:off x="8229600" y="1417320"/>
            <a:ext cx="3154680" cy="2743200"/>
          </a:xfrm>
          <a:prstGeom prst="roundRect">
            <a:avLst>
              <a:gd name="adj" fmla="val 4667"/>
            </a:avLst>
          </a:prstGeom>
          <a:solidFill>
            <a:srgbClr val="FFF6D8"/>
          </a:solidFill>
          <a:ln w="9525">
            <a:solidFill>
              <a:srgbClr val="D6DEE9">
                <a:alpha val="85000"/>
              </a:srgbClr>
            </a:solidFill>
            <a:prstDash val="solid"/>
          </a:ln>
        </p:spPr>
        <p:txBody>
          <a:bodyPr/>
          <a:lstStyle/>
          <a:p>
            <a:endParaRPr lang="en-US"/>
          </a:p>
        </p:txBody>
      </p:sp>
      <p:sp>
        <p:nvSpPr>
          <p:cNvPr id="23" name="Text 18"/>
          <p:cNvSpPr/>
          <p:nvPr/>
        </p:nvSpPr>
        <p:spPr>
          <a:xfrm>
            <a:off x="8394192" y="1536192"/>
            <a:ext cx="28254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Key caveat</a:t>
            </a:r>
            <a:endParaRPr lang="en-US" sz="1300" dirty="0"/>
          </a:p>
        </p:txBody>
      </p:sp>
      <p:sp>
        <p:nvSpPr>
          <p:cNvPr id="24" name="Text 19"/>
          <p:cNvSpPr/>
          <p:nvPr/>
        </p:nvSpPr>
        <p:spPr>
          <a:xfrm>
            <a:off x="8394192" y="1856232"/>
            <a:ext cx="2825496" cy="2212848"/>
          </a:xfrm>
          <a:prstGeom prst="rect">
            <a:avLst/>
          </a:prstGeom>
          <a:noFill/>
          <a:ln/>
        </p:spPr>
        <p:txBody>
          <a:bodyPr wrap="square" lIns="254" tIns="254" rIns="254" bIns="254" rtlCol="0" anchor="ctr">
            <a:normAutofit/>
          </a:bodyPr>
          <a:lstStyle/>
          <a:p>
            <a:pPr marL="0" indent="0">
              <a:buNone/>
            </a:pPr>
            <a:r>
              <a:rPr lang="en-US" sz="1400" dirty="0">
                <a:solidFill>
                  <a:srgbClr val="3E3212"/>
                </a:solidFill>
              </a:rPr>
              <a:t>When an arm has separated compartments, the centroid may lie between them, even if no signal exists at that point. It is a summary of the overall territory center.</a:t>
            </a:r>
            <a:endParaRPr lang="en-US" sz="1400" dirty="0"/>
          </a:p>
        </p:txBody>
      </p:sp>
      <p:sp>
        <p:nvSpPr>
          <p:cNvPr id="25" name="Text 20"/>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4</a:t>
            </a:r>
            <a:endParaRPr lang="en-US" sz="750" dirty="0"/>
          </a:p>
        </p:txBody>
      </p:sp>
      <p:sp>
        <p:nvSpPr>
          <p:cNvPr id="26" name="Text 21"/>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4. Overlap, contact, and edge distance use all pairwise opportunities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Any retained P compartment can overlap, touch, or approach any retained Q compartment.</a:t>
            </a:r>
            <a:endParaRPr lang="en-US" sz="1250" dirty="0"/>
          </a:p>
        </p:txBody>
      </p:sp>
      <p:sp>
        <p:nvSpPr>
          <p:cNvPr id="6" name="Shape 4"/>
          <p:cNvSpPr/>
          <p:nvPr/>
        </p:nvSpPr>
        <p:spPr>
          <a:xfrm>
            <a:off x="658368" y="1325880"/>
            <a:ext cx="3749040" cy="342900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333195" y="2114550"/>
            <a:ext cx="749808" cy="685800"/>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345436" y="2423160"/>
            <a:ext cx="824789" cy="754380"/>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1895551" y="3417570"/>
            <a:ext cx="674827" cy="617220"/>
          </a:xfrm>
          <a:prstGeom prst="ellipse">
            <a:avLst/>
          </a:prstGeom>
          <a:solidFill>
            <a:srgbClr val="FF3AB5"/>
          </a:solidFill>
          <a:ln w="7620">
            <a:solidFill>
              <a:srgbClr val="FFFFFF">
                <a:alpha val="55000"/>
              </a:srgbClr>
            </a:solidFill>
            <a:prstDash val="solid"/>
          </a:ln>
        </p:spPr>
        <p:txBody>
          <a:bodyPr/>
          <a:lstStyle/>
          <a:p>
            <a:endParaRPr lang="en-US"/>
          </a:p>
        </p:txBody>
      </p:sp>
      <p:sp>
        <p:nvSpPr>
          <p:cNvPr id="10" name="Shape 8"/>
          <p:cNvSpPr/>
          <p:nvPr/>
        </p:nvSpPr>
        <p:spPr>
          <a:xfrm>
            <a:off x="3507638" y="25946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1" name="Shape 9"/>
          <p:cNvSpPr/>
          <p:nvPr/>
        </p:nvSpPr>
        <p:spPr>
          <a:xfrm>
            <a:off x="1183234" y="352044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2" name="Shape 10"/>
          <p:cNvSpPr/>
          <p:nvPr/>
        </p:nvSpPr>
        <p:spPr>
          <a:xfrm>
            <a:off x="3207715" y="3623310"/>
            <a:ext cx="599846" cy="548640"/>
          </a:xfrm>
          <a:prstGeom prst="ellipse">
            <a:avLst/>
          </a:prstGeom>
          <a:solidFill>
            <a:srgbClr val="42D9F5"/>
          </a:solidFill>
          <a:ln w="7620">
            <a:solidFill>
              <a:srgbClr val="FFFFFF">
                <a:alpha val="55000"/>
              </a:srgbClr>
            </a:solidFill>
            <a:prstDash val="solid"/>
          </a:ln>
        </p:spPr>
        <p:txBody>
          <a:bodyPr/>
          <a:lstStyle/>
          <a:p>
            <a:endParaRPr lang="en-US"/>
          </a:p>
        </p:txBody>
      </p:sp>
      <p:sp>
        <p:nvSpPr>
          <p:cNvPr id="13" name="Shape 11"/>
          <p:cNvSpPr/>
          <p:nvPr/>
        </p:nvSpPr>
        <p:spPr>
          <a:xfrm>
            <a:off x="2816352" y="1755648"/>
            <a:ext cx="201168" cy="201168"/>
          </a:xfrm>
          <a:prstGeom prst="ellipse">
            <a:avLst/>
          </a:prstGeom>
          <a:solidFill>
            <a:srgbClr val="F5D84B"/>
          </a:solidFill>
          <a:ln w="12700">
            <a:solidFill>
              <a:srgbClr val="F5D84B"/>
            </a:solidFill>
            <a:prstDash val="solid"/>
          </a:ln>
        </p:spPr>
        <p:txBody>
          <a:bodyPr/>
          <a:lstStyle/>
          <a:p>
            <a:endParaRPr lang="en-US"/>
          </a:p>
        </p:txBody>
      </p:sp>
      <p:sp>
        <p:nvSpPr>
          <p:cNvPr id="14" name="Text 12"/>
          <p:cNvSpPr/>
          <p:nvPr/>
        </p:nvSpPr>
        <p:spPr>
          <a:xfrm>
            <a:off x="2331720" y="1481328"/>
            <a:ext cx="1234440" cy="201168"/>
          </a:xfrm>
          <a:prstGeom prst="rect">
            <a:avLst/>
          </a:prstGeom>
          <a:noFill/>
          <a:ln/>
        </p:spPr>
        <p:txBody>
          <a:bodyPr wrap="square" lIns="0" tIns="0" rIns="0" bIns="0" rtlCol="0" anchor="ctr"/>
          <a:lstStyle/>
          <a:p>
            <a:pPr marL="0" indent="0" algn="ctr">
              <a:buNone/>
            </a:pPr>
            <a:r>
              <a:rPr lang="en-US" sz="920" dirty="0">
                <a:solidFill>
                  <a:srgbClr val="F5D84B"/>
                </a:solidFill>
              </a:rPr>
              <a:t>possible local pair</a:t>
            </a:r>
            <a:endParaRPr lang="en-US" sz="920" dirty="0"/>
          </a:p>
        </p:txBody>
      </p:sp>
      <p:sp>
        <p:nvSpPr>
          <p:cNvPr id="15" name="Shape 13"/>
          <p:cNvSpPr/>
          <p:nvPr/>
        </p:nvSpPr>
        <p:spPr>
          <a:xfrm>
            <a:off x="4754880" y="1207008"/>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64608" y="1525063"/>
            <a:ext cx="3118104" cy="205138"/>
          </a:xfrm>
          <a:prstGeom prst="rect">
            <a:avLst/>
          </a:prstGeom>
        </p:spPr>
      </p:pic>
      <p:sp>
        <p:nvSpPr>
          <p:cNvPr id="17" name="Shape 14"/>
          <p:cNvSpPr/>
          <p:nvPr/>
        </p:nvSpPr>
        <p:spPr>
          <a:xfrm>
            <a:off x="4754880" y="2212848"/>
            <a:ext cx="3337560" cy="713232"/>
          </a:xfrm>
          <a:prstGeom prst="roundRect">
            <a:avLst>
              <a:gd name="adj" fmla="val 15385"/>
            </a:avLst>
          </a:prstGeom>
          <a:solidFill>
            <a:srgbClr val="F7F9FC"/>
          </a:solidFill>
          <a:ln w="8890">
            <a:solidFill>
              <a:srgbClr val="DAE2EC">
                <a:alpha val="95000"/>
              </a:srgbClr>
            </a:solidFill>
            <a:prstDash val="solid"/>
          </a:ln>
        </p:spPr>
        <p:txBody>
          <a:bodyPr/>
          <a:lstStyle/>
          <a:p>
            <a:endParaRPr lang="en-US"/>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0278" y="2322576"/>
            <a:ext cx="1246765" cy="512064"/>
          </a:xfrm>
          <a:prstGeom prst="rect">
            <a:avLst/>
          </a:prstGeom>
        </p:spPr>
      </p:pic>
      <p:sp>
        <p:nvSpPr>
          <p:cNvPr id="19" name="Shape 15"/>
          <p:cNvSpPr/>
          <p:nvPr/>
        </p:nvSpPr>
        <p:spPr>
          <a:xfrm>
            <a:off x="4754880" y="3072384"/>
            <a:ext cx="3337560" cy="749808"/>
          </a:xfrm>
          <a:prstGeom prst="roundRect">
            <a:avLst>
              <a:gd name="adj" fmla="val 14634"/>
            </a:avLst>
          </a:prstGeom>
          <a:solidFill>
            <a:srgbClr val="F7F9FC"/>
          </a:solidFill>
          <a:ln w="8890">
            <a:solidFill>
              <a:srgbClr val="DAE2EC">
                <a:alpha val="95000"/>
              </a:srgbClr>
            </a:solidFill>
            <a:prstDash val="solid"/>
          </a:ln>
        </p:spPr>
        <p:txBody>
          <a:bodyPr/>
          <a:lstStyle/>
          <a:p>
            <a:endParaRPr lang="en-US"/>
          </a:p>
        </p:txBody>
      </p:sp>
      <p:pic>
        <p:nvPicPr>
          <p:cNvPr id="2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64608" y="3313331"/>
            <a:ext cx="3118104" cy="286203"/>
          </a:xfrm>
          <a:prstGeom prst="rect">
            <a:avLst/>
          </a:prstGeom>
        </p:spPr>
      </p:pic>
      <p:sp>
        <p:nvSpPr>
          <p:cNvPr id="21" name="Shape 16"/>
          <p:cNvSpPr/>
          <p:nvPr/>
        </p:nvSpPr>
        <p:spPr>
          <a:xfrm>
            <a:off x="4754880" y="3977640"/>
            <a:ext cx="33375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64608" y="4176532"/>
            <a:ext cx="3118104" cy="443464"/>
          </a:xfrm>
          <a:prstGeom prst="rect">
            <a:avLst/>
          </a:prstGeom>
        </p:spPr>
      </p:pic>
      <p:sp>
        <p:nvSpPr>
          <p:cNvPr id="23" name="Shape 17"/>
          <p:cNvSpPr/>
          <p:nvPr/>
        </p:nvSpPr>
        <p:spPr>
          <a:xfrm>
            <a:off x="8321040" y="1298448"/>
            <a:ext cx="2926080" cy="1874520"/>
          </a:xfrm>
          <a:prstGeom prst="roundRect">
            <a:avLst>
              <a:gd name="adj" fmla="val 6829"/>
            </a:avLst>
          </a:prstGeom>
          <a:solidFill>
            <a:srgbClr val="F7F9FC"/>
          </a:solidFill>
          <a:ln w="9525">
            <a:solidFill>
              <a:srgbClr val="D6DEE9">
                <a:alpha val="85000"/>
              </a:srgbClr>
            </a:solidFill>
            <a:prstDash val="solid"/>
          </a:ln>
        </p:spPr>
        <p:txBody>
          <a:bodyPr/>
          <a:lstStyle/>
          <a:p>
            <a:endParaRPr lang="en-US"/>
          </a:p>
        </p:txBody>
      </p:sp>
      <p:sp>
        <p:nvSpPr>
          <p:cNvPr id="24" name="Text 18"/>
          <p:cNvSpPr/>
          <p:nvPr/>
        </p:nvSpPr>
        <p:spPr>
          <a:xfrm>
            <a:off x="8485632" y="141732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Contact</a:t>
            </a:r>
            <a:endParaRPr lang="en-US" sz="1300" dirty="0"/>
          </a:p>
        </p:txBody>
      </p:sp>
      <p:sp>
        <p:nvSpPr>
          <p:cNvPr id="25" name="Text 19"/>
          <p:cNvSpPr/>
          <p:nvPr/>
        </p:nvSpPr>
        <p:spPr>
          <a:xfrm>
            <a:off x="8485632" y="1737360"/>
            <a:ext cx="2596896" cy="13441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nucleus is contact-positive if any retained P compartment touches, overlaps, or lies within the selected dilation radius of any retained Q compartment.</a:t>
            </a:r>
            <a:endParaRPr lang="en-US" sz="1320" dirty="0"/>
          </a:p>
        </p:txBody>
      </p:sp>
      <p:sp>
        <p:nvSpPr>
          <p:cNvPr id="26" name="Shape 20"/>
          <p:cNvSpPr/>
          <p:nvPr/>
        </p:nvSpPr>
        <p:spPr>
          <a:xfrm>
            <a:off x="8321040" y="3401568"/>
            <a:ext cx="2926080" cy="1417320"/>
          </a:xfrm>
          <a:prstGeom prst="roundRect">
            <a:avLst>
              <a:gd name="adj" fmla="val 9032"/>
            </a:avLst>
          </a:prstGeom>
          <a:solidFill>
            <a:srgbClr val="F7F9FC"/>
          </a:solidFill>
          <a:ln w="9525">
            <a:solidFill>
              <a:srgbClr val="D6DEE9">
                <a:alpha val="85000"/>
              </a:srgbClr>
            </a:solidFill>
            <a:prstDash val="solid"/>
          </a:ln>
        </p:spPr>
        <p:txBody>
          <a:bodyPr/>
          <a:lstStyle/>
          <a:p>
            <a:endParaRPr lang="en-US"/>
          </a:p>
        </p:txBody>
      </p:sp>
      <p:sp>
        <p:nvSpPr>
          <p:cNvPr id="27" name="Text 21"/>
          <p:cNvSpPr/>
          <p:nvPr/>
        </p:nvSpPr>
        <p:spPr>
          <a:xfrm>
            <a:off x="8485632" y="3520440"/>
            <a:ext cx="259689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Minimum distance</a:t>
            </a:r>
            <a:endParaRPr lang="en-US" sz="1300" dirty="0"/>
          </a:p>
        </p:txBody>
      </p:sp>
      <p:sp>
        <p:nvSpPr>
          <p:cNvPr id="28" name="Text 22"/>
          <p:cNvSpPr/>
          <p:nvPr/>
        </p:nvSpPr>
        <p:spPr>
          <a:xfrm>
            <a:off x="8485632" y="3840480"/>
            <a:ext cx="2596896" cy="88696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The reported distance is the closest P-Q boundary pair across the whole union. One nearby small piece can make the distance small.</a:t>
            </a:r>
            <a:endParaRPr lang="en-US" sz="1320" dirty="0"/>
          </a:p>
        </p:txBody>
      </p:sp>
      <p:sp>
        <p:nvSpPr>
          <p:cNvPr id="29"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5</a:t>
            </a:r>
            <a:endParaRPr lang="en-US" sz="750" dirty="0"/>
          </a:p>
        </p:txBody>
      </p:sp>
      <p:sp>
        <p:nvSpPr>
          <p:cNvPr id="30"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5. Radial position is evaluated voxel-by-voxel inside the nucleus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The 3D distance transform converts every nuclear voxel into a center-to-edge radial coordinate.</a:t>
            </a:r>
            <a:endParaRPr lang="en-US" sz="1250" dirty="0"/>
          </a:p>
        </p:txBody>
      </p:sp>
      <p:sp>
        <p:nvSpPr>
          <p:cNvPr id="6" name="Shape 4"/>
          <p:cNvSpPr/>
          <p:nvPr/>
        </p:nvSpPr>
        <p:spPr>
          <a:xfrm>
            <a:off x="731520" y="1353312"/>
            <a:ext cx="3794760" cy="3520440"/>
          </a:xfrm>
          <a:prstGeom prst="ellipse">
            <a:avLst/>
          </a:prstGeom>
          <a:solidFill>
            <a:srgbClr val="FFFFFF">
              <a:alpha val="3000"/>
            </a:srgbClr>
          </a:solidFill>
          <a:ln w="15240">
            <a:solidFill>
              <a:srgbClr val="FFFFFF">
                <a:alpha val="80000"/>
              </a:srgbClr>
            </a:solidFill>
            <a:prstDash val="solid"/>
          </a:ln>
        </p:spPr>
        <p:txBody>
          <a:bodyPr/>
          <a:lstStyle/>
          <a:p>
            <a:endParaRPr lang="en-US"/>
          </a:p>
        </p:txBody>
      </p:sp>
      <p:sp>
        <p:nvSpPr>
          <p:cNvPr id="7" name="Shape 5"/>
          <p:cNvSpPr/>
          <p:nvPr/>
        </p:nvSpPr>
        <p:spPr>
          <a:xfrm>
            <a:off x="1042416" y="1608247"/>
            <a:ext cx="3172968" cy="301057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8" name="Shape 6"/>
          <p:cNvSpPr/>
          <p:nvPr/>
        </p:nvSpPr>
        <p:spPr>
          <a:xfrm>
            <a:off x="1353312" y="1863181"/>
            <a:ext cx="2551176" cy="2500701"/>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9" name="Shape 7"/>
          <p:cNvSpPr/>
          <p:nvPr/>
        </p:nvSpPr>
        <p:spPr>
          <a:xfrm>
            <a:off x="1664208" y="2118116"/>
            <a:ext cx="1929384" cy="199083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0" name="Shape 8"/>
          <p:cNvSpPr/>
          <p:nvPr/>
        </p:nvSpPr>
        <p:spPr>
          <a:xfrm>
            <a:off x="1975104" y="2373051"/>
            <a:ext cx="1307592" cy="1480962"/>
          </a:xfrm>
          <a:prstGeom prst="ellipse">
            <a:avLst/>
          </a:prstGeom>
          <a:solidFill>
            <a:srgbClr val="FFFFFF">
              <a:alpha val="0"/>
            </a:srgbClr>
          </a:solidFill>
          <a:ln w="8890">
            <a:solidFill>
              <a:srgbClr val="FFFFFF">
                <a:alpha val="50000"/>
              </a:srgbClr>
            </a:solidFill>
            <a:prstDash val="solid"/>
          </a:ln>
        </p:spPr>
        <p:txBody>
          <a:bodyPr/>
          <a:lstStyle/>
          <a:p>
            <a:endParaRPr lang="en-US"/>
          </a:p>
        </p:txBody>
      </p:sp>
      <p:sp>
        <p:nvSpPr>
          <p:cNvPr id="11" name="Shape 9"/>
          <p:cNvSpPr/>
          <p:nvPr/>
        </p:nvSpPr>
        <p:spPr>
          <a:xfrm>
            <a:off x="1298448" y="1993392"/>
            <a:ext cx="566928" cy="42062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2" name="Shape 10"/>
          <p:cNvSpPr/>
          <p:nvPr/>
        </p:nvSpPr>
        <p:spPr>
          <a:xfrm>
            <a:off x="2990088" y="2651760"/>
            <a:ext cx="640080" cy="512064"/>
          </a:xfrm>
          <a:prstGeom prst="ellipse">
            <a:avLst/>
          </a:prstGeom>
          <a:solidFill>
            <a:srgbClr val="FF3AB5"/>
          </a:solidFill>
          <a:ln w="12700">
            <a:solidFill>
              <a:srgbClr val="FFFFFF">
                <a:alpha val="60000"/>
              </a:srgbClr>
            </a:solidFill>
            <a:prstDash val="solid"/>
          </a:ln>
        </p:spPr>
        <p:txBody>
          <a:bodyPr/>
          <a:lstStyle/>
          <a:p>
            <a:endParaRPr lang="en-US"/>
          </a:p>
        </p:txBody>
      </p:sp>
      <p:sp>
        <p:nvSpPr>
          <p:cNvPr id="13" name="Shape 11"/>
          <p:cNvSpPr/>
          <p:nvPr/>
        </p:nvSpPr>
        <p:spPr>
          <a:xfrm>
            <a:off x="1938528" y="3401568"/>
            <a:ext cx="438912" cy="347472"/>
          </a:xfrm>
          <a:prstGeom prst="ellipse">
            <a:avLst/>
          </a:prstGeom>
          <a:solidFill>
            <a:srgbClr val="42D9F5"/>
          </a:solidFill>
          <a:ln w="12700">
            <a:solidFill>
              <a:srgbClr val="FFFFFF">
                <a:alpha val="60000"/>
              </a:srgbClr>
            </a:solidFill>
            <a:prstDash val="solid"/>
          </a:ln>
        </p:spPr>
        <p:txBody>
          <a:bodyPr/>
          <a:lstStyle/>
          <a:p>
            <a:endParaRPr lang="en-US"/>
          </a:p>
        </p:txBody>
      </p:sp>
      <p:sp>
        <p:nvSpPr>
          <p:cNvPr id="14" name="Text 12"/>
          <p:cNvSpPr/>
          <p:nvPr/>
        </p:nvSpPr>
        <p:spPr>
          <a:xfrm>
            <a:off x="786384" y="4983480"/>
            <a:ext cx="1097280" cy="182880"/>
          </a:xfrm>
          <a:prstGeom prst="rect">
            <a:avLst/>
          </a:prstGeom>
          <a:noFill/>
          <a:ln/>
        </p:spPr>
        <p:txBody>
          <a:bodyPr wrap="square" lIns="0" tIns="0" rIns="0" bIns="0" rtlCol="0" anchor="ctr"/>
          <a:lstStyle/>
          <a:p>
            <a:pPr marL="0" indent="0">
              <a:buNone/>
            </a:pPr>
            <a:r>
              <a:rPr lang="en-US" sz="1000" dirty="0">
                <a:solidFill>
                  <a:srgbClr val="B9C6D8"/>
                </a:solidFill>
              </a:rPr>
              <a:t>periphery</a:t>
            </a:r>
            <a:endParaRPr lang="en-US" sz="1000" dirty="0"/>
          </a:p>
        </p:txBody>
      </p:sp>
      <p:sp>
        <p:nvSpPr>
          <p:cNvPr id="15" name="Text 13"/>
          <p:cNvSpPr/>
          <p:nvPr/>
        </p:nvSpPr>
        <p:spPr>
          <a:xfrm>
            <a:off x="3108960" y="4983480"/>
            <a:ext cx="822960" cy="182880"/>
          </a:xfrm>
          <a:prstGeom prst="rect">
            <a:avLst/>
          </a:prstGeom>
          <a:noFill/>
          <a:ln/>
        </p:spPr>
        <p:txBody>
          <a:bodyPr wrap="square" lIns="0" tIns="0" rIns="0" bIns="0" rtlCol="0" anchor="ctr"/>
          <a:lstStyle/>
          <a:p>
            <a:pPr marL="0" indent="0" algn="ctr">
              <a:buNone/>
            </a:pPr>
            <a:r>
              <a:rPr lang="en-US" sz="1000" dirty="0">
                <a:solidFill>
                  <a:srgbClr val="B9C6D8"/>
                </a:solidFill>
              </a:rPr>
              <a:t>center</a:t>
            </a:r>
            <a:endParaRPr lang="en-US" sz="1000" dirty="0"/>
          </a:p>
        </p:txBody>
      </p:sp>
      <p:sp>
        <p:nvSpPr>
          <p:cNvPr id="16" name="Shape 14"/>
          <p:cNvSpPr/>
          <p:nvPr/>
        </p:nvSpPr>
        <p:spPr>
          <a:xfrm>
            <a:off x="4800600" y="1325880"/>
            <a:ext cx="3108960" cy="731520"/>
          </a:xfrm>
          <a:prstGeom prst="roundRect">
            <a:avLst>
              <a:gd name="adj" fmla="val 15000"/>
            </a:avLst>
          </a:prstGeom>
          <a:solidFill>
            <a:srgbClr val="F7F9FC"/>
          </a:solidFill>
          <a:ln w="8890">
            <a:solidFill>
              <a:srgbClr val="DAE2EC">
                <a:alpha val="95000"/>
              </a:srgbClr>
            </a:solidFill>
            <a:prstDash val="solid"/>
          </a:ln>
        </p:spPr>
        <p:txBody>
          <a:bodyPr/>
          <a:lstStyle/>
          <a:p>
            <a:endParaRPr lang="en-US"/>
          </a:p>
        </p:txBody>
      </p:sp>
      <p:pic>
        <p:nvPicPr>
          <p:cNvPr id="1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10328" y="1514047"/>
            <a:ext cx="2889504" cy="373473"/>
          </a:xfrm>
          <a:prstGeom prst="rect">
            <a:avLst/>
          </a:prstGeom>
        </p:spPr>
      </p:pic>
      <p:sp>
        <p:nvSpPr>
          <p:cNvPr id="18" name="Shape 15"/>
          <p:cNvSpPr/>
          <p:nvPr/>
        </p:nvSpPr>
        <p:spPr>
          <a:xfrm>
            <a:off x="4800600" y="224028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0838" y="2350008"/>
            <a:ext cx="2628484" cy="621792"/>
          </a:xfrm>
          <a:prstGeom prst="rect">
            <a:avLst/>
          </a:prstGeom>
        </p:spPr>
      </p:pic>
      <p:sp>
        <p:nvSpPr>
          <p:cNvPr id="20" name="Shape 16"/>
          <p:cNvSpPr/>
          <p:nvPr/>
        </p:nvSpPr>
        <p:spPr>
          <a:xfrm>
            <a:off x="4800600" y="3291840"/>
            <a:ext cx="310896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90744" y="3401568"/>
            <a:ext cx="2328672" cy="621792"/>
          </a:xfrm>
          <a:prstGeom prst="rect">
            <a:avLst/>
          </a:prstGeom>
        </p:spPr>
      </p:pic>
      <p:sp>
        <p:nvSpPr>
          <p:cNvPr id="22" name="Shape 17"/>
          <p:cNvSpPr/>
          <p:nvPr/>
        </p:nvSpPr>
        <p:spPr>
          <a:xfrm>
            <a:off x="8275320" y="1325880"/>
            <a:ext cx="3063240" cy="1371600"/>
          </a:xfrm>
          <a:prstGeom prst="roundRect">
            <a:avLst>
              <a:gd name="adj" fmla="val 9333"/>
            </a:avLst>
          </a:prstGeom>
          <a:solidFill>
            <a:srgbClr val="F7F9FC"/>
          </a:solidFill>
          <a:ln w="9525">
            <a:solidFill>
              <a:srgbClr val="D6DEE9">
                <a:alpha val="85000"/>
              </a:srgbClr>
            </a:solidFill>
            <a:prstDash val="solid"/>
          </a:ln>
        </p:spPr>
        <p:txBody>
          <a:bodyPr/>
          <a:lstStyle/>
          <a:p>
            <a:endParaRPr lang="en-US"/>
          </a:p>
        </p:txBody>
      </p:sp>
      <p:sp>
        <p:nvSpPr>
          <p:cNvPr id="23" name="Text 18"/>
          <p:cNvSpPr/>
          <p:nvPr/>
        </p:nvSpPr>
        <p:spPr>
          <a:xfrm>
            <a:off x="8439912" y="144475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Interpretation</a:t>
            </a:r>
            <a:endParaRPr lang="en-US" sz="1300" dirty="0"/>
          </a:p>
        </p:txBody>
      </p:sp>
      <p:sp>
        <p:nvSpPr>
          <p:cNvPr id="24" name="Text 19"/>
          <p:cNvSpPr/>
          <p:nvPr/>
        </p:nvSpPr>
        <p:spPr>
          <a:xfrm>
            <a:off x="8439912" y="1764792"/>
            <a:ext cx="2734056" cy="84124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R near 0 means more central. R near 1 means more peripheral. Values are computed in 3D, not only in the projection.</a:t>
            </a:r>
            <a:endParaRPr lang="en-US" sz="1320" dirty="0"/>
          </a:p>
        </p:txBody>
      </p:sp>
      <p:sp>
        <p:nvSpPr>
          <p:cNvPr id="25" name="Shape 20"/>
          <p:cNvSpPr/>
          <p:nvPr/>
        </p:nvSpPr>
        <p:spPr>
          <a:xfrm>
            <a:off x="8275320" y="2971800"/>
            <a:ext cx="3063240" cy="1783080"/>
          </a:xfrm>
          <a:prstGeom prst="roundRect">
            <a:avLst>
              <a:gd name="adj" fmla="val 7179"/>
            </a:avLst>
          </a:prstGeom>
          <a:solidFill>
            <a:srgbClr val="F7F9FC"/>
          </a:solidFill>
          <a:ln w="9525">
            <a:solidFill>
              <a:srgbClr val="D6DEE9">
                <a:alpha val="85000"/>
              </a:srgbClr>
            </a:solidFill>
            <a:prstDash val="solid"/>
          </a:ln>
        </p:spPr>
        <p:txBody>
          <a:bodyPr/>
          <a:lstStyle/>
          <a:p>
            <a:endParaRPr lang="en-US"/>
          </a:p>
        </p:txBody>
      </p:sp>
      <p:sp>
        <p:nvSpPr>
          <p:cNvPr id="26" name="Text 21"/>
          <p:cNvSpPr/>
          <p:nvPr/>
        </p:nvSpPr>
        <p:spPr>
          <a:xfrm>
            <a:off x="8439912" y="3090672"/>
            <a:ext cx="27340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Multi-compartment behavior</a:t>
            </a:r>
            <a:endParaRPr lang="en-US" sz="1300" dirty="0"/>
          </a:p>
        </p:txBody>
      </p:sp>
      <p:sp>
        <p:nvSpPr>
          <p:cNvPr id="27" name="Text 22"/>
          <p:cNvSpPr/>
          <p:nvPr/>
        </p:nvSpPr>
        <p:spPr>
          <a:xfrm>
            <a:off x="8439912" y="3410712"/>
            <a:ext cx="2734056" cy="1252728"/>
          </a:xfrm>
          <a:prstGeom prst="rect">
            <a:avLst/>
          </a:prstGeom>
          <a:noFill/>
          <a:ln/>
        </p:spPr>
        <p:txBody>
          <a:bodyPr wrap="square" lIns="254" tIns="254" rIns="254" bIns="254" rtlCol="0" anchor="ctr">
            <a:normAutofit/>
          </a:bodyPr>
          <a:lstStyle/>
          <a:p>
            <a:pPr marL="0" indent="0">
              <a:buNone/>
            </a:pPr>
            <a:r>
              <a:rPr lang="en-US" sz="1320" dirty="0">
                <a:solidFill>
                  <a:srgbClr val="29364D"/>
                </a:solidFill>
              </a:rPr>
              <a:t>Minimum radial position reports the most central retained arm voxel. Maximum radial position reports the most peripheral retained arm voxel. Mean and median use all arm voxels.</a:t>
            </a:r>
            <a:endParaRPr lang="en-US" sz="132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6</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6. Shape metrics summarize the full union, so fragmentation matters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Separated pieces usually increase surface area and reduce compactness or sphericity.</a:t>
            </a:r>
            <a:endParaRPr lang="en-US" sz="1250" dirty="0"/>
          </a:p>
        </p:txBody>
      </p:sp>
      <p:sp>
        <p:nvSpPr>
          <p:cNvPr id="6" name="Shape 4"/>
          <p:cNvSpPr/>
          <p:nvPr/>
        </p:nvSpPr>
        <p:spPr>
          <a:xfrm>
            <a:off x="658368" y="1417320"/>
            <a:ext cx="3246120" cy="2926080"/>
          </a:xfrm>
          <a:prstGeom prst="ellipse">
            <a:avLst/>
          </a:prstGeom>
          <a:solidFill>
            <a:srgbClr val="FFFFFF">
              <a:alpha val="4000"/>
            </a:srgbClr>
          </a:solidFill>
          <a:ln w="15240">
            <a:solidFill>
              <a:srgbClr val="FFFFFF">
                <a:alpha val="80000"/>
              </a:srgbClr>
            </a:solidFill>
            <a:prstDash val="solid"/>
          </a:ln>
        </p:spPr>
        <p:txBody>
          <a:bodyPr/>
          <a:lstStyle/>
          <a:p>
            <a:endParaRPr lang="en-US"/>
          </a:p>
        </p:txBody>
      </p:sp>
      <p:sp>
        <p:nvSpPr>
          <p:cNvPr id="7" name="Shape 5"/>
          <p:cNvSpPr/>
          <p:nvPr/>
        </p:nvSpPr>
        <p:spPr>
          <a:xfrm>
            <a:off x="1112825" y="2119579"/>
            <a:ext cx="908914" cy="819302"/>
          </a:xfrm>
          <a:prstGeom prst="ellipse">
            <a:avLst/>
          </a:prstGeom>
          <a:solidFill>
            <a:srgbClr val="FF3AB5"/>
          </a:solidFill>
          <a:ln w="7620">
            <a:solidFill>
              <a:srgbClr val="FFFFFF">
                <a:alpha val="55000"/>
              </a:srgbClr>
            </a:solidFill>
            <a:prstDash val="solid"/>
          </a:ln>
        </p:spPr>
        <p:txBody>
          <a:bodyPr/>
          <a:lstStyle/>
          <a:p>
            <a:endParaRPr lang="en-US"/>
          </a:p>
        </p:txBody>
      </p:sp>
      <p:sp>
        <p:nvSpPr>
          <p:cNvPr id="8" name="Shape 6"/>
          <p:cNvSpPr/>
          <p:nvPr/>
        </p:nvSpPr>
        <p:spPr>
          <a:xfrm>
            <a:off x="2184044" y="2646274"/>
            <a:ext cx="1038758" cy="936346"/>
          </a:xfrm>
          <a:prstGeom prst="ellipse">
            <a:avLst/>
          </a:prstGeom>
          <a:solidFill>
            <a:srgbClr val="FF3AB5"/>
          </a:solidFill>
          <a:ln w="7620">
            <a:solidFill>
              <a:srgbClr val="FFFFFF">
                <a:alpha val="55000"/>
              </a:srgbClr>
            </a:solidFill>
            <a:prstDash val="solid"/>
          </a:ln>
        </p:spPr>
        <p:txBody>
          <a:bodyPr/>
          <a:lstStyle/>
          <a:p>
            <a:endParaRPr lang="en-US"/>
          </a:p>
        </p:txBody>
      </p:sp>
      <p:sp>
        <p:nvSpPr>
          <p:cNvPr id="9" name="Shape 7"/>
          <p:cNvSpPr/>
          <p:nvPr/>
        </p:nvSpPr>
        <p:spPr>
          <a:xfrm>
            <a:off x="4069080" y="2834640"/>
            <a:ext cx="594360" cy="0"/>
          </a:xfrm>
          <a:prstGeom prst="line">
            <a:avLst/>
          </a:prstGeom>
          <a:noFill/>
          <a:ln w="19050">
            <a:solidFill>
              <a:srgbClr val="42D9F5"/>
            </a:solidFill>
            <a:prstDash val="solid"/>
            <a:headEnd type="none"/>
            <a:tailEnd type="triangle"/>
          </a:ln>
        </p:spPr>
        <p:txBody>
          <a:bodyPr/>
          <a:lstStyle/>
          <a:p>
            <a:endParaRPr lang="en-US"/>
          </a:p>
        </p:txBody>
      </p:sp>
      <p:sp>
        <p:nvSpPr>
          <p:cNvPr id="10" name="Shape 8"/>
          <p:cNvSpPr/>
          <p:nvPr/>
        </p:nvSpPr>
        <p:spPr>
          <a:xfrm>
            <a:off x="4892040" y="1234440"/>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1" name="Text 9"/>
          <p:cNvSpPr/>
          <p:nvPr/>
        </p:nvSpPr>
        <p:spPr>
          <a:xfrm>
            <a:off x="5056632" y="1353312"/>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volume</a:t>
            </a:r>
            <a:endParaRPr lang="en-US" sz="1300" dirty="0"/>
          </a:p>
        </p:txBody>
      </p:sp>
      <p:sp>
        <p:nvSpPr>
          <p:cNvPr id="12" name="Text 10"/>
          <p:cNvSpPr/>
          <p:nvPr/>
        </p:nvSpPr>
        <p:spPr>
          <a:xfrm>
            <a:off x="5056632" y="1673352"/>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V is the total voxel volume across all retained compartments.</a:t>
            </a:r>
            <a:endParaRPr lang="en-US" sz="1220" dirty="0"/>
          </a:p>
        </p:txBody>
      </p:sp>
      <p:sp>
        <p:nvSpPr>
          <p:cNvPr id="13" name="Shape 11"/>
          <p:cNvSpPr/>
          <p:nvPr/>
        </p:nvSpPr>
        <p:spPr>
          <a:xfrm>
            <a:off x="4892040" y="2432304"/>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4" name="Text 12"/>
          <p:cNvSpPr/>
          <p:nvPr/>
        </p:nvSpPr>
        <p:spPr>
          <a:xfrm>
            <a:off x="5056632" y="2551176"/>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Union surface area</a:t>
            </a:r>
            <a:endParaRPr lang="en-US" sz="1300" dirty="0"/>
          </a:p>
        </p:txBody>
      </p:sp>
      <p:sp>
        <p:nvSpPr>
          <p:cNvPr id="15" name="Text 13"/>
          <p:cNvSpPr/>
          <p:nvPr/>
        </p:nvSpPr>
        <p:spPr>
          <a:xfrm>
            <a:off x="5056632" y="2871216"/>
            <a:ext cx="2276856" cy="493776"/>
          </a:xfrm>
          <a:prstGeom prst="rect">
            <a:avLst/>
          </a:prstGeom>
          <a:noFill/>
          <a:ln/>
        </p:spPr>
        <p:txBody>
          <a:bodyPr wrap="square" lIns="254" tIns="254" rIns="254" bIns="254" rtlCol="0" anchor="ctr">
            <a:normAutofit/>
          </a:bodyPr>
          <a:lstStyle/>
          <a:p>
            <a:pPr marL="0" indent="0">
              <a:buNone/>
            </a:pPr>
            <a:r>
              <a:rPr lang="en-US" sz="1220" dirty="0">
                <a:solidFill>
                  <a:srgbClr val="29364D"/>
                </a:solidFill>
              </a:rPr>
              <a:t>A includes the surface of each disconnected piece.</a:t>
            </a:r>
            <a:endParaRPr lang="en-US" sz="1220" dirty="0"/>
          </a:p>
        </p:txBody>
      </p:sp>
      <p:sp>
        <p:nvSpPr>
          <p:cNvPr id="16" name="Shape 14"/>
          <p:cNvSpPr/>
          <p:nvPr/>
        </p:nvSpPr>
        <p:spPr>
          <a:xfrm>
            <a:off x="4892040" y="3630168"/>
            <a:ext cx="2606040" cy="1024128"/>
          </a:xfrm>
          <a:prstGeom prst="roundRect">
            <a:avLst>
              <a:gd name="adj" fmla="val 12500"/>
            </a:avLst>
          </a:prstGeom>
          <a:solidFill>
            <a:srgbClr val="F7F9FC"/>
          </a:solidFill>
          <a:ln w="9525">
            <a:solidFill>
              <a:srgbClr val="D6DEE9">
                <a:alpha val="85000"/>
              </a:srgbClr>
            </a:solidFill>
            <a:prstDash val="solid"/>
          </a:ln>
        </p:spPr>
        <p:txBody>
          <a:bodyPr/>
          <a:lstStyle/>
          <a:p>
            <a:endParaRPr lang="en-US"/>
          </a:p>
        </p:txBody>
      </p:sp>
      <p:sp>
        <p:nvSpPr>
          <p:cNvPr id="17" name="Text 15"/>
          <p:cNvSpPr/>
          <p:nvPr/>
        </p:nvSpPr>
        <p:spPr>
          <a:xfrm>
            <a:off x="5056632" y="3749040"/>
            <a:ext cx="22768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PCA axes</a:t>
            </a:r>
            <a:endParaRPr lang="en-US" sz="1300" dirty="0"/>
          </a:p>
        </p:txBody>
      </p:sp>
      <p:sp>
        <p:nvSpPr>
          <p:cNvPr id="18" name="Text 16"/>
          <p:cNvSpPr/>
          <p:nvPr/>
        </p:nvSpPr>
        <p:spPr>
          <a:xfrm>
            <a:off x="5056632" y="4069080"/>
            <a:ext cx="2276856" cy="493776"/>
          </a:xfrm>
          <a:prstGeom prst="rect">
            <a:avLst/>
          </a:prstGeom>
          <a:noFill/>
          <a:ln/>
        </p:spPr>
        <p:txBody>
          <a:bodyPr wrap="square" lIns="254" tIns="254" rIns="254" bIns="254" rtlCol="0" anchor="ctr">
            <a:normAutofit fontScale="92500" lnSpcReduction="10000"/>
          </a:bodyPr>
          <a:lstStyle/>
          <a:p>
            <a:pPr marL="0" indent="0">
              <a:buNone/>
            </a:pPr>
            <a:r>
              <a:rPr lang="en-US" sz="1220" dirty="0">
                <a:solidFill>
                  <a:srgbClr val="29364D"/>
                </a:solidFill>
              </a:rPr>
              <a:t>Axes are computed from all union voxels and can span gaps between compartments.</a:t>
            </a:r>
            <a:endParaRPr lang="en-US" sz="1220" dirty="0"/>
          </a:p>
        </p:txBody>
      </p:sp>
      <p:sp>
        <p:nvSpPr>
          <p:cNvPr id="19" name="Shape 17"/>
          <p:cNvSpPr/>
          <p:nvPr/>
        </p:nvSpPr>
        <p:spPr>
          <a:xfrm>
            <a:off x="7909560" y="1234440"/>
            <a:ext cx="3246120" cy="868680"/>
          </a:xfrm>
          <a:prstGeom prst="roundRect">
            <a:avLst>
              <a:gd name="adj" fmla="val 12632"/>
            </a:avLst>
          </a:prstGeom>
          <a:solidFill>
            <a:srgbClr val="F7F9FC"/>
          </a:solidFill>
          <a:ln w="8890">
            <a:solidFill>
              <a:srgbClr val="DAE2EC">
                <a:alpha val="95000"/>
              </a:srgbClr>
            </a:solidFill>
            <a:prstDash val="solid"/>
          </a:ln>
        </p:spPr>
        <p:txBody>
          <a:bodyPr/>
          <a:lstStyle/>
          <a:p>
            <a:endParaRPr lang="en-US"/>
          </a:p>
        </p:txBody>
      </p:sp>
      <p:pic>
        <p:nvPicPr>
          <p:cNvPr id="20"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7913" y="1344168"/>
            <a:ext cx="2169414" cy="667512"/>
          </a:xfrm>
          <a:prstGeom prst="rect">
            <a:avLst/>
          </a:prstGeom>
        </p:spPr>
      </p:pic>
      <p:sp>
        <p:nvSpPr>
          <p:cNvPr id="21" name="Shape 18"/>
          <p:cNvSpPr/>
          <p:nvPr/>
        </p:nvSpPr>
        <p:spPr>
          <a:xfrm>
            <a:off x="7909560" y="2331720"/>
            <a:ext cx="3246120" cy="777240"/>
          </a:xfrm>
          <a:prstGeom prst="roundRect">
            <a:avLst>
              <a:gd name="adj" fmla="val 14118"/>
            </a:avLst>
          </a:prstGeom>
          <a:solidFill>
            <a:srgbClr val="F7F9FC"/>
          </a:solidFill>
          <a:ln w="8890">
            <a:solidFill>
              <a:srgbClr val="DAE2EC">
                <a:alpha val="95000"/>
              </a:srgbClr>
            </a:solidFill>
            <a:prstDash val="solid"/>
          </a:ln>
        </p:spPr>
        <p:txBody>
          <a:bodyPr/>
          <a:lstStyle/>
          <a:p>
            <a:endParaRPr lang="en-US"/>
          </a:p>
        </p:txBody>
      </p:sp>
      <p:pic>
        <p:nvPicPr>
          <p:cNvPr id="2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81467" y="2441448"/>
            <a:ext cx="1502305" cy="576072"/>
          </a:xfrm>
          <a:prstGeom prst="rect">
            <a:avLst/>
          </a:prstGeom>
        </p:spPr>
      </p:pic>
      <p:sp>
        <p:nvSpPr>
          <p:cNvPr id="23" name="Shape 19"/>
          <p:cNvSpPr/>
          <p:nvPr/>
        </p:nvSpPr>
        <p:spPr>
          <a:xfrm>
            <a:off x="7909560" y="3310128"/>
            <a:ext cx="3246120" cy="822960"/>
          </a:xfrm>
          <a:prstGeom prst="roundRect">
            <a:avLst>
              <a:gd name="adj" fmla="val 13333"/>
            </a:avLst>
          </a:prstGeom>
          <a:solidFill>
            <a:srgbClr val="F7F9FC"/>
          </a:solidFill>
          <a:ln w="8890">
            <a:solidFill>
              <a:srgbClr val="DAE2EC">
                <a:alpha val="95000"/>
              </a:srgbClr>
            </a:solidFill>
            <a:prstDash val="solid"/>
          </a:ln>
        </p:spPr>
        <p:txBody>
          <a:bodyPr/>
          <a:lstStyle/>
          <a:p>
            <a:endParaRPr lang="en-US"/>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9288" y="3582087"/>
            <a:ext cx="3026664" cy="297330"/>
          </a:xfrm>
          <a:prstGeom prst="rect">
            <a:avLst/>
          </a:prstGeom>
        </p:spPr>
      </p:pic>
      <p:sp>
        <p:nvSpPr>
          <p:cNvPr id="25" name="Shape 20"/>
          <p:cNvSpPr/>
          <p:nvPr/>
        </p:nvSpPr>
        <p:spPr>
          <a:xfrm>
            <a:off x="822960" y="4983480"/>
            <a:ext cx="10332720" cy="749808"/>
          </a:xfrm>
          <a:prstGeom prst="roundRect">
            <a:avLst>
              <a:gd name="adj" fmla="val 17073"/>
            </a:avLst>
          </a:prstGeom>
          <a:solidFill>
            <a:srgbClr val="FFF6D8"/>
          </a:solidFill>
          <a:ln w="9525">
            <a:solidFill>
              <a:srgbClr val="D6DEE9">
                <a:alpha val="85000"/>
              </a:srgbClr>
            </a:solidFill>
            <a:prstDash val="solid"/>
          </a:ln>
        </p:spPr>
        <p:txBody>
          <a:bodyPr/>
          <a:lstStyle/>
          <a:p>
            <a:endParaRPr lang="en-US"/>
          </a:p>
        </p:txBody>
      </p:sp>
      <p:sp>
        <p:nvSpPr>
          <p:cNvPr id="26" name="Text 21"/>
          <p:cNvSpPr/>
          <p:nvPr/>
        </p:nvSpPr>
        <p:spPr>
          <a:xfrm>
            <a:off x="987552" y="5102352"/>
            <a:ext cx="10003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Practical interpretation</a:t>
            </a:r>
            <a:endParaRPr lang="en-US" sz="1300" dirty="0"/>
          </a:p>
        </p:txBody>
      </p:sp>
      <p:sp>
        <p:nvSpPr>
          <p:cNvPr id="27" name="Text 22"/>
          <p:cNvSpPr/>
          <p:nvPr/>
        </p:nvSpPr>
        <p:spPr>
          <a:xfrm>
            <a:off x="987552" y="5422392"/>
            <a:ext cx="10003536" cy="219456"/>
          </a:xfrm>
          <a:prstGeom prst="rect">
            <a:avLst/>
          </a:prstGeom>
          <a:noFill/>
          <a:ln/>
        </p:spPr>
        <p:txBody>
          <a:bodyPr wrap="square" lIns="254" tIns="254" rIns="254" bIns="254" rtlCol="0" anchor="ctr">
            <a:normAutofit fontScale="70000" lnSpcReduction="20000"/>
          </a:bodyPr>
          <a:lstStyle/>
          <a:p>
            <a:pPr marL="0" indent="0">
              <a:buNone/>
            </a:pPr>
            <a:r>
              <a:rPr lang="en-US" sz="1300" dirty="0">
                <a:solidFill>
                  <a:srgbClr val="3E3212"/>
                </a:solidFill>
              </a:rPr>
              <a:t>If P or Q is split into multiple pieces, the volume may still be accurate as total territory size, but shape metrics should be interpreted as union-shape descriptors, not as the shape of a single compact object.</a:t>
            </a:r>
            <a:endParaRPr lang="en-US" sz="1300" dirty="0"/>
          </a:p>
        </p:txBody>
      </p:sp>
      <p:sp>
        <p:nvSpPr>
          <p:cNvPr id="28" name="Text 23"/>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7</a:t>
            </a:r>
            <a:endParaRPr lang="en-US" sz="750" dirty="0"/>
          </a:p>
        </p:txBody>
      </p:sp>
      <p:sp>
        <p:nvSpPr>
          <p:cNvPr id="29" name="Text 24"/>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20"/>
          </a:solidFill>
          <a:ln w="12700">
            <a:solidFill>
              <a:srgbClr val="0B1020"/>
            </a:solidFill>
            <a:prstDash val="solid"/>
          </a:ln>
        </p:spPr>
        <p:txBody>
          <a:bodyPr/>
          <a:lstStyle/>
          <a:p>
            <a:endParaRPr lang="en-US"/>
          </a:p>
        </p:txBody>
      </p:sp>
      <p:sp>
        <p:nvSpPr>
          <p:cNvPr id="3" name="Shape 1"/>
          <p:cNvSpPr/>
          <p:nvPr/>
        </p:nvSpPr>
        <p:spPr>
          <a:xfrm>
            <a:off x="0" y="0"/>
            <a:ext cx="12191695" cy="109728"/>
          </a:xfrm>
          <a:prstGeom prst="rect">
            <a:avLst/>
          </a:prstGeom>
          <a:solidFill>
            <a:srgbClr val="42D9F5"/>
          </a:solidFill>
          <a:ln w="12700">
            <a:solidFill>
              <a:srgbClr val="42D9F5"/>
            </a:solidFill>
            <a:prstDash val="solid"/>
          </a:ln>
        </p:spPr>
        <p:txBody>
          <a:bodyPr/>
          <a:lstStyle/>
          <a:p>
            <a:endParaRPr lang="en-US"/>
          </a:p>
        </p:txBody>
      </p:sp>
      <p:sp>
        <p:nvSpPr>
          <p:cNvPr id="4" name="Text 2"/>
          <p:cNvSpPr/>
          <p:nvPr/>
        </p:nvSpPr>
        <p:spPr>
          <a:xfrm>
            <a:off x="502920" y="292608"/>
            <a:ext cx="11155680" cy="475488"/>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Take-home summary for presenting multi-compartment results</a:t>
            </a:r>
            <a:endParaRPr lang="en-US" sz="2800" dirty="0"/>
          </a:p>
        </p:txBody>
      </p:sp>
      <p:sp>
        <p:nvSpPr>
          <p:cNvPr id="5" name="Text 3"/>
          <p:cNvSpPr/>
          <p:nvPr/>
        </p:nvSpPr>
        <p:spPr>
          <a:xfrm>
            <a:off x="530352" y="804672"/>
            <a:ext cx="10789920" cy="310896"/>
          </a:xfrm>
          <a:prstGeom prst="rect">
            <a:avLst/>
          </a:prstGeom>
          <a:noFill/>
          <a:ln/>
        </p:spPr>
        <p:txBody>
          <a:bodyPr wrap="square" lIns="0" tIns="0" rIns="0" bIns="0" rtlCol="0" anchor="ctr">
            <a:normAutofit/>
          </a:bodyPr>
          <a:lstStyle/>
          <a:p>
            <a:pPr marL="0" indent="0">
              <a:buNone/>
            </a:pPr>
            <a:r>
              <a:rPr lang="en-US" sz="1250" dirty="0">
                <a:solidFill>
                  <a:srgbClr val="B9C6D8"/>
                </a:solidFill>
                <a:latin typeface="Aptos" pitchFamily="34" charset="0"/>
                <a:ea typeface="Aptos" pitchFamily="34" charset="-122"/>
                <a:cs typeface="Aptos" pitchFamily="34" charset="-120"/>
              </a:rPr>
              <a:t>Use the union-based outputs for per-nucleus summaries; inspect masks when fragmentation is frequent.</a:t>
            </a:r>
            <a:endParaRPr lang="en-US" sz="1250" dirty="0"/>
          </a:p>
        </p:txBody>
      </p:sp>
      <p:sp>
        <p:nvSpPr>
          <p:cNvPr id="6" name="Shape 4"/>
          <p:cNvSpPr/>
          <p:nvPr/>
        </p:nvSpPr>
        <p:spPr>
          <a:xfrm>
            <a:off x="68580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7" name="Text 5"/>
          <p:cNvSpPr/>
          <p:nvPr/>
        </p:nvSpPr>
        <p:spPr>
          <a:xfrm>
            <a:off x="85039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the current outputs mean</a:t>
            </a:r>
            <a:endParaRPr lang="en-US" sz="1300" dirty="0"/>
          </a:p>
        </p:txBody>
      </p:sp>
      <p:sp>
        <p:nvSpPr>
          <p:cNvPr id="8" name="Text 6"/>
          <p:cNvSpPr/>
          <p:nvPr/>
        </p:nvSpPr>
        <p:spPr>
          <a:xfrm>
            <a:off x="850392" y="1673352"/>
            <a:ext cx="3145536" cy="3447288"/>
          </a:xfrm>
          <a:prstGeom prst="rect">
            <a:avLst/>
          </a:prstGeom>
          <a:noFill/>
          <a:ln/>
        </p:spPr>
        <p:txBody>
          <a:bodyPr wrap="square" lIns="254" tIns="254" rIns="254" bIns="254" rtlCol="0" anchor="ctr">
            <a:normAutofit/>
          </a:bodyPr>
          <a:lstStyle/>
          <a:p>
            <a:pPr marL="0" indent="0">
              <a:buNone/>
            </a:pPr>
            <a:r>
              <a:rPr sz="1250">
                <a:solidFill>
                  <a:srgbClr val="29364D"/>
                </a:solidFill>
              </a:rPr>
              <a:t>Volume, overlap, centroid, contact, edge distance, radial position, shape, and FISH signal count are calculated from the final retained P or Q mask inside each nucleus. Counts summarize how many disconnected retained signal compartments are present; other measurements summarize the full union mask.</a:t>
            </a:r>
            <a:endParaRPr lang="en-US" sz="1450" dirty="0"/>
          </a:p>
        </p:txBody>
      </p:sp>
      <p:sp>
        <p:nvSpPr>
          <p:cNvPr id="9" name="Shape 7"/>
          <p:cNvSpPr/>
          <p:nvPr/>
        </p:nvSpPr>
        <p:spPr>
          <a:xfrm>
            <a:off x="4434840" y="1234440"/>
            <a:ext cx="3474720" cy="3977640"/>
          </a:xfrm>
          <a:prstGeom prst="roundRect">
            <a:avLst>
              <a:gd name="adj" fmla="val 3684"/>
            </a:avLst>
          </a:prstGeom>
          <a:solidFill>
            <a:srgbClr val="F7F9FC"/>
          </a:solidFill>
          <a:ln w="9525">
            <a:solidFill>
              <a:srgbClr val="D6DEE9">
                <a:alpha val="85000"/>
              </a:srgbClr>
            </a:solidFill>
            <a:prstDash val="solid"/>
          </a:ln>
        </p:spPr>
        <p:txBody>
          <a:bodyPr/>
          <a:lstStyle/>
          <a:p>
            <a:endParaRPr lang="en-US"/>
          </a:p>
        </p:txBody>
      </p:sp>
      <p:sp>
        <p:nvSpPr>
          <p:cNvPr id="10" name="Text 8"/>
          <p:cNvSpPr/>
          <p:nvPr/>
        </p:nvSpPr>
        <p:spPr>
          <a:xfrm>
            <a:off x="4599432" y="1353312"/>
            <a:ext cx="314553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What can be misleading</a:t>
            </a:r>
            <a:endParaRPr lang="en-US" sz="1300" dirty="0"/>
          </a:p>
        </p:txBody>
      </p:sp>
      <p:sp>
        <p:nvSpPr>
          <p:cNvPr id="11" name="Text 9"/>
          <p:cNvSpPr/>
          <p:nvPr/>
        </p:nvSpPr>
        <p:spPr>
          <a:xfrm>
            <a:off x="4599432" y="1673352"/>
            <a:ext cx="3145536" cy="3447288"/>
          </a:xfrm>
          <a:prstGeom prst="rect">
            <a:avLst/>
          </a:prstGeom>
          <a:noFill/>
          <a:ln/>
        </p:spPr>
        <p:txBody>
          <a:bodyPr wrap="square" lIns="254" tIns="254" rIns="254" bIns="254" rtlCol="0" anchor="ctr">
            <a:normAutofit/>
          </a:bodyPr>
          <a:lstStyle/>
          <a:p>
            <a:pPr marL="0" indent="0">
              <a:buNone/>
            </a:pPr>
            <a:r>
              <a:rPr lang="en-US" sz="1450" dirty="0">
                <a:solidFill>
                  <a:srgbClr val="29364D"/>
                </a:solidFill>
              </a:rPr>
              <a:t>Centroids can fall between separated compartments. Minimum edge distance can be driven by one close pair. Shape metrics can look less spherical because disconnected pieces add surface area and expand the PCA footprint.</a:t>
            </a:r>
            <a:endParaRPr lang="en-US" sz="1450" dirty="0"/>
          </a:p>
        </p:txBody>
      </p:sp>
      <p:sp>
        <p:nvSpPr>
          <p:cNvPr id="12" name="Shape 10"/>
          <p:cNvSpPr/>
          <p:nvPr/>
        </p:nvSpPr>
        <p:spPr>
          <a:xfrm>
            <a:off x="8183880" y="1234440"/>
            <a:ext cx="3291840" cy="3977640"/>
          </a:xfrm>
          <a:prstGeom prst="roundRect">
            <a:avLst>
              <a:gd name="adj" fmla="val 3889"/>
            </a:avLst>
          </a:prstGeom>
          <a:solidFill>
            <a:srgbClr val="F7F9FC"/>
          </a:solidFill>
          <a:ln w="9525">
            <a:solidFill>
              <a:srgbClr val="D6DEE9">
                <a:alpha val="85000"/>
              </a:srgbClr>
            </a:solidFill>
            <a:prstDash val="solid"/>
          </a:ln>
        </p:spPr>
        <p:txBody>
          <a:bodyPr/>
          <a:lstStyle/>
          <a:p>
            <a:endParaRPr lang="en-US"/>
          </a:p>
        </p:txBody>
      </p:sp>
      <p:sp>
        <p:nvSpPr>
          <p:cNvPr id="13" name="Text 11"/>
          <p:cNvSpPr/>
          <p:nvPr/>
        </p:nvSpPr>
        <p:spPr>
          <a:xfrm>
            <a:off x="8348472" y="1353312"/>
            <a:ext cx="2962656" cy="256032"/>
          </a:xfrm>
          <a:prstGeom prst="rect">
            <a:avLst/>
          </a:prstGeom>
          <a:noFill/>
          <a:ln/>
        </p:spPr>
        <p:txBody>
          <a:bodyPr wrap="square" lIns="0" tIns="0" rIns="0" bIns="0" rtlCol="0" anchor="ctr">
            <a:normAutofit/>
          </a:bodyPr>
          <a:lstStyle/>
          <a:p>
            <a:pPr marL="0" indent="0">
              <a:buNone/>
            </a:pPr>
            <a:r>
              <a:rPr lang="en-US" sz="1300" b="1" dirty="0">
                <a:solidFill>
                  <a:srgbClr val="162033"/>
                </a:solidFill>
              </a:rPr>
              <a:t>How to present it clearly</a:t>
            </a:r>
            <a:endParaRPr lang="en-US" sz="1300" dirty="0"/>
          </a:p>
        </p:txBody>
      </p:sp>
      <p:sp>
        <p:nvSpPr>
          <p:cNvPr id="14" name="Text 12"/>
          <p:cNvSpPr/>
          <p:nvPr/>
        </p:nvSpPr>
        <p:spPr>
          <a:xfrm>
            <a:off x="8348472" y="1673352"/>
            <a:ext cx="2962656" cy="3447288"/>
          </a:xfrm>
          <a:prstGeom prst="rect">
            <a:avLst/>
          </a:prstGeom>
          <a:noFill/>
          <a:ln/>
        </p:spPr>
        <p:txBody>
          <a:bodyPr wrap="square" lIns="254" tIns="254" rIns="254" bIns="254" rtlCol="0" anchor="ctr">
            <a:normAutofit/>
          </a:bodyPr>
          <a:lstStyle/>
          <a:p>
            <a:pPr marL="0" indent="0">
              <a:buNone/>
            </a:pPr>
            <a:r>
              <a:rPr sz="1250">
                <a:solidFill>
                  <a:srgbClr val="29364D"/>
                </a:solidFill>
              </a:rPr>
              <a:t>State that the plugin reports per-nucleus union measurements plus explicit P and Q FISH signal counts. If multi-compartment patterns are common, show mask examples and consider future per-component outputs such as per-component volume, largest-component fraction, or per-component centroid.</a:t>
            </a:r>
            <a:endParaRPr lang="en-US" sz="1450" dirty="0"/>
          </a:p>
        </p:txBody>
      </p:sp>
      <p:sp>
        <p:nvSpPr>
          <p:cNvPr id="15" name="Shape 13"/>
          <p:cNvSpPr/>
          <p:nvPr/>
        </p:nvSpPr>
        <p:spPr>
          <a:xfrm>
            <a:off x="2377440" y="5486400"/>
            <a:ext cx="7315200" cy="685800"/>
          </a:xfrm>
          <a:prstGeom prst="roundRect">
            <a:avLst>
              <a:gd name="adj" fmla="val 16000"/>
            </a:avLst>
          </a:prstGeom>
          <a:solidFill>
            <a:srgbClr val="F7F9FC"/>
          </a:solidFill>
          <a:ln w="8890">
            <a:solidFill>
              <a:srgbClr val="DAE2EC">
                <a:alpha val="95000"/>
              </a:srgbClr>
            </a:solidFill>
            <a:prstDash val="solid"/>
          </a:ln>
        </p:spPr>
        <p:txBody>
          <a:bodyPr/>
          <a:lstStyle/>
          <a:p>
            <a:endParaRPr lang="en-US"/>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87168" y="5705006"/>
            <a:ext cx="7095744" cy="266875"/>
          </a:xfrm>
          <a:prstGeom prst="rect">
            <a:avLst/>
          </a:prstGeom>
        </p:spPr>
      </p:pic>
      <p:sp>
        <p:nvSpPr>
          <p:cNvPr id="17" name="Text 14"/>
          <p:cNvSpPr/>
          <p:nvPr/>
        </p:nvSpPr>
        <p:spPr>
          <a:xfrm>
            <a:off x="502920" y="6556248"/>
            <a:ext cx="5943600" cy="146304"/>
          </a:xfrm>
          <a:prstGeom prst="rect">
            <a:avLst/>
          </a:prstGeom>
          <a:noFill/>
          <a:ln/>
        </p:spPr>
        <p:txBody>
          <a:bodyPr wrap="square" lIns="0" tIns="0" rIns="0" bIns="0" rtlCol="0" anchor="ctr"/>
          <a:lstStyle/>
          <a:p>
            <a:pPr marL="0" indent="0">
              <a:buNone/>
            </a:pPr>
            <a:r>
              <a:rPr lang="en-US" sz="750" dirty="0">
                <a:solidFill>
                  <a:srgbClr val="6D7B91"/>
                </a:solidFill>
              </a:rPr>
              <a:t>P/Q Arm Analyzer | Multi-compartment measurements | 8</a:t>
            </a:r>
            <a:endParaRPr lang="en-US" sz="750" dirty="0"/>
          </a:p>
        </p:txBody>
      </p:sp>
      <p:sp>
        <p:nvSpPr>
          <p:cNvPr id="18" name="Text 15"/>
          <p:cNvSpPr/>
          <p:nvPr/>
        </p:nvSpPr>
        <p:spPr>
          <a:xfrm>
            <a:off x="8595360" y="6556248"/>
            <a:ext cx="3063240" cy="146304"/>
          </a:xfrm>
          <a:prstGeom prst="rect">
            <a:avLst/>
          </a:prstGeom>
          <a:noFill/>
          <a:ln/>
        </p:spPr>
        <p:txBody>
          <a:bodyPr wrap="square" lIns="0" tIns="0" rIns="0" bIns="0" rtlCol="0" anchor="ctr"/>
          <a:lstStyle/>
          <a:p>
            <a:pPr marL="0" indent="0" algn="r">
              <a:buNone/>
            </a:pPr>
            <a:r>
              <a:rPr lang="en-US" sz="750" dirty="0">
                <a:solidFill>
                  <a:srgbClr val="6D7B91"/>
                </a:solidFill>
              </a:rPr>
              <a:t>Adib Keikhosravi, Ph.D. | MIT License</a:t>
            </a:r>
            <a:endParaRPr lang="en-US" sz="7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SUMMARY</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Key takeaways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325880"/>
            <a:ext cx="73152" cy="1234440"/>
          </a:xfrm>
          <a:prstGeom prst="rect">
            <a:avLst/>
          </a:prstGeom>
          <a:solidFill>
            <a:srgbClr val="00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435607"/>
            <a:ext cx="3108960" cy="320040"/>
          </a:xfrm>
          <a:prstGeom prst="rect">
            <a:avLst/>
          </a:prstGeom>
          <a:noFill/>
        </p:spPr>
        <p:txBody>
          <a:bodyPr wrap="none" lIns="18288" tIns="18288" rIns="18288" bIns="18288">
            <a:spAutoFit/>
          </a:bodyPr>
          <a:lstStyle/>
          <a:p>
            <a:r>
              <a:rPr sz="1500" b="1" i="0">
                <a:solidFill>
                  <a:srgbClr val="081F3A"/>
                </a:solidFill>
                <a:latin typeface="Aptos"/>
              </a:rPr>
              <a:t>Reliable nuclei first</a:t>
            </a:r>
          </a:p>
        </p:txBody>
      </p:sp>
      <p:sp>
        <p:nvSpPr>
          <p:cNvPr id="8" name="TextBox 7"/>
          <p:cNvSpPr txBox="1"/>
          <p:nvPr/>
        </p:nvSpPr>
        <p:spPr>
          <a:xfrm>
            <a:off x="877824" y="1801368"/>
            <a:ext cx="3035808" cy="421654"/>
          </a:xfrm>
          <a:prstGeom prst="rect">
            <a:avLst/>
          </a:prstGeom>
          <a:noFill/>
        </p:spPr>
        <p:txBody>
          <a:bodyPr wrap="square" lIns="18288" tIns="18288" rIns="18288" bIns="18288">
            <a:spAutoFit/>
          </a:bodyPr>
          <a:lstStyle/>
          <a:p>
            <a:r>
              <a:rPr sz="1250" b="0" i="0" dirty="0">
                <a:solidFill>
                  <a:srgbClr val="1C2736"/>
                </a:solidFill>
                <a:latin typeface="Aptos"/>
              </a:rPr>
              <a:t>All arm masks and measurements depend on the nucleus labels.</a:t>
            </a:r>
          </a:p>
        </p:txBody>
      </p:sp>
      <p:sp>
        <p:nvSpPr>
          <p:cNvPr id="9" name="Rounded Rectangle 8"/>
          <p:cNvSpPr/>
          <p:nvPr/>
        </p:nvSpPr>
        <p:spPr>
          <a:xfrm>
            <a:off x="443484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34840" y="1325880"/>
            <a:ext cx="73152" cy="1234440"/>
          </a:xfrm>
          <a:prstGeom prst="rect">
            <a:avLst/>
          </a:prstGeom>
          <a:solidFill>
            <a:srgbClr val="2671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8114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upgraded GMM by default</a:t>
            </a:r>
          </a:p>
        </p:txBody>
      </p:sp>
      <p:sp>
        <p:nvSpPr>
          <p:cNvPr id="12" name="TextBox 11"/>
          <p:cNvSpPr txBox="1"/>
          <p:nvPr/>
        </p:nvSpPr>
        <p:spPr>
          <a:xfrm>
            <a:off x="4581144" y="1801368"/>
            <a:ext cx="3102866" cy="421654"/>
          </a:xfrm>
          <a:prstGeom prst="rect">
            <a:avLst/>
          </a:prstGeom>
          <a:noFill/>
        </p:spPr>
        <p:txBody>
          <a:bodyPr wrap="square" lIns="18288" tIns="18288" rIns="18288" bIns="18288">
            <a:spAutoFit/>
          </a:bodyPr>
          <a:lstStyle/>
          <a:p>
            <a:r>
              <a:rPr sz="1250" b="0" i="0" dirty="0">
                <a:solidFill>
                  <a:srgbClr val="1C2736"/>
                </a:solidFill>
                <a:latin typeface="Aptos"/>
              </a:rPr>
              <a:t>It adds normalization, no-signal gating, and object scoring beyond intensity clustering.</a:t>
            </a:r>
          </a:p>
        </p:txBody>
      </p:sp>
      <p:sp>
        <p:nvSpPr>
          <p:cNvPr id="13" name="Rounded Rectangle 12"/>
          <p:cNvSpPr/>
          <p:nvPr/>
        </p:nvSpPr>
        <p:spPr>
          <a:xfrm>
            <a:off x="8138160" y="132588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325880"/>
            <a:ext cx="73152" cy="1234440"/>
          </a:xfrm>
          <a:prstGeom prst="rect">
            <a:avLst/>
          </a:prstGeom>
          <a:solidFill>
            <a:srgbClr val="AE3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1435607"/>
            <a:ext cx="3108960" cy="320040"/>
          </a:xfrm>
          <a:prstGeom prst="rect">
            <a:avLst/>
          </a:prstGeom>
          <a:noFill/>
        </p:spPr>
        <p:txBody>
          <a:bodyPr wrap="none" lIns="18288" tIns="18288" rIns="18288" bIns="18288">
            <a:spAutoFit/>
          </a:bodyPr>
          <a:lstStyle/>
          <a:p>
            <a:r>
              <a:rPr sz="1500" b="1" i="0">
                <a:solidFill>
                  <a:srgbClr val="081F3A"/>
                </a:solidFill>
                <a:latin typeface="Aptos"/>
              </a:rPr>
              <a:t>Use MRF/CRF as refinement</a:t>
            </a:r>
          </a:p>
        </p:txBody>
      </p:sp>
      <p:sp>
        <p:nvSpPr>
          <p:cNvPr id="16" name="TextBox 15"/>
          <p:cNvSpPr txBox="1"/>
          <p:nvPr/>
        </p:nvSpPr>
        <p:spPr>
          <a:xfrm>
            <a:off x="8284464" y="1801368"/>
            <a:ext cx="3054096" cy="614014"/>
          </a:xfrm>
          <a:prstGeom prst="rect">
            <a:avLst/>
          </a:prstGeom>
          <a:noFill/>
        </p:spPr>
        <p:txBody>
          <a:bodyPr wrap="square" lIns="18288" tIns="18288" rIns="18288" bIns="18288">
            <a:spAutoFit/>
          </a:bodyPr>
          <a:lstStyle/>
          <a:p>
            <a:r>
              <a:rPr sz="1250" b="0" i="0" dirty="0">
                <a:solidFill>
                  <a:srgbClr val="1C2736"/>
                </a:solidFill>
                <a:latin typeface="Aptos"/>
              </a:rPr>
              <a:t>It improves spatial coherence when the probability map is already approximately correct.</a:t>
            </a:r>
          </a:p>
        </p:txBody>
      </p:sp>
      <p:sp>
        <p:nvSpPr>
          <p:cNvPr id="17" name="Rounded Rectangle 16"/>
          <p:cNvSpPr/>
          <p:nvPr/>
        </p:nvSpPr>
        <p:spPr>
          <a:xfrm>
            <a:off x="73152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063240"/>
            <a:ext cx="73152" cy="1234440"/>
          </a:xfrm>
          <a:prstGeom prst="rect">
            <a:avLst/>
          </a:prstGeom>
          <a:solidFill>
            <a:srgbClr val="F28B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77824" y="3172968"/>
            <a:ext cx="3108960" cy="320040"/>
          </a:xfrm>
          <a:prstGeom prst="rect">
            <a:avLst/>
          </a:prstGeom>
          <a:noFill/>
        </p:spPr>
        <p:txBody>
          <a:bodyPr wrap="none" lIns="18288" tIns="18288" rIns="18288" bIns="18288">
            <a:spAutoFit/>
          </a:bodyPr>
          <a:lstStyle/>
          <a:p>
            <a:r>
              <a:rPr sz="1500" b="1" i="0">
                <a:solidFill>
                  <a:srgbClr val="081F3A"/>
                </a:solidFill>
                <a:latin typeface="Aptos"/>
              </a:rPr>
              <a:t>Validate visually and quantitatively</a:t>
            </a:r>
          </a:p>
        </p:txBody>
      </p:sp>
      <p:sp>
        <p:nvSpPr>
          <p:cNvPr id="20" name="TextBox 19"/>
          <p:cNvSpPr txBox="1"/>
          <p:nvPr/>
        </p:nvSpPr>
        <p:spPr>
          <a:xfrm>
            <a:off x="877824" y="3538728"/>
            <a:ext cx="2889504" cy="421654"/>
          </a:xfrm>
          <a:prstGeom prst="rect">
            <a:avLst/>
          </a:prstGeom>
          <a:noFill/>
        </p:spPr>
        <p:txBody>
          <a:bodyPr wrap="square" lIns="18288" tIns="18288" rIns="18288" bIns="18288">
            <a:spAutoFit/>
          </a:bodyPr>
          <a:lstStyle/>
          <a:p>
            <a:r>
              <a:rPr sz="1250" b="0" i="0" dirty="0">
                <a:solidFill>
                  <a:srgbClr val="1C2736"/>
                </a:solidFill>
                <a:latin typeface="Aptos"/>
              </a:rPr>
              <a:t>Use </a:t>
            </a:r>
            <a:r>
              <a:rPr sz="1250" b="0" i="0" dirty="0" err="1">
                <a:solidFill>
                  <a:srgbClr val="1C2736"/>
                </a:solidFill>
                <a:latin typeface="Aptos"/>
              </a:rPr>
              <a:t>napari</a:t>
            </a:r>
            <a:r>
              <a:rPr sz="1250" b="0" i="0" dirty="0">
                <a:solidFill>
                  <a:srgbClr val="1C2736"/>
                </a:solidFill>
                <a:latin typeface="Aptos"/>
              </a:rPr>
              <a:t> overlays, QC projections, CSV summaries, and plots together.</a:t>
            </a:r>
          </a:p>
        </p:txBody>
      </p:sp>
      <p:sp>
        <p:nvSpPr>
          <p:cNvPr id="21" name="Rounded Rectangle 20"/>
          <p:cNvSpPr/>
          <p:nvPr/>
        </p:nvSpPr>
        <p:spPr>
          <a:xfrm>
            <a:off x="443484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434840" y="3063240"/>
            <a:ext cx="73152" cy="1234440"/>
          </a:xfrm>
          <a:prstGeom prst="rect">
            <a:avLst/>
          </a:prstGeom>
          <a:solidFill>
            <a:srgbClr val="46A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81144" y="3172968"/>
            <a:ext cx="3108960" cy="320040"/>
          </a:xfrm>
          <a:prstGeom prst="rect">
            <a:avLst/>
          </a:prstGeom>
          <a:noFill/>
        </p:spPr>
        <p:txBody>
          <a:bodyPr wrap="none" lIns="18288" tIns="18288" rIns="18288" bIns="18288">
            <a:spAutoFit/>
          </a:bodyPr>
          <a:lstStyle/>
          <a:p>
            <a:r>
              <a:rPr sz="1500" b="1" i="0">
                <a:solidFill>
                  <a:srgbClr val="081F3A"/>
                </a:solidFill>
                <a:latin typeface="Aptos"/>
              </a:rPr>
              <a:t>Save configurations</a:t>
            </a:r>
          </a:p>
        </p:txBody>
      </p:sp>
      <p:sp>
        <p:nvSpPr>
          <p:cNvPr id="24" name="TextBox 23"/>
          <p:cNvSpPr txBox="1"/>
          <p:nvPr/>
        </p:nvSpPr>
        <p:spPr>
          <a:xfrm>
            <a:off x="4581144" y="3538728"/>
            <a:ext cx="2962656" cy="421654"/>
          </a:xfrm>
          <a:prstGeom prst="rect">
            <a:avLst/>
          </a:prstGeom>
          <a:noFill/>
        </p:spPr>
        <p:txBody>
          <a:bodyPr wrap="square" lIns="18288" tIns="18288" rIns="18288" bIns="18288">
            <a:spAutoFit/>
          </a:bodyPr>
          <a:lstStyle/>
          <a:p>
            <a:r>
              <a:rPr sz="1250" b="0" i="0" dirty="0">
                <a:solidFill>
                  <a:srgbClr val="1C2736"/>
                </a:solidFill>
                <a:latin typeface="Aptos"/>
              </a:rPr>
              <a:t>Every tuned parameter set should be saved and archived with final outputs.</a:t>
            </a:r>
          </a:p>
        </p:txBody>
      </p:sp>
      <p:sp>
        <p:nvSpPr>
          <p:cNvPr id="25" name="Rounded Rectangle 24"/>
          <p:cNvSpPr/>
          <p:nvPr/>
        </p:nvSpPr>
        <p:spPr>
          <a:xfrm>
            <a:off x="8138160" y="3063240"/>
            <a:ext cx="3337560" cy="1234440"/>
          </a:xfrm>
          <a:prstGeom prst="roundRect">
            <a:avLst/>
          </a:prstGeom>
          <a:solidFill>
            <a:srgbClr val="F5F8FC"/>
          </a:solidFill>
          <a:ln w="12700">
            <a:solidFill>
              <a:srgbClr val="E1E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60" y="3063240"/>
            <a:ext cx="73152" cy="1234440"/>
          </a:xfrm>
          <a:prstGeom prst="rect">
            <a:avLst/>
          </a:prstGeom>
          <a:solidFill>
            <a:srgbClr val="5860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84464" y="3172968"/>
            <a:ext cx="3108960" cy="320040"/>
          </a:xfrm>
          <a:prstGeom prst="rect">
            <a:avLst/>
          </a:prstGeom>
          <a:noFill/>
        </p:spPr>
        <p:txBody>
          <a:bodyPr wrap="none" lIns="18288" tIns="18288" rIns="18288" bIns="18288">
            <a:spAutoFit/>
          </a:bodyPr>
          <a:lstStyle/>
          <a:p>
            <a:r>
              <a:rPr sz="1500" b="1" i="0">
                <a:solidFill>
                  <a:srgbClr val="081F3A"/>
                </a:solidFill>
                <a:latin typeface="Aptos"/>
              </a:rPr>
              <a:t>Interpret columns by groups</a:t>
            </a:r>
          </a:p>
        </p:txBody>
      </p:sp>
      <p:sp>
        <p:nvSpPr>
          <p:cNvPr id="28" name="TextBox 27"/>
          <p:cNvSpPr txBox="1"/>
          <p:nvPr/>
        </p:nvSpPr>
        <p:spPr>
          <a:xfrm>
            <a:off x="8284464" y="3538728"/>
            <a:ext cx="3054096" cy="614014"/>
          </a:xfrm>
          <a:prstGeom prst="rect">
            <a:avLst/>
          </a:prstGeom>
          <a:noFill/>
        </p:spPr>
        <p:txBody>
          <a:bodyPr wrap="square" lIns="18288" tIns="18288" rIns="18288" bIns="18288">
            <a:spAutoFit/>
          </a:bodyPr>
          <a:lstStyle/>
          <a:p>
            <a:r>
              <a:rPr sz="1250" b="0" i="0" dirty="0">
                <a:solidFill>
                  <a:srgbClr val="1C2736"/>
                </a:solidFill>
                <a:latin typeface="Aptos"/>
              </a:rPr>
              <a:t>Volumes, overlap, contact, shape, radial, and centroids each answer different questions.</a:t>
            </a:r>
          </a:p>
        </p:txBody>
      </p:sp>
      <p:sp>
        <p:nvSpPr>
          <p:cNvPr id="29" name="TextBox 28"/>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30" name="TextBox 29"/>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58</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46888"/>
            <a:ext cx="4114800" cy="228600"/>
          </a:xfrm>
          <a:prstGeom prst="rect">
            <a:avLst/>
          </a:prstGeom>
          <a:noFill/>
        </p:spPr>
        <p:txBody>
          <a:bodyPr wrap="none" lIns="18288" tIns="18288" rIns="18288" bIns="18288">
            <a:spAutoFit/>
          </a:bodyPr>
          <a:lstStyle/>
          <a:p>
            <a:r>
              <a:rPr sz="850" b="1" i="0">
                <a:solidFill>
                  <a:srgbClr val="00B2B8"/>
                </a:solidFill>
                <a:latin typeface="Aptos"/>
              </a:rPr>
              <a:t>REFERENCES</a:t>
            </a:r>
          </a:p>
        </p:txBody>
      </p:sp>
      <p:sp>
        <p:nvSpPr>
          <p:cNvPr id="3" name="TextBox 2"/>
          <p:cNvSpPr txBox="1"/>
          <p:nvPr/>
        </p:nvSpPr>
        <p:spPr>
          <a:xfrm>
            <a:off x="502920" y="393192"/>
            <a:ext cx="10972800" cy="502920"/>
          </a:xfrm>
          <a:prstGeom prst="rect">
            <a:avLst/>
          </a:prstGeom>
          <a:noFill/>
        </p:spPr>
        <p:txBody>
          <a:bodyPr wrap="none" lIns="18288" tIns="18288" rIns="18288" bIns="18288">
            <a:spAutoFit/>
          </a:bodyPr>
          <a:lstStyle/>
          <a:p>
            <a:r>
              <a:rPr sz="2700" b="1" i="0">
                <a:solidFill>
                  <a:srgbClr val="081F3A"/>
                </a:solidFill>
                <a:latin typeface="Aptos"/>
              </a:rPr>
              <a:t>References and source materials</a:t>
            </a:r>
          </a:p>
        </p:txBody>
      </p:sp>
      <p:sp>
        <p:nvSpPr>
          <p:cNvPr id="4" name="Rectangle 3"/>
          <p:cNvSpPr/>
          <p:nvPr/>
        </p:nvSpPr>
        <p:spPr>
          <a:xfrm>
            <a:off x="502920" y="987552"/>
            <a:ext cx="11201400" cy="13716"/>
          </a:xfrm>
          <a:prstGeom prst="rect">
            <a:avLst/>
          </a:prstGeom>
          <a:solidFill>
            <a:srgbClr val="E1E8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325880"/>
            <a:ext cx="10789920" cy="3200400"/>
          </a:xfrm>
          <a:prstGeom prst="rect">
            <a:avLst/>
          </a:prstGeom>
          <a:noFill/>
        </p:spPr>
        <p:txBody>
          <a:bodyPr wrap="square" lIns="73152" tIns="18288" rIns="45720" bIns="18288">
            <a:spAutoFit/>
          </a:bodyPr>
          <a:lstStyle/>
          <a:p>
            <a:pPr>
              <a:lnSpc>
                <a:spcPct val="105000"/>
              </a:lnSpc>
              <a:spcAft>
                <a:spcPts val="156"/>
              </a:spcAft>
              <a:defRPr sz="1400">
                <a:solidFill>
                  <a:srgbClr val="1C2736"/>
                </a:solidFill>
                <a:latin typeface="Aptos"/>
              </a:defRPr>
            </a:pPr>
            <a:r>
              <a:t>• Plugin: P/Q Arm Analyzer v0.3.7 repository and manual authored by Adib Keikhosravi, Ph.D. MIT License.</a:t>
            </a:r>
          </a:p>
          <a:p>
            <a:pPr>
              <a:lnSpc>
                <a:spcPct val="105000"/>
              </a:lnSpc>
              <a:spcAft>
                <a:spcPts val="156"/>
              </a:spcAft>
              <a:defRPr sz="1400">
                <a:solidFill>
                  <a:srgbClr val="1C2736"/>
                </a:solidFill>
                <a:latin typeface="Aptos"/>
              </a:defRPr>
            </a:pPr>
            <a:r>
              <a:t>• Sample result set: uploaded test_napari_plugin output folder with napari screenshot, CSV files, JSON configuration files, QC projections, summary plots, and v0.3.7 FISH signal-count outputs.</a:t>
            </a:r>
          </a:p>
          <a:p>
            <a:pPr>
              <a:lnSpc>
                <a:spcPct val="105000"/>
              </a:lnSpc>
              <a:spcAft>
                <a:spcPts val="156"/>
              </a:spcAft>
              <a:defRPr sz="1400">
                <a:solidFill>
                  <a:srgbClr val="1C2736"/>
                </a:solidFill>
                <a:latin typeface="Aptos"/>
              </a:defRPr>
            </a:pPr>
            <a:r>
              <a:t>• Reference measurement style: Rosin LF, Nguyen SC, Joyce EF. Condensin II drives large-scale folding and spatial partitioning of interphase chromosomes in Drosophila nuclei. PLoS Genetics, 2018.</a:t>
            </a:r>
          </a:p>
          <a:p>
            <a:pPr>
              <a:lnSpc>
                <a:spcPct val="105000"/>
              </a:lnSpc>
              <a:spcAft>
                <a:spcPts val="156"/>
              </a:spcAft>
              <a:defRPr sz="1400">
                <a:solidFill>
                  <a:srgbClr val="1C2736"/>
                </a:solidFill>
                <a:latin typeface="Aptos"/>
              </a:defRPr>
            </a:pPr>
            <a:r>
              <a:t>• Core computational concepts: Cellpose nuclei segmentation; Gaussian mixture models; robust MAD normalization; connected-component analysis; distance transforms; 3D surface/shape measurements; MRF/CRF-style spatial refinement.</a:t>
            </a:r>
          </a:p>
        </p:txBody>
      </p:sp>
      <p:sp>
        <p:nvSpPr>
          <p:cNvPr id="6" name="Rounded Rectangle 5"/>
          <p:cNvSpPr/>
          <p:nvPr/>
        </p:nvSpPr>
        <p:spPr>
          <a:xfrm>
            <a:off x="3886200" y="5074920"/>
            <a:ext cx="4389120" cy="594360"/>
          </a:xfrm>
          <a:prstGeom prst="roundRect">
            <a:avLst/>
          </a:prstGeom>
          <a:solidFill>
            <a:srgbClr val="081F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95928" y="5166359"/>
            <a:ext cx="4169663" cy="429768"/>
          </a:xfrm>
          <a:prstGeom prst="rect">
            <a:avLst/>
          </a:prstGeom>
          <a:noFill/>
        </p:spPr>
        <p:txBody>
          <a:bodyPr wrap="none" lIns="18288" tIns="18288" rIns="18288" bIns="18288" anchor="ctr">
            <a:spAutoFit/>
          </a:bodyPr>
          <a:lstStyle/>
          <a:p>
            <a:r>
              <a:rPr sz="1600" b="1" i="0">
                <a:solidFill>
                  <a:srgbClr val="FFFFFF"/>
                </a:solidFill>
                <a:latin typeface="Aptos"/>
              </a:rPr>
              <a:t>End of presentation</a:t>
            </a:r>
          </a:p>
        </p:txBody>
      </p:sp>
      <p:sp>
        <p:nvSpPr>
          <p:cNvPr id="8" name="TextBox 7"/>
          <p:cNvSpPr txBox="1"/>
          <p:nvPr/>
        </p:nvSpPr>
        <p:spPr>
          <a:xfrm>
            <a:off x="502920" y="6565392"/>
            <a:ext cx="4846320" cy="164592"/>
          </a:xfrm>
          <a:prstGeom prst="rect">
            <a:avLst/>
          </a:prstGeom>
          <a:noFill/>
        </p:spPr>
        <p:txBody>
          <a:bodyPr wrap="none" lIns="18288" tIns="18288" rIns="18288" bIns="18288">
            <a:spAutoFit/>
          </a:bodyPr>
          <a:lstStyle/>
          <a:p>
            <a:r>
              <a:rPr sz="750" b="0" i="0">
                <a:solidFill>
                  <a:srgbClr val="586069"/>
                </a:solidFill>
                <a:latin typeface="Aptos"/>
              </a:rPr>
              <a:t>P/Q Arm Analyzer v0.3.7</a:t>
            </a:r>
          </a:p>
        </p:txBody>
      </p:sp>
      <p:sp>
        <p:nvSpPr>
          <p:cNvPr id="9" name="TextBox 8"/>
          <p:cNvSpPr txBox="1"/>
          <p:nvPr/>
        </p:nvSpPr>
        <p:spPr>
          <a:xfrm>
            <a:off x="11338560" y="6565392"/>
            <a:ext cx="365760" cy="164592"/>
          </a:xfrm>
          <a:prstGeom prst="rect">
            <a:avLst/>
          </a:prstGeom>
          <a:noFill/>
        </p:spPr>
        <p:txBody>
          <a:bodyPr wrap="none" lIns="18288" tIns="18288" rIns="18288" bIns="18288">
            <a:spAutoFit/>
          </a:bodyPr>
          <a:lstStyle/>
          <a:p>
            <a:pPr algn="r"/>
            <a:r>
              <a:rPr sz="750" b="0" i="0">
                <a:solidFill>
                  <a:srgbClr val="586069"/>
                </a:solidFill>
                <a:latin typeface="Aptos"/>
              </a:rPr>
              <a:t>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218</TotalTime>
  <Words>7519</Words>
  <Application>Microsoft Macintosh PowerPoint</Application>
  <PresentationFormat>Widescreen</PresentationFormat>
  <Paragraphs>912</Paragraphs>
  <Slides>66</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66</vt:i4>
      </vt:variant>
    </vt:vector>
  </HeadingPairs>
  <TitlesOfParts>
    <vt:vector size="7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Keikhosravi, Adib (NIH/NCI) [E]</cp:lastModifiedBy>
  <cp:revision>18</cp:revision>
  <dcterms:created xsi:type="dcterms:W3CDTF">2013-01-27T09:14:16Z</dcterms:created>
  <dcterms:modified xsi:type="dcterms:W3CDTF">2026-06-02T18:24:17Z</dcterms:modified>
  <cp:category/>
</cp:coreProperties>
</file>